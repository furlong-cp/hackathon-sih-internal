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embeddedFontLst>
    <p:embeddedFont>
      <p:font typeface="Space Mono"/>
      <p:regular r:id="rId24"/>
      <p:bold r:id="rId25"/>
      <p:italic r:id="rId26"/>
      <p:boldItalic r:id="rId27"/>
    </p:embeddedFont>
    <p:embeddedFont>
      <p:font typeface="Inter SemiBold"/>
      <p:regular r:id="rId28"/>
      <p:bold r:id="rId29"/>
      <p:italic r:id="rId30"/>
      <p:boldItalic r:id="rId31"/>
    </p:embeddedFont>
    <p:embeddedFont>
      <p:font typeface="Inter Light"/>
      <p:regular r:id="rId32"/>
      <p:bold r:id="rId33"/>
      <p:italic r:id="rId34"/>
      <p:boldItalic r:id="rId35"/>
    </p:embeddedFont>
    <p:embeddedFont>
      <p:font typeface="Montserrat Black"/>
      <p:bold r:id="rId36"/>
      <p:boldItalic r:id="rId37"/>
    </p:embeddedFont>
    <p:embeddedFont>
      <p:font typeface="Inter"/>
      <p:bold r:id="rId38"/>
      <p:boldItalic r:id="rId39"/>
    </p:embeddedFont>
    <p:embeddedFont>
      <p:font typeface="Montserrat ExtraBold"/>
      <p:bold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ontserratExtraBold-bold.fntdata"/><Relationship Id="rId20" Type="http://schemas.openxmlformats.org/officeDocument/2006/relationships/slide" Target="slides/slide15.xml"/><Relationship Id="rId41" Type="http://schemas.openxmlformats.org/officeDocument/2006/relationships/font" Target="fonts/MontserratExtraBold-boldItalic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SpaceMono-regular.fntdata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SpaceMono-italic.fntdata"/><Relationship Id="rId25" Type="http://schemas.openxmlformats.org/officeDocument/2006/relationships/font" Target="fonts/SpaceMono-bold.fntdata"/><Relationship Id="rId28" Type="http://schemas.openxmlformats.org/officeDocument/2006/relationships/font" Target="fonts/InterSemiBold-regular.fntdata"/><Relationship Id="rId27" Type="http://schemas.openxmlformats.org/officeDocument/2006/relationships/font" Target="fonts/SpaceMon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nterSemiBold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InterSemiBold-boldItalic.fntdata"/><Relationship Id="rId30" Type="http://schemas.openxmlformats.org/officeDocument/2006/relationships/font" Target="fonts/InterSemiBold-italic.fntdata"/><Relationship Id="rId11" Type="http://schemas.openxmlformats.org/officeDocument/2006/relationships/slide" Target="slides/slide6.xml"/><Relationship Id="rId33" Type="http://schemas.openxmlformats.org/officeDocument/2006/relationships/font" Target="fonts/InterLight-bold.fntdata"/><Relationship Id="rId10" Type="http://schemas.openxmlformats.org/officeDocument/2006/relationships/slide" Target="slides/slide5.xml"/><Relationship Id="rId32" Type="http://schemas.openxmlformats.org/officeDocument/2006/relationships/font" Target="fonts/InterLight-regular.fntdata"/><Relationship Id="rId13" Type="http://schemas.openxmlformats.org/officeDocument/2006/relationships/slide" Target="slides/slide8.xml"/><Relationship Id="rId35" Type="http://schemas.openxmlformats.org/officeDocument/2006/relationships/font" Target="fonts/InterLight-boldItalic.fntdata"/><Relationship Id="rId12" Type="http://schemas.openxmlformats.org/officeDocument/2006/relationships/slide" Target="slides/slide7.xml"/><Relationship Id="rId34" Type="http://schemas.openxmlformats.org/officeDocument/2006/relationships/font" Target="fonts/InterLight-italic.fntdata"/><Relationship Id="rId15" Type="http://schemas.openxmlformats.org/officeDocument/2006/relationships/slide" Target="slides/slide10.xml"/><Relationship Id="rId37" Type="http://schemas.openxmlformats.org/officeDocument/2006/relationships/font" Target="fonts/MontserratBlack-boldItalic.fntdata"/><Relationship Id="rId14" Type="http://schemas.openxmlformats.org/officeDocument/2006/relationships/slide" Target="slides/slide9.xml"/><Relationship Id="rId36" Type="http://schemas.openxmlformats.org/officeDocument/2006/relationships/font" Target="fonts/MontserratBlack-bold.fntdata"/><Relationship Id="rId17" Type="http://schemas.openxmlformats.org/officeDocument/2006/relationships/slide" Target="slides/slide12.xml"/><Relationship Id="rId39" Type="http://schemas.openxmlformats.org/officeDocument/2006/relationships/font" Target="fonts/Inter-boldItalic.fntdata"/><Relationship Id="rId16" Type="http://schemas.openxmlformats.org/officeDocument/2006/relationships/slide" Target="slides/slide11.xml"/><Relationship Id="rId38" Type="http://schemas.openxmlformats.org/officeDocument/2006/relationships/font" Target="fonts/Inter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fa4cf3cee7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fa4cf3cee7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fa4cf3cee7_0_3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fa4cf3cee7_0_3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fa4cf3cee7_0_4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fa4cf3cee7_0_4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fa4cf3cee7_0_6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fa4cf3cee7_0_6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fa4cf3cee7_0_7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fa4cf3cee7_0_7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fa4cf3cee7_0_9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fa4cf3cee7_0_9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fa4cf3cee7_0_10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fa4cf3cee7_0_10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fa4cf3cee7_0_1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fa4cf3cee7_0_1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fa4cf3cee7_0_13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3fa4cf3cee7_0_13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fa4cf3cee7_0_15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3fa4cf3cee7_0_15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fa4cf3cee7_0_17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3fa4cf3cee7_0_17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fa4cf3cee7_0_19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g3fa4cf3cee7_0_19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3fa4cf3cee7_0_23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2" name="Google Shape;512;g3fa4cf3cee7_0_23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3fa4cf3cee7_0_25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8" name="Google Shape;578;g3fa4cf3cee7_0_25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g3fa4cf3cee7_0_27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7" name="Google Shape;647;g3fa4cf3cee7_0_27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g3fa4cf3cee7_126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6" name="Google Shape;706;g3fa4cf3cee7_126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g3fa4cf3cee7_126_2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6" name="Google Shape;756;g3fa4cf3cee7_126_2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g3fa4cf3cee7_126_4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3" name="Google Shape;793;g3fa4cf3cee7_126_4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fa4cf3cee7_7_0)">
  <p:cSld name="Generated (g3fa4cf3cee7_7_0)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image" Target="../media/image18.png"/><Relationship Id="rId10" Type="http://schemas.openxmlformats.org/officeDocument/2006/relationships/image" Target="../media/image11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1.png"/><Relationship Id="rId5" Type="http://schemas.openxmlformats.org/officeDocument/2006/relationships/image" Target="../media/image13.png"/><Relationship Id="rId6" Type="http://schemas.openxmlformats.org/officeDocument/2006/relationships/image" Target="../media/image6.png"/><Relationship Id="rId7" Type="http://schemas.openxmlformats.org/officeDocument/2006/relationships/image" Target="../media/image17.png"/><Relationship Id="rId8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png"/><Relationship Id="rId4" Type="http://schemas.openxmlformats.org/officeDocument/2006/relationships/image" Target="../media/image7.png"/><Relationship Id="rId5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15.png"/><Relationship Id="rId5" Type="http://schemas.openxmlformats.org/officeDocument/2006/relationships/image" Target="../media/image2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1.png"/><Relationship Id="rId4" Type="http://schemas.openxmlformats.org/officeDocument/2006/relationships/image" Target="../media/image2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5.png"/><Relationship Id="rId4" Type="http://schemas.openxmlformats.org/officeDocument/2006/relationships/image" Target="../media/image29.png"/><Relationship Id="rId5" Type="http://schemas.openxmlformats.org/officeDocument/2006/relationships/image" Target="../media/image27.png"/><Relationship Id="rId6" Type="http://schemas.openxmlformats.org/officeDocument/2006/relationships/image" Target="../media/image2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6" name="Google Shape;56;p14"/>
          <p:cNvGrpSpPr/>
          <p:nvPr/>
        </p:nvGrpSpPr>
        <p:grpSpPr>
          <a:xfrm>
            <a:off x="-481012" y="-481012"/>
            <a:ext cx="9625050" cy="5624550"/>
            <a:chOff x="-481012" y="-481012"/>
            <a:chExt cx="9625050" cy="5624550"/>
          </a:xfrm>
        </p:grpSpPr>
        <p:pic>
          <p:nvPicPr>
            <p:cNvPr id="57" name="Google Shape;57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-481012" y="-481012"/>
              <a:ext cx="2867100" cy="2867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8" name="Google Shape;58;p1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281738" y="2281238"/>
              <a:ext cx="2862300" cy="2862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9" name="Google Shape;59;p1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0" y="1281113"/>
              <a:ext cx="9144000" cy="9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0" name="Google Shape;60;p1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0" y="3852863"/>
              <a:ext cx="9144000" cy="96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61" name="Google Shape;61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63" y="2286000"/>
            <a:ext cx="9134400" cy="19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2" name="Google Shape;62;p14"/>
          <p:cNvGrpSpPr/>
          <p:nvPr/>
        </p:nvGrpSpPr>
        <p:grpSpPr>
          <a:xfrm>
            <a:off x="942975" y="704850"/>
            <a:ext cx="1733700" cy="247800"/>
            <a:chOff x="-9525" y="-9525"/>
            <a:chExt cx="1733700" cy="247800"/>
          </a:xfrm>
        </p:grpSpPr>
        <p:pic>
          <p:nvPicPr>
            <p:cNvPr id="63" name="Google Shape;63;p14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-9525" y="-9525"/>
              <a:ext cx="1733700" cy="247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4" name="Google Shape;64;p14"/>
            <p:cNvSpPr txBox="1"/>
            <p:nvPr/>
          </p:nvSpPr>
          <p:spPr>
            <a:xfrm>
              <a:off x="0" y="0"/>
              <a:ext cx="1714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000">
                  <a:solidFill>
                    <a:srgbClr val="EF4444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SIH 2026 | INCUBATOR</a:t>
              </a:r>
              <a:endParaRPr b="0" sz="1000">
                <a:solidFill>
                  <a:srgbClr val="EF4444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sp>
        <p:nvSpPr>
          <p:cNvPr id="65" name="Google Shape;65;p14"/>
          <p:cNvSpPr txBox="1"/>
          <p:nvPr/>
        </p:nvSpPr>
        <p:spPr>
          <a:xfrm>
            <a:off x="952500" y="1000125"/>
            <a:ext cx="7239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5600"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SKILLBRIDGE</a:t>
            </a:r>
            <a:endParaRPr b="0" sz="5600">
              <a:solidFill>
                <a:srgbClr val="FFFFFF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952500" y="1857375"/>
            <a:ext cx="72390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400">
                <a:solidFill>
                  <a:srgbClr val="E5E7EB"/>
                </a:solidFill>
                <a:latin typeface="Inter Light"/>
                <a:ea typeface="Inter Light"/>
                <a:cs typeface="Inter Light"/>
                <a:sym typeface="Inter Light"/>
              </a:rPr>
              <a:t>Bridging Skills, Academia and Industry Opportunities.</a:t>
            </a:r>
            <a:endParaRPr b="0" sz="1400">
              <a:solidFill>
                <a:srgbClr val="E5E7EB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grpSp>
        <p:nvGrpSpPr>
          <p:cNvPr id="67" name="Google Shape;67;p14"/>
          <p:cNvGrpSpPr/>
          <p:nvPr/>
        </p:nvGrpSpPr>
        <p:grpSpPr>
          <a:xfrm>
            <a:off x="523875" y="2971800"/>
            <a:ext cx="8201025" cy="514350"/>
            <a:chOff x="523875" y="2924175"/>
            <a:chExt cx="8201025" cy="514350"/>
          </a:xfrm>
        </p:grpSpPr>
        <p:grpSp>
          <p:nvGrpSpPr>
            <p:cNvPr id="68" name="Google Shape;68;p14"/>
            <p:cNvGrpSpPr/>
            <p:nvPr/>
          </p:nvGrpSpPr>
          <p:grpSpPr>
            <a:xfrm>
              <a:off x="523875" y="2943225"/>
              <a:ext cx="1238400" cy="485925"/>
              <a:chOff x="-619125" y="-57150"/>
              <a:chExt cx="1238400" cy="485925"/>
            </a:xfrm>
          </p:grpSpPr>
          <p:pic>
            <p:nvPicPr>
              <p:cNvPr id="69" name="Google Shape;69;p14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>
                <a:off x="-57150" y="-57150"/>
                <a:ext cx="114300" cy="1143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0" name="Google Shape;70;p14"/>
              <p:cNvSpPr/>
              <p:nvPr/>
            </p:nvSpPr>
            <p:spPr>
              <a:xfrm>
                <a:off x="-619125" y="142875"/>
                <a:ext cx="1238400" cy="285900"/>
              </a:xfrm>
              <a:prstGeom prst="roundRect">
                <a:avLst>
                  <a:gd fmla="val 13333" name="adj"/>
                </a:avLst>
              </a:prstGeom>
              <a:solidFill>
                <a:srgbClr val="0D0D0F"/>
              </a:solidFill>
              <a:ln cap="flat" cmpd="sng" w="9525">
                <a:solidFill>
                  <a:srgbClr val="33333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" name="Google Shape;71;p14"/>
              <p:cNvSpPr txBox="1"/>
              <p:nvPr/>
            </p:nvSpPr>
            <p:spPr>
              <a:xfrm>
                <a:off x="-619125" y="142875"/>
                <a:ext cx="1238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100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STUDENTS</a:t>
                </a:r>
                <a:endParaRPr b="1" sz="11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72" name="Google Shape;72;p14"/>
            <p:cNvGrpSpPr/>
            <p:nvPr/>
          </p:nvGrpSpPr>
          <p:grpSpPr>
            <a:xfrm>
              <a:off x="2809875" y="2943225"/>
              <a:ext cx="1238400" cy="485925"/>
              <a:chOff x="-619125" y="-57150"/>
              <a:chExt cx="1238400" cy="485925"/>
            </a:xfrm>
          </p:grpSpPr>
          <p:pic>
            <p:nvPicPr>
              <p:cNvPr id="73" name="Google Shape;73;p14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>
                <a:off x="-57150" y="-57150"/>
                <a:ext cx="114300" cy="1143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4" name="Google Shape;74;p14"/>
              <p:cNvSpPr/>
              <p:nvPr/>
            </p:nvSpPr>
            <p:spPr>
              <a:xfrm>
                <a:off x="-619125" y="142875"/>
                <a:ext cx="1238400" cy="285900"/>
              </a:xfrm>
              <a:prstGeom prst="roundRect">
                <a:avLst>
                  <a:gd fmla="val 13333" name="adj"/>
                </a:avLst>
              </a:prstGeom>
              <a:solidFill>
                <a:srgbClr val="0D0D0F"/>
              </a:solidFill>
              <a:ln cap="flat" cmpd="sng" w="9525">
                <a:solidFill>
                  <a:srgbClr val="33333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14"/>
              <p:cNvSpPr txBox="1"/>
              <p:nvPr/>
            </p:nvSpPr>
            <p:spPr>
              <a:xfrm>
                <a:off x="-619125" y="142875"/>
                <a:ext cx="1238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100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ACADEMIA</a:t>
                </a:r>
                <a:endParaRPr b="1" sz="11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76" name="Google Shape;76;p14"/>
            <p:cNvGrpSpPr/>
            <p:nvPr/>
          </p:nvGrpSpPr>
          <p:grpSpPr>
            <a:xfrm>
              <a:off x="5095875" y="2943225"/>
              <a:ext cx="1238400" cy="485925"/>
              <a:chOff x="-619125" y="-57150"/>
              <a:chExt cx="1238400" cy="485925"/>
            </a:xfrm>
          </p:grpSpPr>
          <p:pic>
            <p:nvPicPr>
              <p:cNvPr id="77" name="Google Shape;77;p14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>
                <a:off x="-57150" y="-57150"/>
                <a:ext cx="114300" cy="1143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8" name="Google Shape;78;p14"/>
              <p:cNvSpPr/>
              <p:nvPr/>
            </p:nvSpPr>
            <p:spPr>
              <a:xfrm>
                <a:off x="-619125" y="142875"/>
                <a:ext cx="1238400" cy="285900"/>
              </a:xfrm>
              <a:prstGeom prst="roundRect">
                <a:avLst>
                  <a:gd fmla="val 13333" name="adj"/>
                </a:avLst>
              </a:prstGeom>
              <a:solidFill>
                <a:srgbClr val="0D0D0F"/>
              </a:solidFill>
              <a:ln cap="flat" cmpd="sng" w="9525">
                <a:solidFill>
                  <a:srgbClr val="33333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14"/>
              <p:cNvSpPr txBox="1"/>
              <p:nvPr/>
            </p:nvSpPr>
            <p:spPr>
              <a:xfrm>
                <a:off x="-619125" y="142875"/>
                <a:ext cx="1238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100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INDUSTRY</a:t>
                </a:r>
                <a:endParaRPr b="1" sz="11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80" name="Google Shape;80;p14"/>
            <p:cNvGrpSpPr/>
            <p:nvPr/>
          </p:nvGrpSpPr>
          <p:grpSpPr>
            <a:xfrm>
              <a:off x="7277100" y="2924175"/>
              <a:ext cx="1447800" cy="514350"/>
              <a:chOff x="-723900" y="-76200"/>
              <a:chExt cx="1447800" cy="514350"/>
            </a:xfrm>
          </p:grpSpPr>
          <p:pic>
            <p:nvPicPr>
              <p:cNvPr id="81" name="Google Shape;81;p14"/>
              <p:cNvPicPr preferRelativeResize="0"/>
              <p:nvPr/>
            </p:nvPicPr>
            <p:blipFill rotWithShape="1">
              <a:blip r:embed="rId10">
                <a:alphaModFix/>
              </a:blip>
              <a:srcRect b="0" l="0" r="0" t="0"/>
              <a:stretch/>
            </p:blipFill>
            <p:spPr>
              <a:xfrm>
                <a:off x="-76200" y="-76200"/>
                <a:ext cx="152400" cy="1524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2" name="Google Shape;82;p14"/>
              <p:cNvPicPr preferRelativeResize="0"/>
              <p:nvPr/>
            </p:nvPicPr>
            <p:blipFill rotWithShape="1">
              <a:blip r:embed="rId11">
                <a:alphaModFix/>
              </a:blip>
              <a:srcRect b="0" l="0" r="0" t="0"/>
              <a:stretch/>
            </p:blipFill>
            <p:spPr>
              <a:xfrm>
                <a:off x="-723900" y="133350"/>
                <a:ext cx="1447800" cy="3048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3" name="Google Shape;83;p14"/>
              <p:cNvSpPr txBox="1"/>
              <p:nvPr/>
            </p:nvSpPr>
            <p:spPr>
              <a:xfrm>
                <a:off x="-714375" y="142875"/>
                <a:ext cx="14289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100">
                    <a:solidFill>
                      <a:srgbClr val="EF4444"/>
                    </a:solidFill>
                    <a:latin typeface="Inter"/>
                    <a:ea typeface="Inter"/>
                    <a:cs typeface="Inter"/>
                    <a:sym typeface="Inter"/>
                  </a:rPr>
                  <a:t>OPPORTUNITY</a:t>
                </a:r>
                <a:endParaRPr b="1" sz="1100">
                  <a:solidFill>
                    <a:srgbClr val="EF4444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cxnSp>
        <p:nvCxnSpPr>
          <p:cNvPr id="84" name="Google Shape;84;p14"/>
          <p:cNvCxnSpPr/>
          <p:nvPr/>
        </p:nvCxnSpPr>
        <p:spPr>
          <a:xfrm>
            <a:off x="952500" y="4238625"/>
            <a:ext cx="72390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22222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5" name="Google Shape;85;p14"/>
          <p:cNvSpPr txBox="1"/>
          <p:nvPr/>
        </p:nvSpPr>
        <p:spPr>
          <a:xfrm>
            <a:off x="952500" y="4381500"/>
            <a:ext cx="36195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900">
                <a:solidFill>
                  <a:srgbClr val="9CA3AF"/>
                </a:solidFill>
                <a:latin typeface="Space Mono"/>
                <a:ea typeface="Space Mono"/>
                <a:cs typeface="Space Mono"/>
                <a:sym typeface="Space Mono"/>
              </a:rPr>
              <a:t>TEAM: COFFETOTODE</a:t>
            </a:r>
            <a:endParaRPr b="0" sz="900">
              <a:solidFill>
                <a:srgbClr val="9CA3AF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86" name="Google Shape;86;p14"/>
          <p:cNvSpPr txBox="1"/>
          <p:nvPr/>
        </p:nvSpPr>
        <p:spPr>
          <a:xfrm>
            <a:off x="4572000" y="4381500"/>
            <a:ext cx="36195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900">
                <a:solidFill>
                  <a:srgbClr val="9CA3AF"/>
                </a:solidFill>
                <a:latin typeface="Space Mono"/>
                <a:ea typeface="Space Mono"/>
                <a:cs typeface="Space Mono"/>
                <a:sym typeface="Space Mono"/>
              </a:rPr>
              <a:t>PROBLEM: SIH26044</a:t>
            </a:r>
            <a:endParaRPr b="0" sz="900">
              <a:solidFill>
                <a:srgbClr val="9CA3AF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" name="Google Shape;91;p15"/>
          <p:cNvGrpSpPr/>
          <p:nvPr/>
        </p:nvGrpSpPr>
        <p:grpSpPr>
          <a:xfrm>
            <a:off x="-771525" y="-771525"/>
            <a:ext cx="9915600" cy="5915100"/>
            <a:chOff x="-771525" y="-771525"/>
            <a:chExt cx="9915600" cy="5915100"/>
          </a:xfrm>
        </p:grpSpPr>
        <p:pic>
          <p:nvPicPr>
            <p:cNvPr id="92" name="Google Shape;92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-771525" y="-771525"/>
              <a:ext cx="3448200" cy="3448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3" name="Google Shape;93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086475" y="1514475"/>
              <a:ext cx="3057600" cy="36291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4" name="Google Shape;94;p15"/>
          <p:cNvSpPr/>
          <p:nvPr/>
        </p:nvSpPr>
        <p:spPr>
          <a:xfrm>
            <a:off x="0" y="1285875"/>
            <a:ext cx="9144000" cy="0"/>
          </a:xfrm>
          <a:custGeom>
            <a:rect b="b" l="l" r="r" t="t"/>
            <a:pathLst>
              <a:path extrusionOk="0" fill="none" h="120000" w="120000">
                <a:moveTo>
                  <a:pt x="0" y="0"/>
                </a:moveTo>
                <a:lnTo>
                  <a:pt x="120000" y="0"/>
                </a:lnTo>
              </a:path>
            </a:pathLst>
          </a:custGeom>
          <a:solidFill>
            <a:srgbClr val="FFFFFF"/>
          </a:solidFill>
          <a:ln cap="flat" cmpd="sng" w="9525">
            <a:solidFill>
              <a:srgbClr val="2222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5" name="Google Shape;95;p15"/>
          <p:cNvGrpSpPr/>
          <p:nvPr/>
        </p:nvGrpSpPr>
        <p:grpSpPr>
          <a:xfrm>
            <a:off x="952500" y="428625"/>
            <a:ext cx="1714500" cy="228600"/>
            <a:chOff x="0" y="0"/>
            <a:chExt cx="1714500" cy="228600"/>
          </a:xfrm>
        </p:grpSpPr>
        <p:sp>
          <p:nvSpPr>
            <p:cNvPr id="96" name="Google Shape;96;p15"/>
            <p:cNvSpPr/>
            <p:nvPr/>
          </p:nvSpPr>
          <p:spPr>
            <a:xfrm>
              <a:off x="0" y="0"/>
              <a:ext cx="1714500" cy="228600"/>
            </a:xfrm>
            <a:prstGeom prst="roundRect">
              <a:avLst>
                <a:gd fmla="val 50000" name="adj"/>
              </a:avLst>
            </a:prstGeom>
            <a:solidFill>
              <a:srgbClr val="000000">
                <a:alpha val="0"/>
              </a:srgbClr>
            </a:solidFill>
            <a:ln cap="flat" cmpd="sng" w="14300">
              <a:solidFill>
                <a:srgbClr val="EF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15"/>
            <p:cNvSpPr txBox="1"/>
            <p:nvPr/>
          </p:nvSpPr>
          <p:spPr>
            <a:xfrm>
              <a:off x="0" y="0"/>
              <a:ext cx="1714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900">
                  <a:solidFill>
                    <a:srgbClr val="EF4444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SIH 2026 | THE PROBLEM</a:t>
              </a:r>
              <a:endParaRPr b="0" sz="900">
                <a:solidFill>
                  <a:srgbClr val="EF4444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sp>
        <p:nvSpPr>
          <p:cNvPr id="98" name="Google Shape;98;p15"/>
          <p:cNvSpPr txBox="1"/>
          <p:nvPr/>
        </p:nvSpPr>
        <p:spPr>
          <a:xfrm>
            <a:off x="952500" y="714375"/>
            <a:ext cx="7239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060"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THE CONNECTION IS BROKEN</a:t>
            </a:r>
            <a:endParaRPr b="0" sz="3060">
              <a:solidFill>
                <a:srgbClr val="FFFFFF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grpSp>
        <p:nvGrpSpPr>
          <p:cNvPr id="99" name="Google Shape;99;p15"/>
          <p:cNvGrpSpPr/>
          <p:nvPr/>
        </p:nvGrpSpPr>
        <p:grpSpPr>
          <a:xfrm>
            <a:off x="952500" y="1333500"/>
            <a:ext cx="2000100" cy="1333500"/>
            <a:chOff x="0" y="-190500"/>
            <a:chExt cx="2000100" cy="1333500"/>
          </a:xfrm>
        </p:grpSpPr>
        <p:sp>
          <p:nvSpPr>
            <p:cNvPr id="100" name="Google Shape;100;p15"/>
            <p:cNvSpPr/>
            <p:nvPr/>
          </p:nvSpPr>
          <p:spPr>
            <a:xfrm>
              <a:off x="0" y="0"/>
              <a:ext cx="2000100" cy="1143000"/>
            </a:xfrm>
            <a:prstGeom prst="roundRect">
              <a:avLst>
                <a:gd fmla="val 5000" name="adj"/>
              </a:avLst>
            </a:prstGeom>
            <a:solidFill>
              <a:srgbClr val="121214"/>
            </a:solidFill>
            <a:ln cap="flat" cmpd="sng" w="14300">
              <a:solidFill>
                <a:srgbClr val="2222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5"/>
            <p:cNvSpPr/>
            <p:nvPr/>
          </p:nvSpPr>
          <p:spPr>
            <a:xfrm>
              <a:off x="952500" y="-190500"/>
              <a:ext cx="95400" cy="954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5"/>
            <p:cNvSpPr txBox="1"/>
            <p:nvPr/>
          </p:nvSpPr>
          <p:spPr>
            <a:xfrm>
              <a:off x="142875" y="142875"/>
              <a:ext cx="17145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STUDENTS</a:t>
              </a:r>
              <a:endParaRPr b="1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GB" sz="1000">
                  <a:solidFill>
                    <a:srgbClr val="9CA3AF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Learn without clear knowledge of real industry requirements.</a:t>
              </a:r>
              <a:endParaRPr b="0" sz="1000">
                <a:solidFill>
                  <a:srgbClr val="9CA3AF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</p:txBody>
        </p:sp>
      </p:grpSp>
      <p:grpSp>
        <p:nvGrpSpPr>
          <p:cNvPr id="103" name="Google Shape;103;p15"/>
          <p:cNvGrpSpPr/>
          <p:nvPr/>
        </p:nvGrpSpPr>
        <p:grpSpPr>
          <a:xfrm>
            <a:off x="3571875" y="1333500"/>
            <a:ext cx="2000100" cy="1333500"/>
            <a:chOff x="0" y="-190500"/>
            <a:chExt cx="2000100" cy="1333500"/>
          </a:xfrm>
        </p:grpSpPr>
        <p:sp>
          <p:nvSpPr>
            <p:cNvPr id="104" name="Google Shape;104;p15"/>
            <p:cNvSpPr/>
            <p:nvPr/>
          </p:nvSpPr>
          <p:spPr>
            <a:xfrm>
              <a:off x="0" y="0"/>
              <a:ext cx="2000100" cy="1143000"/>
            </a:xfrm>
            <a:prstGeom prst="roundRect">
              <a:avLst>
                <a:gd fmla="val 5000" name="adj"/>
              </a:avLst>
            </a:prstGeom>
            <a:solidFill>
              <a:srgbClr val="121214"/>
            </a:solidFill>
            <a:ln cap="flat" cmpd="sng" w="14300">
              <a:solidFill>
                <a:srgbClr val="2222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15"/>
            <p:cNvSpPr/>
            <p:nvPr/>
          </p:nvSpPr>
          <p:spPr>
            <a:xfrm>
              <a:off x="952500" y="-190500"/>
              <a:ext cx="95400" cy="954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15"/>
            <p:cNvSpPr txBox="1"/>
            <p:nvPr/>
          </p:nvSpPr>
          <p:spPr>
            <a:xfrm>
              <a:off x="142875" y="142875"/>
              <a:ext cx="17145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ACADEMIA</a:t>
              </a:r>
              <a:endParaRPr b="1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GB" sz="1000">
                  <a:solidFill>
                    <a:srgbClr val="9CA3AF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Operates in isolation, lacking continuous industry feedback.</a:t>
              </a:r>
              <a:endParaRPr b="0" sz="1000">
                <a:solidFill>
                  <a:srgbClr val="9CA3AF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</p:txBody>
        </p:sp>
      </p:grpSp>
      <p:grpSp>
        <p:nvGrpSpPr>
          <p:cNvPr id="107" name="Google Shape;107;p15"/>
          <p:cNvGrpSpPr/>
          <p:nvPr/>
        </p:nvGrpSpPr>
        <p:grpSpPr>
          <a:xfrm>
            <a:off x="6191250" y="1333500"/>
            <a:ext cx="2000100" cy="1333500"/>
            <a:chOff x="0" y="-190500"/>
            <a:chExt cx="2000100" cy="1333500"/>
          </a:xfrm>
        </p:grpSpPr>
        <p:sp>
          <p:nvSpPr>
            <p:cNvPr id="108" name="Google Shape;108;p15"/>
            <p:cNvSpPr/>
            <p:nvPr/>
          </p:nvSpPr>
          <p:spPr>
            <a:xfrm>
              <a:off x="0" y="0"/>
              <a:ext cx="2000100" cy="1143000"/>
            </a:xfrm>
            <a:prstGeom prst="roundRect">
              <a:avLst>
                <a:gd fmla="val 5000" name="adj"/>
              </a:avLst>
            </a:prstGeom>
            <a:solidFill>
              <a:srgbClr val="121214"/>
            </a:solidFill>
            <a:ln cap="flat" cmpd="sng" w="14300">
              <a:solidFill>
                <a:srgbClr val="2222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5"/>
            <p:cNvSpPr/>
            <p:nvPr/>
          </p:nvSpPr>
          <p:spPr>
            <a:xfrm>
              <a:off x="952500" y="-190500"/>
              <a:ext cx="95400" cy="954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5"/>
            <p:cNvSpPr txBox="1"/>
            <p:nvPr/>
          </p:nvSpPr>
          <p:spPr>
            <a:xfrm>
              <a:off x="142875" y="142875"/>
              <a:ext cx="17145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INDUSTRY</a:t>
              </a:r>
              <a:endParaRPr b="1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GB" sz="1000">
                  <a:solidFill>
                    <a:srgbClr val="9CA3AF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Struggles to identify and access relevant, skill-ready talent.</a:t>
              </a:r>
              <a:endParaRPr b="0" sz="1000">
                <a:solidFill>
                  <a:srgbClr val="9CA3AF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</p:txBody>
        </p:sp>
      </p:grpSp>
      <p:grpSp>
        <p:nvGrpSpPr>
          <p:cNvPr id="111" name="Google Shape;111;p15"/>
          <p:cNvGrpSpPr/>
          <p:nvPr/>
        </p:nvGrpSpPr>
        <p:grpSpPr>
          <a:xfrm>
            <a:off x="2952750" y="2085975"/>
            <a:ext cx="3238575" cy="19200"/>
            <a:chOff x="2952750" y="2085975"/>
            <a:chExt cx="3238575" cy="19200"/>
          </a:xfrm>
        </p:grpSpPr>
        <p:pic>
          <p:nvPicPr>
            <p:cNvPr id="112" name="Google Shape;112;p1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952750" y="2085975"/>
              <a:ext cx="619200" cy="19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3" name="Google Shape;113;p1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572125" y="2085975"/>
              <a:ext cx="619200" cy="192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4" name="Google Shape;114;p15"/>
          <p:cNvGrpSpPr/>
          <p:nvPr/>
        </p:nvGrpSpPr>
        <p:grpSpPr>
          <a:xfrm>
            <a:off x="3219450" y="2000250"/>
            <a:ext cx="2752875" cy="190500"/>
            <a:chOff x="3219450" y="2000250"/>
            <a:chExt cx="2752875" cy="190500"/>
          </a:xfrm>
        </p:grpSpPr>
        <p:sp>
          <p:nvSpPr>
            <p:cNvPr id="115" name="Google Shape;115;p15"/>
            <p:cNvSpPr/>
            <p:nvPr/>
          </p:nvSpPr>
          <p:spPr>
            <a:xfrm>
              <a:off x="3219450" y="2000250"/>
              <a:ext cx="95400" cy="190500"/>
            </a:xfrm>
            <a:custGeom>
              <a:rect b="b" l="l" r="r" t="t"/>
              <a:pathLst>
                <a:path extrusionOk="0" fill="none" h="120000" w="120000">
                  <a:moveTo>
                    <a:pt x="0" y="0"/>
                  </a:moveTo>
                  <a:lnTo>
                    <a:pt x="120000" y="120000"/>
                  </a:lnTo>
                </a:path>
              </a:pathLst>
            </a:custGeom>
            <a:solidFill>
              <a:srgbClr val="FFFFFF"/>
            </a:solidFill>
            <a:ln cap="rnd" cmpd="sng" w="28575">
              <a:solidFill>
                <a:srgbClr val="EF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5"/>
            <p:cNvSpPr/>
            <p:nvPr/>
          </p:nvSpPr>
          <p:spPr>
            <a:xfrm>
              <a:off x="3257550" y="2000250"/>
              <a:ext cx="95400" cy="190500"/>
            </a:xfrm>
            <a:custGeom>
              <a:rect b="b" l="l" r="r" t="t"/>
              <a:pathLst>
                <a:path extrusionOk="0" fill="none" h="120000" w="120000">
                  <a:moveTo>
                    <a:pt x="0" y="0"/>
                  </a:moveTo>
                  <a:lnTo>
                    <a:pt x="120000" y="120000"/>
                  </a:lnTo>
                </a:path>
              </a:pathLst>
            </a:custGeom>
            <a:solidFill>
              <a:srgbClr val="FFFFFF"/>
            </a:solidFill>
            <a:ln cap="rnd" cmpd="sng" w="28575">
              <a:solidFill>
                <a:srgbClr val="EF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5"/>
            <p:cNvSpPr/>
            <p:nvPr/>
          </p:nvSpPr>
          <p:spPr>
            <a:xfrm>
              <a:off x="5838825" y="2000250"/>
              <a:ext cx="95400" cy="190500"/>
            </a:xfrm>
            <a:custGeom>
              <a:rect b="b" l="l" r="r" t="t"/>
              <a:pathLst>
                <a:path extrusionOk="0" fill="none" h="120000" w="120000">
                  <a:moveTo>
                    <a:pt x="0" y="0"/>
                  </a:moveTo>
                  <a:lnTo>
                    <a:pt x="120000" y="120000"/>
                  </a:lnTo>
                </a:path>
              </a:pathLst>
            </a:custGeom>
            <a:solidFill>
              <a:srgbClr val="FFFFFF"/>
            </a:solidFill>
            <a:ln cap="rnd" cmpd="sng" w="28575">
              <a:solidFill>
                <a:srgbClr val="EF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5"/>
            <p:cNvSpPr/>
            <p:nvPr/>
          </p:nvSpPr>
          <p:spPr>
            <a:xfrm>
              <a:off x="5876925" y="2000250"/>
              <a:ext cx="95400" cy="190500"/>
            </a:xfrm>
            <a:custGeom>
              <a:rect b="b" l="l" r="r" t="t"/>
              <a:pathLst>
                <a:path extrusionOk="0" fill="none" h="120000" w="120000">
                  <a:moveTo>
                    <a:pt x="0" y="0"/>
                  </a:moveTo>
                  <a:lnTo>
                    <a:pt x="120000" y="120000"/>
                  </a:lnTo>
                </a:path>
              </a:pathLst>
            </a:custGeom>
            <a:solidFill>
              <a:srgbClr val="FFFFFF"/>
            </a:solidFill>
            <a:ln cap="rnd" cmpd="sng" w="28575">
              <a:solidFill>
                <a:srgbClr val="EF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9" name="Google Shape;119;p15"/>
          <p:cNvGrpSpPr/>
          <p:nvPr/>
        </p:nvGrpSpPr>
        <p:grpSpPr>
          <a:xfrm>
            <a:off x="952500" y="3095625"/>
            <a:ext cx="7239000" cy="666900"/>
            <a:chOff x="0" y="0"/>
            <a:chExt cx="7239000" cy="666900"/>
          </a:xfrm>
        </p:grpSpPr>
        <p:sp>
          <p:nvSpPr>
            <p:cNvPr id="120" name="Google Shape;120;p15"/>
            <p:cNvSpPr/>
            <p:nvPr/>
          </p:nvSpPr>
          <p:spPr>
            <a:xfrm>
              <a:off x="0" y="0"/>
              <a:ext cx="7239000" cy="666900"/>
            </a:xfrm>
            <a:prstGeom prst="roundRect">
              <a:avLst>
                <a:gd fmla="val 8571" name="adj"/>
              </a:avLst>
            </a:prstGeom>
            <a:solidFill>
              <a:srgbClr val="1A0B0C"/>
            </a:solidFill>
            <a:ln cap="flat" cmpd="sng" w="9525">
              <a:solidFill>
                <a:srgbClr val="EF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5"/>
            <p:cNvSpPr txBox="1"/>
            <p:nvPr/>
          </p:nvSpPr>
          <p:spPr>
            <a:xfrm>
              <a:off x="190500" y="95250"/>
              <a:ext cx="6858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EF4444"/>
                  </a:solidFill>
                  <a:latin typeface="Inter"/>
                  <a:ea typeface="Inter"/>
                  <a:cs typeface="Inter"/>
                  <a:sym typeface="Inter"/>
                </a:rPr>
                <a:t>TALENT EXISTS. OPPORTUNITIES EXIST. THE BRIDGE IS MISSING.</a:t>
              </a:r>
              <a:endParaRPr b="1" sz="1400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GB" sz="1100">
                  <a:solidFill>
                    <a:srgbClr val="E5E7EB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Disjointed ecosystems prevent immediate talent discoverability and growth.</a:t>
              </a:r>
              <a:endParaRPr b="0" sz="1100">
                <a:solidFill>
                  <a:srgbClr val="E5E7EB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</p:txBody>
        </p:sp>
      </p:grpSp>
      <p:cxnSp>
        <p:nvCxnSpPr>
          <p:cNvPr id="122" name="Google Shape;122;p15"/>
          <p:cNvCxnSpPr/>
          <p:nvPr/>
        </p:nvCxnSpPr>
        <p:spPr>
          <a:xfrm>
            <a:off x="952500" y="4238625"/>
            <a:ext cx="72390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22222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3" name="Google Shape;123;p15"/>
          <p:cNvSpPr txBox="1"/>
          <p:nvPr/>
        </p:nvSpPr>
        <p:spPr>
          <a:xfrm>
            <a:off x="952500" y="4381500"/>
            <a:ext cx="36195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900">
                <a:solidFill>
                  <a:srgbClr val="9CA3AF"/>
                </a:solidFill>
                <a:latin typeface="Space Mono"/>
                <a:ea typeface="Space Mono"/>
                <a:cs typeface="Space Mono"/>
                <a:sym typeface="Space Mono"/>
              </a:rPr>
              <a:t>TEAM: COFFETOTODE</a:t>
            </a:r>
            <a:endParaRPr b="0" sz="900">
              <a:solidFill>
                <a:srgbClr val="9CA3AF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572000" y="4381500"/>
            <a:ext cx="36195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900">
                <a:solidFill>
                  <a:srgbClr val="9CA3AF"/>
                </a:solidFill>
                <a:latin typeface="Space Mono"/>
                <a:ea typeface="Space Mono"/>
                <a:cs typeface="Space Mono"/>
                <a:sym typeface="Space Mono"/>
              </a:rPr>
              <a:t>PROBLEM: SIH26044</a:t>
            </a:r>
            <a:endParaRPr b="0" sz="900">
              <a:solidFill>
                <a:srgbClr val="9CA3AF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F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" name="Google Shape;129;p16"/>
          <p:cNvGrpSpPr/>
          <p:nvPr/>
        </p:nvGrpSpPr>
        <p:grpSpPr>
          <a:xfrm>
            <a:off x="3714750" y="381000"/>
            <a:ext cx="1714500" cy="228600"/>
            <a:chOff x="0" y="0"/>
            <a:chExt cx="1714500" cy="228600"/>
          </a:xfrm>
        </p:grpSpPr>
        <p:sp>
          <p:nvSpPr>
            <p:cNvPr id="130" name="Google Shape;130;p16"/>
            <p:cNvSpPr/>
            <p:nvPr/>
          </p:nvSpPr>
          <p:spPr>
            <a:xfrm>
              <a:off x="0" y="0"/>
              <a:ext cx="1714500" cy="228600"/>
            </a:xfrm>
            <a:prstGeom prst="roundRect">
              <a:avLst>
                <a:gd fmla="val 50000" name="adj"/>
              </a:avLst>
            </a:prstGeom>
            <a:solidFill>
              <a:srgbClr val="000000">
                <a:alpha val="0"/>
              </a:srgbClr>
            </a:solidFill>
            <a:ln cap="flat" cmpd="sng" w="14300">
              <a:solidFill>
                <a:srgbClr val="EF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6"/>
            <p:cNvSpPr txBox="1"/>
            <p:nvPr/>
          </p:nvSpPr>
          <p:spPr>
            <a:xfrm>
              <a:off x="0" y="0"/>
              <a:ext cx="1714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900">
                  <a:solidFill>
                    <a:srgbClr val="EF4444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SIH 2026 | THE CHALLENGES</a:t>
              </a:r>
              <a:endParaRPr b="0" sz="900">
                <a:solidFill>
                  <a:srgbClr val="EF4444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sp>
        <p:nvSpPr>
          <p:cNvPr id="132" name="Google Shape;132;p16"/>
          <p:cNvSpPr txBox="1"/>
          <p:nvPr/>
        </p:nvSpPr>
        <p:spPr>
          <a:xfrm>
            <a:off x="952500" y="714375"/>
            <a:ext cx="7239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600"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THREE GAPS. ONE BROKEN ECOSYSTEM.</a:t>
            </a:r>
            <a:endParaRPr b="0" sz="2600">
              <a:solidFill>
                <a:srgbClr val="FFFFFF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grpSp>
        <p:nvGrpSpPr>
          <p:cNvPr id="133" name="Google Shape;133;p16"/>
          <p:cNvGrpSpPr/>
          <p:nvPr/>
        </p:nvGrpSpPr>
        <p:grpSpPr>
          <a:xfrm>
            <a:off x="952500" y="1343025"/>
            <a:ext cx="2190900" cy="1800300"/>
            <a:chOff x="0" y="-38100"/>
            <a:chExt cx="2190900" cy="1800300"/>
          </a:xfrm>
        </p:grpSpPr>
        <p:sp>
          <p:nvSpPr>
            <p:cNvPr id="134" name="Google Shape;134;p16"/>
            <p:cNvSpPr/>
            <p:nvPr/>
          </p:nvSpPr>
          <p:spPr>
            <a:xfrm>
              <a:off x="0" y="0"/>
              <a:ext cx="2190900" cy="1762200"/>
            </a:xfrm>
            <a:prstGeom prst="roundRect">
              <a:avLst>
                <a:gd fmla="val 4324" name="adj"/>
              </a:avLst>
            </a:prstGeom>
            <a:solidFill>
              <a:srgbClr val="121214"/>
            </a:solidFill>
            <a:ln cap="flat" cmpd="sng" w="14300">
              <a:solidFill>
                <a:srgbClr val="2222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6"/>
            <p:cNvSpPr/>
            <p:nvPr/>
          </p:nvSpPr>
          <p:spPr>
            <a:xfrm>
              <a:off x="1057275" y="-38100"/>
              <a:ext cx="76200" cy="762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16"/>
            <p:cNvSpPr txBox="1"/>
            <p:nvPr/>
          </p:nvSpPr>
          <p:spPr>
            <a:xfrm>
              <a:off x="190500" y="190500"/>
              <a:ext cx="1809600" cy="138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3060">
                  <a:solidFill>
                    <a:srgbClr val="EF4444"/>
                  </a:solidFill>
                  <a:latin typeface="Montserrat Black"/>
                  <a:ea typeface="Montserrat Black"/>
                  <a:cs typeface="Montserrat Black"/>
                  <a:sym typeface="Montserrat Black"/>
                </a:rPr>
                <a:t>01</a:t>
              </a:r>
              <a:endParaRPr b="0" sz="3060">
                <a:solidFill>
                  <a:srgbClr val="EF4444"/>
                </a:solidFill>
                <a:latin typeface="Montserrat Black"/>
                <a:ea typeface="Montserrat Black"/>
                <a:cs typeface="Montserrat Black"/>
                <a:sym typeface="Montserrat Black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-GB" sz="102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SKILL GAP</a:t>
              </a:r>
              <a:endParaRPr b="1" sz="102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GB" sz="893">
                  <a:solidFill>
                    <a:srgbClr val="9CA3AF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Students don't know what industry requires or what they should learn next.</a:t>
              </a:r>
              <a:endParaRPr b="0" sz="893">
                <a:solidFill>
                  <a:srgbClr val="9CA3AF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</p:txBody>
        </p:sp>
      </p:grpSp>
      <p:grpSp>
        <p:nvGrpSpPr>
          <p:cNvPr id="137" name="Google Shape;137;p16"/>
          <p:cNvGrpSpPr/>
          <p:nvPr/>
        </p:nvGrpSpPr>
        <p:grpSpPr>
          <a:xfrm>
            <a:off x="3476625" y="1343025"/>
            <a:ext cx="2190900" cy="1800300"/>
            <a:chOff x="0" y="-38100"/>
            <a:chExt cx="2190900" cy="1800300"/>
          </a:xfrm>
        </p:grpSpPr>
        <p:sp>
          <p:nvSpPr>
            <p:cNvPr id="138" name="Google Shape;138;p16"/>
            <p:cNvSpPr/>
            <p:nvPr/>
          </p:nvSpPr>
          <p:spPr>
            <a:xfrm>
              <a:off x="0" y="0"/>
              <a:ext cx="2190900" cy="1762200"/>
            </a:xfrm>
            <a:prstGeom prst="roundRect">
              <a:avLst>
                <a:gd fmla="val 4324" name="adj"/>
              </a:avLst>
            </a:prstGeom>
            <a:solidFill>
              <a:srgbClr val="121214"/>
            </a:solidFill>
            <a:ln cap="flat" cmpd="sng" w="14300">
              <a:solidFill>
                <a:srgbClr val="2222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16"/>
            <p:cNvSpPr/>
            <p:nvPr/>
          </p:nvSpPr>
          <p:spPr>
            <a:xfrm>
              <a:off x="1057275" y="-38100"/>
              <a:ext cx="76200" cy="762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16"/>
            <p:cNvSpPr txBox="1"/>
            <p:nvPr/>
          </p:nvSpPr>
          <p:spPr>
            <a:xfrm>
              <a:off x="190500" y="190500"/>
              <a:ext cx="1809600" cy="138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3060">
                  <a:solidFill>
                    <a:srgbClr val="EF4444"/>
                  </a:solidFill>
                  <a:latin typeface="Montserrat Black"/>
                  <a:ea typeface="Montserrat Black"/>
                  <a:cs typeface="Montserrat Black"/>
                  <a:sym typeface="Montserrat Black"/>
                </a:rPr>
                <a:t>02</a:t>
              </a:r>
              <a:endParaRPr b="0" sz="3060">
                <a:solidFill>
                  <a:srgbClr val="EF4444"/>
                </a:solidFill>
                <a:latin typeface="Montserrat Black"/>
                <a:ea typeface="Montserrat Black"/>
                <a:cs typeface="Montserrat Black"/>
                <a:sym typeface="Montserrat Black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-GB" sz="102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OPPORTUNITY FRAGMENTATION</a:t>
              </a:r>
              <a:endParaRPr b="1" sz="102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GB" sz="893">
                  <a:solidFill>
                    <a:srgbClr val="9CA3AF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Internships and career opportunities are scattered across platforms.</a:t>
              </a:r>
              <a:endParaRPr b="0" sz="893">
                <a:solidFill>
                  <a:srgbClr val="9CA3AF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</p:txBody>
        </p:sp>
      </p:grpSp>
      <p:grpSp>
        <p:nvGrpSpPr>
          <p:cNvPr id="141" name="Google Shape;141;p16"/>
          <p:cNvGrpSpPr/>
          <p:nvPr/>
        </p:nvGrpSpPr>
        <p:grpSpPr>
          <a:xfrm>
            <a:off x="6000750" y="1343025"/>
            <a:ext cx="2190900" cy="1800300"/>
            <a:chOff x="0" y="-38100"/>
            <a:chExt cx="2190900" cy="1800300"/>
          </a:xfrm>
        </p:grpSpPr>
        <p:sp>
          <p:nvSpPr>
            <p:cNvPr id="142" name="Google Shape;142;p16"/>
            <p:cNvSpPr/>
            <p:nvPr/>
          </p:nvSpPr>
          <p:spPr>
            <a:xfrm>
              <a:off x="0" y="0"/>
              <a:ext cx="2190900" cy="1762200"/>
            </a:xfrm>
            <a:prstGeom prst="roundRect">
              <a:avLst>
                <a:gd fmla="val 4324" name="adj"/>
              </a:avLst>
            </a:prstGeom>
            <a:solidFill>
              <a:srgbClr val="121214"/>
            </a:solidFill>
            <a:ln cap="flat" cmpd="sng" w="14300">
              <a:solidFill>
                <a:srgbClr val="2222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16"/>
            <p:cNvSpPr/>
            <p:nvPr/>
          </p:nvSpPr>
          <p:spPr>
            <a:xfrm>
              <a:off x="1057275" y="-38100"/>
              <a:ext cx="76200" cy="762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16"/>
            <p:cNvSpPr txBox="1"/>
            <p:nvPr/>
          </p:nvSpPr>
          <p:spPr>
            <a:xfrm>
              <a:off x="190500" y="190500"/>
              <a:ext cx="1809600" cy="138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3060">
                  <a:solidFill>
                    <a:srgbClr val="EF4444"/>
                  </a:solidFill>
                  <a:latin typeface="Montserrat Black"/>
                  <a:ea typeface="Montserrat Black"/>
                  <a:cs typeface="Montserrat Black"/>
                  <a:sym typeface="Montserrat Black"/>
                </a:rPr>
                <a:t>03</a:t>
              </a:r>
              <a:endParaRPr b="0" sz="3060">
                <a:solidFill>
                  <a:srgbClr val="EF4444"/>
                </a:solidFill>
                <a:latin typeface="Montserrat Black"/>
                <a:ea typeface="Montserrat Black"/>
                <a:cs typeface="Montserrat Black"/>
                <a:sym typeface="Montserrat Black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-GB" sz="102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ACADEMIA–INDUSTRY MISALIGNMENT</a:t>
              </a:r>
              <a:endParaRPr b="1" sz="102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GB" sz="893">
                  <a:solidFill>
                    <a:srgbClr val="9CA3AF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Academic learning and changing industry requirements are not sufficiently connected.</a:t>
              </a:r>
              <a:endParaRPr b="0" sz="893">
                <a:solidFill>
                  <a:srgbClr val="9CA3AF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</p:txBody>
        </p:sp>
      </p:grpSp>
      <p:grpSp>
        <p:nvGrpSpPr>
          <p:cNvPr id="145" name="Google Shape;145;p16"/>
          <p:cNvGrpSpPr/>
          <p:nvPr/>
        </p:nvGrpSpPr>
        <p:grpSpPr>
          <a:xfrm>
            <a:off x="952500" y="3381375"/>
            <a:ext cx="7239000" cy="619200"/>
            <a:chOff x="0" y="0"/>
            <a:chExt cx="7239000" cy="619200"/>
          </a:xfrm>
        </p:grpSpPr>
        <p:sp>
          <p:nvSpPr>
            <p:cNvPr id="146" name="Google Shape;146;p16"/>
            <p:cNvSpPr/>
            <p:nvPr/>
          </p:nvSpPr>
          <p:spPr>
            <a:xfrm>
              <a:off x="0" y="0"/>
              <a:ext cx="7239000" cy="619200"/>
            </a:xfrm>
            <a:prstGeom prst="roundRect">
              <a:avLst>
                <a:gd fmla="val 9230" name="adj"/>
              </a:avLst>
            </a:prstGeom>
            <a:solidFill>
              <a:srgbClr val="1A0B0C"/>
            </a:solidFill>
            <a:ln cap="flat" cmpd="sng" w="9525">
              <a:solidFill>
                <a:srgbClr val="EF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16"/>
            <p:cNvSpPr txBox="1"/>
            <p:nvPr/>
          </p:nvSpPr>
          <p:spPr>
            <a:xfrm>
              <a:off x="190500" y="95250"/>
              <a:ext cx="68580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20">
                  <a:solidFill>
                    <a:srgbClr val="EF4444"/>
                  </a:solidFill>
                  <a:latin typeface="Inter"/>
                  <a:ea typeface="Inter"/>
                  <a:cs typeface="Inter"/>
                  <a:sym typeface="Inter"/>
                </a:rPr>
                <a:t>THESE ARE THE PROBLEMS SKILLBRIDGE WAS BUILT TO SOLVE.</a:t>
              </a:r>
              <a:endParaRPr b="1" sz="1020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-GB" sz="893">
                  <a:solidFill>
                    <a:srgbClr val="E5E7EB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Creating the essential infrastructure to unite talent, education, and career opportunities.</a:t>
              </a:r>
              <a:endParaRPr b="0" sz="893">
                <a:solidFill>
                  <a:srgbClr val="E5E7EB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</p:txBody>
        </p:sp>
      </p:grpSp>
      <p:cxnSp>
        <p:nvCxnSpPr>
          <p:cNvPr id="148" name="Google Shape;148;p16"/>
          <p:cNvCxnSpPr/>
          <p:nvPr/>
        </p:nvCxnSpPr>
        <p:spPr>
          <a:xfrm>
            <a:off x="952500" y="4238625"/>
            <a:ext cx="72390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22222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9" name="Google Shape;149;p16"/>
          <p:cNvSpPr txBox="1"/>
          <p:nvPr/>
        </p:nvSpPr>
        <p:spPr>
          <a:xfrm>
            <a:off x="952500" y="4381500"/>
            <a:ext cx="36195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900">
                <a:solidFill>
                  <a:srgbClr val="9CA3AF"/>
                </a:solidFill>
                <a:latin typeface="Space Mono"/>
                <a:ea typeface="Space Mono"/>
                <a:cs typeface="Space Mono"/>
                <a:sym typeface="Space Mono"/>
              </a:rPr>
              <a:t>TEAM: COFFETOTODE</a:t>
            </a:r>
            <a:endParaRPr b="0" sz="900">
              <a:solidFill>
                <a:srgbClr val="9CA3AF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150" name="Google Shape;150;p16"/>
          <p:cNvSpPr txBox="1"/>
          <p:nvPr/>
        </p:nvSpPr>
        <p:spPr>
          <a:xfrm>
            <a:off x="4572000" y="4381500"/>
            <a:ext cx="36195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900">
                <a:solidFill>
                  <a:srgbClr val="9CA3AF"/>
                </a:solidFill>
                <a:latin typeface="Space Mono"/>
                <a:ea typeface="Space Mono"/>
                <a:cs typeface="Space Mono"/>
                <a:sym typeface="Space Mono"/>
              </a:rPr>
              <a:t>PROBLEM: SIH26044</a:t>
            </a:r>
            <a:endParaRPr b="0" sz="900">
              <a:solidFill>
                <a:srgbClr val="9CA3AF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F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" name="Google Shape;155;p17"/>
          <p:cNvGrpSpPr/>
          <p:nvPr/>
        </p:nvGrpSpPr>
        <p:grpSpPr>
          <a:xfrm>
            <a:off x="3714750" y="381000"/>
            <a:ext cx="1714500" cy="228600"/>
            <a:chOff x="0" y="0"/>
            <a:chExt cx="1714500" cy="228600"/>
          </a:xfrm>
        </p:grpSpPr>
        <p:sp>
          <p:nvSpPr>
            <p:cNvPr id="156" name="Google Shape;156;p17"/>
            <p:cNvSpPr/>
            <p:nvPr/>
          </p:nvSpPr>
          <p:spPr>
            <a:xfrm>
              <a:off x="0" y="0"/>
              <a:ext cx="1714500" cy="228600"/>
            </a:xfrm>
            <a:prstGeom prst="roundRect">
              <a:avLst>
                <a:gd fmla="val 50000" name="adj"/>
              </a:avLst>
            </a:prstGeom>
            <a:solidFill>
              <a:srgbClr val="000000">
                <a:alpha val="0"/>
              </a:srgbClr>
            </a:solidFill>
            <a:ln cap="flat" cmpd="sng" w="14300">
              <a:solidFill>
                <a:srgbClr val="EF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7"/>
            <p:cNvSpPr txBox="1"/>
            <p:nvPr/>
          </p:nvSpPr>
          <p:spPr>
            <a:xfrm>
              <a:off x="0" y="0"/>
              <a:ext cx="1714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765">
                  <a:solidFill>
                    <a:srgbClr val="EF4444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SIH 2026 | THE DATA</a:t>
              </a:r>
              <a:endParaRPr b="0" sz="765">
                <a:solidFill>
                  <a:srgbClr val="EF4444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sp>
        <p:nvSpPr>
          <p:cNvPr id="158" name="Google Shape;158;p17"/>
          <p:cNvSpPr txBox="1"/>
          <p:nvPr/>
        </p:nvSpPr>
        <p:spPr>
          <a:xfrm>
            <a:off x="952500" y="714375"/>
            <a:ext cx="7239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600"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THE GAP IS REAL.</a:t>
            </a:r>
            <a:endParaRPr b="0" sz="2600">
              <a:solidFill>
                <a:srgbClr val="FFFFFF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grpSp>
        <p:nvGrpSpPr>
          <p:cNvPr id="159" name="Google Shape;159;p17"/>
          <p:cNvGrpSpPr/>
          <p:nvPr/>
        </p:nvGrpSpPr>
        <p:grpSpPr>
          <a:xfrm>
            <a:off x="952500" y="1304925"/>
            <a:ext cx="2190900" cy="1838400"/>
            <a:chOff x="0" y="-76200"/>
            <a:chExt cx="2190900" cy="1838400"/>
          </a:xfrm>
        </p:grpSpPr>
        <p:sp>
          <p:nvSpPr>
            <p:cNvPr id="160" name="Google Shape;160;p17"/>
            <p:cNvSpPr/>
            <p:nvPr/>
          </p:nvSpPr>
          <p:spPr>
            <a:xfrm>
              <a:off x="0" y="0"/>
              <a:ext cx="2190900" cy="1762200"/>
            </a:xfrm>
            <a:prstGeom prst="roundRect">
              <a:avLst>
                <a:gd fmla="val 4324" name="adj"/>
              </a:avLst>
            </a:prstGeom>
            <a:solidFill>
              <a:srgbClr val="121214"/>
            </a:solidFill>
            <a:ln cap="flat" cmpd="sng" w="14300">
              <a:solidFill>
                <a:srgbClr val="2222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17"/>
            <p:cNvSpPr/>
            <p:nvPr/>
          </p:nvSpPr>
          <p:spPr>
            <a:xfrm>
              <a:off x="1057275" y="-76200"/>
              <a:ext cx="76200" cy="762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17"/>
            <p:cNvSpPr txBox="1"/>
            <p:nvPr/>
          </p:nvSpPr>
          <p:spPr>
            <a:xfrm>
              <a:off x="190500" y="190500"/>
              <a:ext cx="1809600" cy="138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2720">
                  <a:solidFill>
                    <a:srgbClr val="EF4444"/>
                  </a:solidFill>
                  <a:latin typeface="Montserrat Black"/>
                  <a:ea typeface="Montserrat Black"/>
                  <a:cs typeface="Montserrat Black"/>
                  <a:sym typeface="Montserrat Black"/>
                </a:rPr>
                <a:t>50.3%</a:t>
              </a:r>
              <a:endParaRPr b="0" sz="2720">
                <a:solidFill>
                  <a:srgbClr val="EF4444"/>
                </a:solidFill>
                <a:latin typeface="Montserrat Black"/>
                <a:ea typeface="Montserrat Black"/>
                <a:cs typeface="Montserrat Black"/>
                <a:sym typeface="Montserrat Black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-GB" sz="935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EMPLOYABILITY LIMIT</a:t>
              </a:r>
              <a:endParaRPr b="1" sz="93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GB" sz="765">
                  <a:solidFill>
                    <a:srgbClr val="9CA3AF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Over half of India's graduates remain unemployable in core functional industry roles due to outdated academic curriculums.</a:t>
              </a:r>
              <a:endParaRPr b="0" sz="765">
                <a:solidFill>
                  <a:srgbClr val="9CA3AF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GB" sz="638">
                  <a:solidFill>
                    <a:srgbClr val="EF4444"/>
                  </a:solidFill>
                  <a:latin typeface="Space Mono"/>
                  <a:ea typeface="Space Mono"/>
                  <a:cs typeface="Space Mono"/>
                  <a:sym typeface="Space Mono"/>
                </a:rPr>
                <a:t>[India Skills Report, 2023]</a:t>
              </a:r>
              <a:endParaRPr b="0" sz="638">
                <a:solidFill>
                  <a:srgbClr val="EF4444"/>
                </a:solidFill>
                <a:latin typeface="Space Mono"/>
                <a:ea typeface="Space Mono"/>
                <a:cs typeface="Space Mono"/>
                <a:sym typeface="Space Mono"/>
              </a:endParaRPr>
            </a:p>
          </p:txBody>
        </p:sp>
      </p:grpSp>
      <p:grpSp>
        <p:nvGrpSpPr>
          <p:cNvPr id="163" name="Google Shape;163;p17"/>
          <p:cNvGrpSpPr/>
          <p:nvPr/>
        </p:nvGrpSpPr>
        <p:grpSpPr>
          <a:xfrm>
            <a:off x="3476625" y="1304925"/>
            <a:ext cx="2190900" cy="1838400"/>
            <a:chOff x="0" y="-76200"/>
            <a:chExt cx="2190900" cy="1838400"/>
          </a:xfrm>
        </p:grpSpPr>
        <p:sp>
          <p:nvSpPr>
            <p:cNvPr id="164" name="Google Shape;164;p17"/>
            <p:cNvSpPr/>
            <p:nvPr/>
          </p:nvSpPr>
          <p:spPr>
            <a:xfrm>
              <a:off x="0" y="0"/>
              <a:ext cx="2190900" cy="1762200"/>
            </a:xfrm>
            <a:prstGeom prst="roundRect">
              <a:avLst>
                <a:gd fmla="val 4324" name="adj"/>
              </a:avLst>
            </a:prstGeom>
            <a:solidFill>
              <a:srgbClr val="121214"/>
            </a:solidFill>
            <a:ln cap="flat" cmpd="sng" w="14300">
              <a:solidFill>
                <a:srgbClr val="2222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17"/>
            <p:cNvSpPr/>
            <p:nvPr/>
          </p:nvSpPr>
          <p:spPr>
            <a:xfrm>
              <a:off x="1057275" y="-76200"/>
              <a:ext cx="76200" cy="762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17"/>
            <p:cNvSpPr txBox="1"/>
            <p:nvPr/>
          </p:nvSpPr>
          <p:spPr>
            <a:xfrm>
              <a:off x="190500" y="190500"/>
              <a:ext cx="1809600" cy="138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2720">
                  <a:solidFill>
                    <a:srgbClr val="EF4444"/>
                  </a:solidFill>
                  <a:latin typeface="Montserrat Black"/>
                  <a:ea typeface="Montserrat Black"/>
                  <a:cs typeface="Montserrat Black"/>
                  <a:sym typeface="Montserrat Black"/>
                </a:rPr>
                <a:t>80%</a:t>
              </a:r>
              <a:endParaRPr b="0" sz="2720">
                <a:solidFill>
                  <a:srgbClr val="EF4444"/>
                </a:solidFill>
                <a:latin typeface="Montserrat Black"/>
                <a:ea typeface="Montserrat Black"/>
                <a:cs typeface="Montserrat Black"/>
                <a:sym typeface="Montserrat Black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-GB" sz="935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PRACTICAL SKILL GAP</a:t>
              </a:r>
              <a:endParaRPr b="1" sz="93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GB" sz="765">
                  <a:solidFill>
                    <a:srgbClr val="9CA3AF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Engineers lack the critical hands-on application and troubleshooting competencies required for modern technology ecosystems.</a:t>
              </a:r>
              <a:endParaRPr b="0" sz="765">
                <a:solidFill>
                  <a:srgbClr val="9CA3AF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GB" sz="638">
                  <a:solidFill>
                    <a:srgbClr val="EF4444"/>
                  </a:solidFill>
                  <a:latin typeface="Space Mono"/>
                  <a:ea typeface="Space Mono"/>
                  <a:cs typeface="Space Mono"/>
                  <a:sym typeface="Space Mono"/>
                </a:rPr>
                <a:t>[Aspiring Minds National Employability]</a:t>
              </a:r>
              <a:endParaRPr b="0" sz="638">
                <a:solidFill>
                  <a:srgbClr val="EF4444"/>
                </a:solidFill>
                <a:latin typeface="Space Mono"/>
                <a:ea typeface="Space Mono"/>
                <a:cs typeface="Space Mono"/>
                <a:sym typeface="Space Mono"/>
              </a:endParaRPr>
            </a:p>
          </p:txBody>
        </p:sp>
      </p:grpSp>
      <p:grpSp>
        <p:nvGrpSpPr>
          <p:cNvPr id="167" name="Google Shape;167;p17"/>
          <p:cNvGrpSpPr/>
          <p:nvPr/>
        </p:nvGrpSpPr>
        <p:grpSpPr>
          <a:xfrm>
            <a:off x="6000750" y="1304925"/>
            <a:ext cx="2190900" cy="1838400"/>
            <a:chOff x="0" y="-76200"/>
            <a:chExt cx="2190900" cy="1838400"/>
          </a:xfrm>
        </p:grpSpPr>
        <p:sp>
          <p:nvSpPr>
            <p:cNvPr id="168" name="Google Shape;168;p17"/>
            <p:cNvSpPr/>
            <p:nvPr/>
          </p:nvSpPr>
          <p:spPr>
            <a:xfrm>
              <a:off x="0" y="0"/>
              <a:ext cx="2190900" cy="1762200"/>
            </a:xfrm>
            <a:prstGeom prst="roundRect">
              <a:avLst>
                <a:gd fmla="val 4324" name="adj"/>
              </a:avLst>
            </a:prstGeom>
            <a:solidFill>
              <a:srgbClr val="121214"/>
            </a:solidFill>
            <a:ln cap="flat" cmpd="sng" w="14300">
              <a:solidFill>
                <a:srgbClr val="2222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17"/>
            <p:cNvSpPr/>
            <p:nvPr/>
          </p:nvSpPr>
          <p:spPr>
            <a:xfrm>
              <a:off x="1057275" y="-76200"/>
              <a:ext cx="76200" cy="762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17"/>
            <p:cNvSpPr txBox="1"/>
            <p:nvPr/>
          </p:nvSpPr>
          <p:spPr>
            <a:xfrm>
              <a:off x="190500" y="190500"/>
              <a:ext cx="1809600" cy="138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2720">
                  <a:solidFill>
                    <a:srgbClr val="EF4444"/>
                  </a:solidFill>
                  <a:latin typeface="Montserrat Black"/>
                  <a:ea typeface="Montserrat Black"/>
                  <a:cs typeface="Montserrat Black"/>
                  <a:sym typeface="Montserrat Black"/>
                </a:rPr>
                <a:t>1.5M</a:t>
              </a:r>
              <a:endParaRPr b="0" sz="2720">
                <a:solidFill>
                  <a:srgbClr val="EF4444"/>
                </a:solidFill>
                <a:latin typeface="Montserrat Black"/>
                <a:ea typeface="Montserrat Black"/>
                <a:cs typeface="Montserrat Black"/>
                <a:sym typeface="Montserrat Black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-GB" sz="935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GRADUATES AT RISK</a:t>
              </a:r>
              <a:endParaRPr b="1" sz="93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GB" sz="765">
                  <a:solidFill>
                    <a:srgbClr val="9CA3AF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Engineers graduate annually into a highly competitive market, yet only a fraction possess job-ready technical capabilities.</a:t>
              </a:r>
              <a:endParaRPr b="0" sz="765">
                <a:solidFill>
                  <a:srgbClr val="9CA3AF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GB" sz="638">
                  <a:solidFill>
                    <a:srgbClr val="EF4444"/>
                  </a:solidFill>
                  <a:latin typeface="Space Mono"/>
                  <a:ea typeface="Space Mono"/>
                  <a:cs typeface="Space Mono"/>
                  <a:sym typeface="Space Mono"/>
                </a:rPr>
                <a:t>[NASSCOM &amp; WEF Reports]</a:t>
              </a:r>
              <a:endParaRPr b="0" sz="638">
                <a:solidFill>
                  <a:srgbClr val="EF4444"/>
                </a:solidFill>
                <a:latin typeface="Space Mono"/>
                <a:ea typeface="Space Mono"/>
                <a:cs typeface="Space Mono"/>
                <a:sym typeface="Space Mono"/>
              </a:endParaRPr>
            </a:p>
          </p:txBody>
        </p:sp>
      </p:grpSp>
      <p:grpSp>
        <p:nvGrpSpPr>
          <p:cNvPr id="171" name="Google Shape;171;p17"/>
          <p:cNvGrpSpPr/>
          <p:nvPr/>
        </p:nvGrpSpPr>
        <p:grpSpPr>
          <a:xfrm>
            <a:off x="952500" y="3381375"/>
            <a:ext cx="7239000" cy="619200"/>
            <a:chOff x="0" y="0"/>
            <a:chExt cx="7239000" cy="619200"/>
          </a:xfrm>
        </p:grpSpPr>
        <p:sp>
          <p:nvSpPr>
            <p:cNvPr id="172" name="Google Shape;172;p17"/>
            <p:cNvSpPr/>
            <p:nvPr/>
          </p:nvSpPr>
          <p:spPr>
            <a:xfrm>
              <a:off x="0" y="0"/>
              <a:ext cx="7239000" cy="619200"/>
            </a:xfrm>
            <a:prstGeom prst="roundRect">
              <a:avLst>
                <a:gd fmla="val 9230" name="adj"/>
              </a:avLst>
            </a:prstGeom>
            <a:solidFill>
              <a:srgbClr val="1A0B0C"/>
            </a:solidFill>
            <a:ln cap="flat" cmpd="sng" w="9525">
              <a:solidFill>
                <a:srgbClr val="EF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17"/>
            <p:cNvSpPr txBox="1"/>
            <p:nvPr/>
          </p:nvSpPr>
          <p:spPr>
            <a:xfrm>
              <a:off x="190500" y="95250"/>
              <a:ext cx="68580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20">
                  <a:solidFill>
                    <a:srgbClr val="EF4444"/>
                  </a:solidFill>
                  <a:latin typeface="Inter"/>
                  <a:ea typeface="Inter"/>
                  <a:cs typeface="Inter"/>
                  <a:sym typeface="Inter"/>
                </a:rPr>
                <a:t>A DEGREE ALONE DOES NOT GUARANTEE INDUSTRY READINESS.</a:t>
              </a:r>
              <a:endParaRPr b="1" sz="1020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-GB" sz="893">
                  <a:solidFill>
                    <a:srgbClr val="E5E7EB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Bridging academic execution with verified, real-world skill demands is no longer optional—it is a critical survival imperative.</a:t>
              </a:r>
              <a:endParaRPr b="0" sz="893">
                <a:solidFill>
                  <a:srgbClr val="E5E7EB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</p:txBody>
        </p:sp>
      </p:grpSp>
      <p:cxnSp>
        <p:nvCxnSpPr>
          <p:cNvPr id="174" name="Google Shape;174;p17"/>
          <p:cNvCxnSpPr/>
          <p:nvPr/>
        </p:nvCxnSpPr>
        <p:spPr>
          <a:xfrm>
            <a:off x="952500" y="4238625"/>
            <a:ext cx="72390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22222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5" name="Google Shape;175;p17"/>
          <p:cNvSpPr txBox="1"/>
          <p:nvPr/>
        </p:nvSpPr>
        <p:spPr>
          <a:xfrm>
            <a:off x="952500" y="4381500"/>
            <a:ext cx="36195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765">
                <a:solidFill>
                  <a:srgbClr val="9CA3AF"/>
                </a:solidFill>
                <a:latin typeface="Space Mono"/>
                <a:ea typeface="Space Mono"/>
                <a:cs typeface="Space Mono"/>
                <a:sym typeface="Space Mono"/>
              </a:rPr>
              <a:t>TEAM: COFFETOTODE</a:t>
            </a:r>
            <a:endParaRPr b="0" sz="765">
              <a:solidFill>
                <a:srgbClr val="9CA3AF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176" name="Google Shape;176;p17"/>
          <p:cNvSpPr txBox="1"/>
          <p:nvPr/>
        </p:nvSpPr>
        <p:spPr>
          <a:xfrm>
            <a:off x="4572000" y="4381500"/>
            <a:ext cx="36195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765">
                <a:solidFill>
                  <a:srgbClr val="9CA3AF"/>
                </a:solidFill>
                <a:latin typeface="Space Mono"/>
                <a:ea typeface="Space Mono"/>
                <a:cs typeface="Space Mono"/>
                <a:sym typeface="Space Mono"/>
              </a:rPr>
              <a:t>PROBLEM: SIH26044</a:t>
            </a:r>
            <a:endParaRPr b="0" sz="765">
              <a:solidFill>
                <a:srgbClr val="9CA3AF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F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1" name="Google Shape;181;p18"/>
          <p:cNvGrpSpPr/>
          <p:nvPr/>
        </p:nvGrpSpPr>
        <p:grpSpPr>
          <a:xfrm>
            <a:off x="3333750" y="381000"/>
            <a:ext cx="2476500" cy="228600"/>
            <a:chOff x="0" y="0"/>
            <a:chExt cx="2476500" cy="228600"/>
          </a:xfrm>
        </p:grpSpPr>
        <p:sp>
          <p:nvSpPr>
            <p:cNvPr id="182" name="Google Shape;182;p18"/>
            <p:cNvSpPr/>
            <p:nvPr/>
          </p:nvSpPr>
          <p:spPr>
            <a:xfrm>
              <a:off x="0" y="0"/>
              <a:ext cx="2476500" cy="228600"/>
            </a:xfrm>
            <a:prstGeom prst="roundRect">
              <a:avLst>
                <a:gd fmla="val 50000" name="adj"/>
              </a:avLst>
            </a:prstGeom>
            <a:solidFill>
              <a:srgbClr val="000000">
                <a:alpha val="0"/>
              </a:srgbClr>
            </a:solidFill>
            <a:ln cap="flat" cmpd="sng" w="14300">
              <a:solidFill>
                <a:srgbClr val="EF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18"/>
            <p:cNvSpPr txBox="1"/>
            <p:nvPr/>
          </p:nvSpPr>
          <p:spPr>
            <a:xfrm>
              <a:off x="0" y="0"/>
              <a:ext cx="2476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765">
                  <a:solidFill>
                    <a:srgbClr val="EF4444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SIH 2026 | THE MARKET SCALE</a:t>
              </a:r>
              <a:endParaRPr b="0" sz="765">
                <a:solidFill>
                  <a:srgbClr val="EF4444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sp>
        <p:nvSpPr>
          <p:cNvPr id="184" name="Google Shape;184;p18"/>
          <p:cNvSpPr txBox="1"/>
          <p:nvPr/>
        </p:nvSpPr>
        <p:spPr>
          <a:xfrm>
            <a:off x="952500" y="714375"/>
            <a:ext cx="7239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40"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A MASSIVE ECOSYSTEM NEEDS A BETTER BRIDGE.</a:t>
            </a:r>
            <a:endParaRPr b="0" sz="2040">
              <a:solidFill>
                <a:srgbClr val="FFFFFF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grpSp>
        <p:nvGrpSpPr>
          <p:cNvPr id="185" name="Google Shape;185;p18"/>
          <p:cNvGrpSpPr/>
          <p:nvPr/>
        </p:nvGrpSpPr>
        <p:grpSpPr>
          <a:xfrm>
            <a:off x="952500" y="1266825"/>
            <a:ext cx="2190900" cy="1876500"/>
            <a:chOff x="0" y="-114300"/>
            <a:chExt cx="2190900" cy="1876500"/>
          </a:xfrm>
        </p:grpSpPr>
        <p:sp>
          <p:nvSpPr>
            <p:cNvPr id="186" name="Google Shape;186;p18"/>
            <p:cNvSpPr/>
            <p:nvPr/>
          </p:nvSpPr>
          <p:spPr>
            <a:xfrm>
              <a:off x="0" y="0"/>
              <a:ext cx="2190900" cy="1762200"/>
            </a:xfrm>
            <a:prstGeom prst="roundRect">
              <a:avLst>
                <a:gd fmla="val 4324" name="adj"/>
              </a:avLst>
            </a:prstGeom>
            <a:solidFill>
              <a:srgbClr val="121214"/>
            </a:solidFill>
            <a:ln cap="flat" cmpd="sng" w="14300">
              <a:solidFill>
                <a:srgbClr val="2222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18"/>
            <p:cNvSpPr/>
            <p:nvPr/>
          </p:nvSpPr>
          <p:spPr>
            <a:xfrm>
              <a:off x="1057275" y="-114300"/>
              <a:ext cx="76200" cy="762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18"/>
            <p:cNvSpPr txBox="1"/>
            <p:nvPr/>
          </p:nvSpPr>
          <p:spPr>
            <a:xfrm>
              <a:off x="190500" y="190500"/>
              <a:ext cx="1809600" cy="138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3200">
                  <a:solidFill>
                    <a:srgbClr val="EF4444"/>
                  </a:solidFill>
                  <a:latin typeface="Montserrat Black"/>
                  <a:ea typeface="Montserrat Black"/>
                  <a:cs typeface="Montserrat Black"/>
                  <a:sym typeface="Montserrat Black"/>
                </a:rPr>
                <a:t>40.9M</a:t>
              </a:r>
              <a:endParaRPr b="0" sz="3200">
                <a:solidFill>
                  <a:srgbClr val="EF4444"/>
                </a:solidFill>
                <a:latin typeface="Montserrat Black"/>
                <a:ea typeface="Montserrat Black"/>
                <a:cs typeface="Montserrat Black"/>
                <a:sym typeface="Montserrat Black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TOTAL ENROLLMENT</a:t>
              </a:r>
              <a:endParaRPr b="1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GB" sz="780">
                  <a:solidFill>
                    <a:srgbClr val="9CA3AF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India's massive higher education student ecosystem spans over 40 million active enrollments facing rapid skill evolution.</a:t>
              </a:r>
              <a:endParaRPr b="0" sz="780">
                <a:solidFill>
                  <a:srgbClr val="9CA3AF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GB" sz="600">
                  <a:solidFill>
                    <a:srgbClr val="EF4444"/>
                  </a:solidFill>
                  <a:latin typeface="Space Mono"/>
                  <a:ea typeface="Space Mono"/>
                  <a:cs typeface="Space Mono"/>
                  <a:sym typeface="Space Mono"/>
                </a:rPr>
                <a:t>[AISHE, Ministry of Education 2021-22]</a:t>
              </a:r>
              <a:endParaRPr b="0" sz="600">
                <a:solidFill>
                  <a:srgbClr val="EF4444"/>
                </a:solidFill>
                <a:latin typeface="Space Mono"/>
                <a:ea typeface="Space Mono"/>
                <a:cs typeface="Space Mono"/>
                <a:sym typeface="Space Mono"/>
              </a:endParaRPr>
            </a:p>
          </p:txBody>
        </p:sp>
      </p:grpSp>
      <p:grpSp>
        <p:nvGrpSpPr>
          <p:cNvPr id="189" name="Google Shape;189;p18"/>
          <p:cNvGrpSpPr/>
          <p:nvPr/>
        </p:nvGrpSpPr>
        <p:grpSpPr>
          <a:xfrm>
            <a:off x="3476625" y="1266825"/>
            <a:ext cx="2190900" cy="1876500"/>
            <a:chOff x="0" y="-114300"/>
            <a:chExt cx="2190900" cy="1876500"/>
          </a:xfrm>
        </p:grpSpPr>
        <p:sp>
          <p:nvSpPr>
            <p:cNvPr id="190" name="Google Shape;190;p18"/>
            <p:cNvSpPr/>
            <p:nvPr/>
          </p:nvSpPr>
          <p:spPr>
            <a:xfrm>
              <a:off x="0" y="0"/>
              <a:ext cx="2190900" cy="1762200"/>
            </a:xfrm>
            <a:prstGeom prst="roundRect">
              <a:avLst>
                <a:gd fmla="val 4324" name="adj"/>
              </a:avLst>
            </a:prstGeom>
            <a:solidFill>
              <a:srgbClr val="121214"/>
            </a:solidFill>
            <a:ln cap="flat" cmpd="sng" w="14300">
              <a:solidFill>
                <a:srgbClr val="2222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18"/>
            <p:cNvSpPr/>
            <p:nvPr/>
          </p:nvSpPr>
          <p:spPr>
            <a:xfrm>
              <a:off x="1057275" y="-114300"/>
              <a:ext cx="76200" cy="762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18"/>
            <p:cNvSpPr txBox="1"/>
            <p:nvPr/>
          </p:nvSpPr>
          <p:spPr>
            <a:xfrm>
              <a:off x="190500" y="190500"/>
              <a:ext cx="1809600" cy="138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3200">
                  <a:solidFill>
                    <a:srgbClr val="EF4444"/>
                  </a:solidFill>
                  <a:latin typeface="Montserrat Black"/>
                  <a:ea typeface="Montserrat Black"/>
                  <a:cs typeface="Montserrat Black"/>
                  <a:sym typeface="Montserrat Black"/>
                </a:rPr>
                <a:t>1.1M</a:t>
              </a:r>
              <a:endParaRPr b="0" sz="3200">
                <a:solidFill>
                  <a:srgbClr val="EF4444"/>
                </a:solidFill>
                <a:latin typeface="Montserrat Black"/>
                <a:ea typeface="Montserrat Black"/>
                <a:cs typeface="Montserrat Black"/>
                <a:sym typeface="Montserrat Black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ANNUAL GRADUATES</a:t>
              </a:r>
              <a:endParaRPr b="1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GB" sz="780">
                  <a:solidFill>
                    <a:srgbClr val="9CA3AF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Over a million technical and professional graduates enter the active job market each year seeking career placement.</a:t>
              </a:r>
              <a:endParaRPr b="0" sz="780">
                <a:solidFill>
                  <a:srgbClr val="9CA3AF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GB" sz="600">
                  <a:solidFill>
                    <a:srgbClr val="EF4444"/>
                  </a:solidFill>
                  <a:latin typeface="Space Mono"/>
                  <a:ea typeface="Space Mono"/>
                  <a:cs typeface="Space Mono"/>
                  <a:sym typeface="Space Mono"/>
                </a:rPr>
                <a:t>[NASSCOM &amp; AICTE Reports 2023]</a:t>
              </a:r>
              <a:endParaRPr b="0" sz="600">
                <a:solidFill>
                  <a:srgbClr val="EF4444"/>
                </a:solidFill>
                <a:latin typeface="Space Mono"/>
                <a:ea typeface="Space Mono"/>
                <a:cs typeface="Space Mono"/>
                <a:sym typeface="Space Mono"/>
              </a:endParaRPr>
            </a:p>
          </p:txBody>
        </p:sp>
      </p:grpSp>
      <p:grpSp>
        <p:nvGrpSpPr>
          <p:cNvPr id="193" name="Google Shape;193;p18"/>
          <p:cNvGrpSpPr/>
          <p:nvPr/>
        </p:nvGrpSpPr>
        <p:grpSpPr>
          <a:xfrm>
            <a:off x="6000750" y="1266825"/>
            <a:ext cx="2190900" cy="1876500"/>
            <a:chOff x="0" y="-114300"/>
            <a:chExt cx="2190900" cy="1876500"/>
          </a:xfrm>
        </p:grpSpPr>
        <p:sp>
          <p:nvSpPr>
            <p:cNvPr id="194" name="Google Shape;194;p18"/>
            <p:cNvSpPr/>
            <p:nvPr/>
          </p:nvSpPr>
          <p:spPr>
            <a:xfrm>
              <a:off x="0" y="0"/>
              <a:ext cx="2190900" cy="1762200"/>
            </a:xfrm>
            <a:prstGeom prst="roundRect">
              <a:avLst>
                <a:gd fmla="val 4324" name="adj"/>
              </a:avLst>
            </a:prstGeom>
            <a:solidFill>
              <a:srgbClr val="121214"/>
            </a:solidFill>
            <a:ln cap="flat" cmpd="sng" w="14300">
              <a:solidFill>
                <a:srgbClr val="2222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18"/>
            <p:cNvSpPr/>
            <p:nvPr/>
          </p:nvSpPr>
          <p:spPr>
            <a:xfrm>
              <a:off x="1057275" y="-114300"/>
              <a:ext cx="76200" cy="762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18"/>
            <p:cNvSpPr txBox="1"/>
            <p:nvPr/>
          </p:nvSpPr>
          <p:spPr>
            <a:xfrm>
              <a:off x="190500" y="190500"/>
              <a:ext cx="1809600" cy="138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3200">
                  <a:solidFill>
                    <a:srgbClr val="EF4444"/>
                  </a:solidFill>
                  <a:latin typeface="Montserrat Black"/>
                  <a:ea typeface="Montserrat Black"/>
                  <a:cs typeface="Montserrat Black"/>
                  <a:sym typeface="Montserrat Black"/>
                </a:rPr>
                <a:t>51.2%</a:t>
              </a:r>
              <a:endParaRPr b="0" sz="3200">
                <a:solidFill>
                  <a:srgbClr val="EF4444"/>
                </a:solidFill>
                <a:latin typeface="Montserrat Black"/>
                <a:ea typeface="Montserrat Black"/>
                <a:cs typeface="Montserrat Black"/>
                <a:sym typeface="Montserrat Black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EMPLOYABILITY INDEX</a:t>
              </a:r>
              <a:endParaRPr b="1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GB" sz="780">
                  <a:solidFill>
                    <a:srgbClr val="9CA3AF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While overall employable talent slowly improves, nearly half of all graduates still lack critical industry-ready skills.</a:t>
              </a:r>
              <a:endParaRPr b="0" sz="780">
                <a:solidFill>
                  <a:srgbClr val="9CA3AF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GB" sz="600">
                  <a:solidFill>
                    <a:srgbClr val="EF4444"/>
                  </a:solidFill>
                  <a:latin typeface="Space Mono"/>
                  <a:ea typeface="Space Mono"/>
                  <a:cs typeface="Space Mono"/>
                  <a:sym typeface="Space Mono"/>
                </a:rPr>
                <a:t>[India Skills Report, 2024]</a:t>
              </a:r>
              <a:endParaRPr b="0" sz="600">
                <a:solidFill>
                  <a:srgbClr val="EF4444"/>
                </a:solidFill>
                <a:latin typeface="Space Mono"/>
                <a:ea typeface="Space Mono"/>
                <a:cs typeface="Space Mono"/>
                <a:sym typeface="Space Mono"/>
              </a:endParaRPr>
            </a:p>
          </p:txBody>
        </p:sp>
      </p:grpSp>
      <p:grpSp>
        <p:nvGrpSpPr>
          <p:cNvPr id="197" name="Google Shape;197;p18"/>
          <p:cNvGrpSpPr/>
          <p:nvPr/>
        </p:nvGrpSpPr>
        <p:grpSpPr>
          <a:xfrm>
            <a:off x="952500" y="3381375"/>
            <a:ext cx="7239000" cy="619200"/>
            <a:chOff x="0" y="0"/>
            <a:chExt cx="7239000" cy="619200"/>
          </a:xfrm>
        </p:grpSpPr>
        <p:sp>
          <p:nvSpPr>
            <p:cNvPr id="198" name="Google Shape;198;p18"/>
            <p:cNvSpPr/>
            <p:nvPr/>
          </p:nvSpPr>
          <p:spPr>
            <a:xfrm>
              <a:off x="0" y="0"/>
              <a:ext cx="7239000" cy="619200"/>
            </a:xfrm>
            <a:prstGeom prst="roundRect">
              <a:avLst>
                <a:gd fmla="val 9230" name="adj"/>
              </a:avLst>
            </a:prstGeom>
            <a:solidFill>
              <a:srgbClr val="1A0B0C"/>
            </a:solidFill>
            <a:ln cap="flat" cmpd="sng" w="9525">
              <a:solidFill>
                <a:srgbClr val="EF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18"/>
            <p:cNvSpPr txBox="1"/>
            <p:nvPr/>
          </p:nvSpPr>
          <p:spPr>
            <a:xfrm>
              <a:off x="190500" y="95250"/>
              <a:ext cx="68580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20">
                  <a:solidFill>
                    <a:srgbClr val="EF4444"/>
                  </a:solidFill>
                  <a:latin typeface="Inter"/>
                  <a:ea typeface="Inter"/>
                  <a:cs typeface="Inter"/>
                  <a:sym typeface="Inter"/>
                </a:rPr>
                <a:t>MILLIONS OF STUDENTS. THOUSANDS OF INSTITUTIONS.</a:t>
              </a:r>
              <a:endParaRPr b="1" sz="1020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-GB" sz="893">
                  <a:solidFill>
                    <a:srgbClr val="E5E7EB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Bridging the gap between scale and readiness is India's next trillion-dollar workforce opportunity.</a:t>
              </a:r>
              <a:endParaRPr b="0" sz="893">
                <a:solidFill>
                  <a:srgbClr val="E5E7EB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</p:txBody>
        </p:sp>
      </p:grpSp>
      <p:cxnSp>
        <p:nvCxnSpPr>
          <p:cNvPr id="200" name="Google Shape;200;p18"/>
          <p:cNvCxnSpPr/>
          <p:nvPr/>
        </p:nvCxnSpPr>
        <p:spPr>
          <a:xfrm>
            <a:off x="952500" y="4238625"/>
            <a:ext cx="72390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22222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1" name="Google Shape;201;p18"/>
          <p:cNvSpPr txBox="1"/>
          <p:nvPr/>
        </p:nvSpPr>
        <p:spPr>
          <a:xfrm>
            <a:off x="952500" y="4381500"/>
            <a:ext cx="36195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765">
                <a:solidFill>
                  <a:srgbClr val="9CA3AF"/>
                </a:solidFill>
                <a:latin typeface="Space Mono"/>
                <a:ea typeface="Space Mono"/>
                <a:cs typeface="Space Mono"/>
                <a:sym typeface="Space Mono"/>
              </a:rPr>
              <a:t>TEAM: COFFETOTODE</a:t>
            </a:r>
            <a:endParaRPr b="0" sz="765">
              <a:solidFill>
                <a:srgbClr val="9CA3AF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202" name="Google Shape;202;p18"/>
          <p:cNvSpPr txBox="1"/>
          <p:nvPr/>
        </p:nvSpPr>
        <p:spPr>
          <a:xfrm>
            <a:off x="4572000" y="4381500"/>
            <a:ext cx="36195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765">
                <a:solidFill>
                  <a:srgbClr val="9CA3AF"/>
                </a:solidFill>
                <a:latin typeface="Space Mono"/>
                <a:ea typeface="Space Mono"/>
                <a:cs typeface="Space Mono"/>
                <a:sym typeface="Space Mono"/>
              </a:rPr>
              <a:t>PROBLEM: SIH26044</a:t>
            </a:r>
            <a:endParaRPr b="0" sz="765">
              <a:solidFill>
                <a:srgbClr val="9CA3AF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8" name="Google Shape;208;p19"/>
          <p:cNvGrpSpPr/>
          <p:nvPr/>
        </p:nvGrpSpPr>
        <p:grpSpPr>
          <a:xfrm>
            <a:off x="3524250" y="381000"/>
            <a:ext cx="2095500" cy="228600"/>
            <a:chOff x="0" y="0"/>
            <a:chExt cx="2095500" cy="228600"/>
          </a:xfrm>
        </p:grpSpPr>
        <p:sp>
          <p:nvSpPr>
            <p:cNvPr id="209" name="Google Shape;209;p19"/>
            <p:cNvSpPr/>
            <p:nvPr/>
          </p:nvSpPr>
          <p:spPr>
            <a:xfrm>
              <a:off x="0" y="0"/>
              <a:ext cx="2095500" cy="228600"/>
            </a:xfrm>
            <a:prstGeom prst="roundRect">
              <a:avLst>
                <a:gd fmla="val 50000" name="adj"/>
              </a:avLst>
            </a:prstGeom>
            <a:solidFill>
              <a:srgbClr val="000000">
                <a:alpha val="0"/>
              </a:srgbClr>
            </a:solidFill>
            <a:ln cap="flat" cmpd="sng" w="14300">
              <a:solidFill>
                <a:srgbClr val="EF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19"/>
            <p:cNvSpPr txBox="1"/>
            <p:nvPr/>
          </p:nvSpPr>
          <p:spPr>
            <a:xfrm>
              <a:off x="0" y="0"/>
              <a:ext cx="2095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765">
                  <a:solidFill>
                    <a:srgbClr val="EF4444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SIH 2026 | WHY NOW?</a:t>
              </a:r>
              <a:endParaRPr b="0" sz="765">
                <a:solidFill>
                  <a:srgbClr val="EF4444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sp>
        <p:nvSpPr>
          <p:cNvPr id="211" name="Google Shape;211;p19"/>
          <p:cNvSpPr txBox="1"/>
          <p:nvPr/>
        </p:nvSpPr>
        <p:spPr>
          <a:xfrm>
            <a:off x="952500" y="714375"/>
            <a:ext cx="7239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220"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THE GAP IS GROWING. SO MUST THE BRIDGE.</a:t>
            </a:r>
            <a:endParaRPr b="0" sz="2220">
              <a:solidFill>
                <a:srgbClr val="FFFFFF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grpSp>
        <p:nvGrpSpPr>
          <p:cNvPr id="212" name="Google Shape;212;p19"/>
          <p:cNvGrpSpPr/>
          <p:nvPr/>
        </p:nvGrpSpPr>
        <p:grpSpPr>
          <a:xfrm>
            <a:off x="952500" y="1266825"/>
            <a:ext cx="2190900" cy="1876500"/>
            <a:chOff x="0" y="-114300"/>
            <a:chExt cx="2190900" cy="1876500"/>
          </a:xfrm>
        </p:grpSpPr>
        <p:sp>
          <p:nvSpPr>
            <p:cNvPr id="213" name="Google Shape;213;p19"/>
            <p:cNvSpPr/>
            <p:nvPr/>
          </p:nvSpPr>
          <p:spPr>
            <a:xfrm>
              <a:off x="0" y="0"/>
              <a:ext cx="2190900" cy="1762200"/>
            </a:xfrm>
            <a:prstGeom prst="roundRect">
              <a:avLst>
                <a:gd fmla="val 4324" name="adj"/>
              </a:avLst>
            </a:prstGeom>
            <a:solidFill>
              <a:srgbClr val="121214"/>
            </a:solidFill>
            <a:ln cap="flat" cmpd="sng" w="14300">
              <a:solidFill>
                <a:srgbClr val="2222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19"/>
            <p:cNvSpPr/>
            <p:nvPr/>
          </p:nvSpPr>
          <p:spPr>
            <a:xfrm>
              <a:off x="1057275" y="-114300"/>
              <a:ext cx="76200" cy="762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19"/>
            <p:cNvSpPr txBox="1"/>
            <p:nvPr/>
          </p:nvSpPr>
          <p:spPr>
            <a:xfrm>
              <a:off x="190500" y="190500"/>
              <a:ext cx="1809600" cy="138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2600">
                  <a:solidFill>
                    <a:srgbClr val="EF4444"/>
                  </a:solidFill>
                  <a:latin typeface="Montserrat Black"/>
                  <a:ea typeface="Montserrat Black"/>
                  <a:cs typeface="Montserrat Black"/>
                  <a:sym typeface="Montserrat Black"/>
                </a:rPr>
                <a:t>2.5x</a:t>
              </a:r>
              <a:endParaRPr b="0" sz="2600">
                <a:solidFill>
                  <a:srgbClr val="EF4444"/>
                </a:solidFill>
                <a:latin typeface="Montserrat Black"/>
                <a:ea typeface="Montserrat Black"/>
                <a:cs typeface="Montserrat Black"/>
                <a:sym typeface="Montserrat Black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-GB" sz="935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SKILLS CHANGING FASTER</a:t>
              </a:r>
              <a:endParaRPr b="1" sz="93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GB" sz="765">
                  <a:solidFill>
                    <a:srgbClr val="9CA3AF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AI and emerging tech have accelerated job skill disruption. Over 44% of core business skills will change by 2027.</a:t>
              </a:r>
              <a:endParaRPr b="0" sz="765">
                <a:solidFill>
                  <a:srgbClr val="9CA3AF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GB" sz="638">
                  <a:solidFill>
                    <a:srgbClr val="EF4444"/>
                  </a:solidFill>
                  <a:latin typeface="Space Mono"/>
                  <a:ea typeface="Space Mono"/>
                  <a:cs typeface="Space Mono"/>
                  <a:sym typeface="Space Mono"/>
                </a:rPr>
                <a:t>[World Economic Forum, 2023]</a:t>
              </a:r>
              <a:endParaRPr b="0" sz="638">
                <a:solidFill>
                  <a:srgbClr val="EF4444"/>
                </a:solidFill>
                <a:latin typeface="Space Mono"/>
                <a:ea typeface="Space Mono"/>
                <a:cs typeface="Space Mono"/>
                <a:sym typeface="Space Mono"/>
              </a:endParaRPr>
            </a:p>
          </p:txBody>
        </p:sp>
      </p:grpSp>
      <p:grpSp>
        <p:nvGrpSpPr>
          <p:cNvPr id="216" name="Google Shape;216;p19"/>
          <p:cNvGrpSpPr/>
          <p:nvPr/>
        </p:nvGrpSpPr>
        <p:grpSpPr>
          <a:xfrm>
            <a:off x="3476625" y="1266825"/>
            <a:ext cx="2190900" cy="1876500"/>
            <a:chOff x="0" y="-114300"/>
            <a:chExt cx="2190900" cy="1876500"/>
          </a:xfrm>
        </p:grpSpPr>
        <p:sp>
          <p:nvSpPr>
            <p:cNvPr id="217" name="Google Shape;217;p19"/>
            <p:cNvSpPr/>
            <p:nvPr/>
          </p:nvSpPr>
          <p:spPr>
            <a:xfrm>
              <a:off x="0" y="0"/>
              <a:ext cx="2190900" cy="1762200"/>
            </a:xfrm>
            <a:prstGeom prst="roundRect">
              <a:avLst>
                <a:gd fmla="val 4324" name="adj"/>
              </a:avLst>
            </a:prstGeom>
            <a:solidFill>
              <a:srgbClr val="121214"/>
            </a:solidFill>
            <a:ln cap="flat" cmpd="sng" w="14300">
              <a:solidFill>
                <a:srgbClr val="2222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19"/>
            <p:cNvSpPr/>
            <p:nvPr/>
          </p:nvSpPr>
          <p:spPr>
            <a:xfrm>
              <a:off x="1057275" y="-114300"/>
              <a:ext cx="76200" cy="762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19"/>
            <p:cNvSpPr txBox="1"/>
            <p:nvPr/>
          </p:nvSpPr>
          <p:spPr>
            <a:xfrm>
              <a:off x="190500" y="190500"/>
              <a:ext cx="1809600" cy="138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2600">
                  <a:solidFill>
                    <a:srgbClr val="EF4444"/>
                  </a:solidFill>
                  <a:latin typeface="Montserrat Black"/>
                  <a:ea typeface="Montserrat Black"/>
                  <a:cs typeface="Montserrat Black"/>
                  <a:sym typeface="Montserrat Black"/>
                </a:rPr>
                <a:t>73%</a:t>
              </a:r>
              <a:endParaRPr b="0" sz="2600">
                <a:solidFill>
                  <a:srgbClr val="EF4444"/>
                </a:solidFill>
                <a:latin typeface="Montserrat Black"/>
                <a:ea typeface="Montserrat Black"/>
                <a:cs typeface="Montserrat Black"/>
                <a:sym typeface="Montserrat Black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-GB" sz="935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SKILL-BASED HIRING</a:t>
              </a:r>
              <a:endParaRPr b="1" sz="93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GB" sz="765">
                  <a:solidFill>
                    <a:srgbClr val="9CA3AF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Employers now prioritize proven technical competencies over academic degrees to ensure immediate contribution.</a:t>
              </a:r>
              <a:endParaRPr b="0" sz="765">
                <a:solidFill>
                  <a:srgbClr val="9CA3AF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GB" sz="638">
                  <a:solidFill>
                    <a:srgbClr val="EF4444"/>
                  </a:solidFill>
                  <a:latin typeface="Space Mono"/>
                  <a:ea typeface="Space Mono"/>
                  <a:cs typeface="Space Mono"/>
                  <a:sym typeface="Space Mono"/>
                </a:rPr>
                <a:t>[LinkedIn Global Talent Trends]</a:t>
              </a:r>
              <a:endParaRPr b="0" sz="638">
                <a:solidFill>
                  <a:srgbClr val="EF4444"/>
                </a:solidFill>
                <a:latin typeface="Space Mono"/>
                <a:ea typeface="Space Mono"/>
                <a:cs typeface="Space Mono"/>
                <a:sym typeface="Space Mono"/>
              </a:endParaRPr>
            </a:p>
          </p:txBody>
        </p:sp>
      </p:grpSp>
      <p:grpSp>
        <p:nvGrpSpPr>
          <p:cNvPr id="220" name="Google Shape;220;p19"/>
          <p:cNvGrpSpPr/>
          <p:nvPr/>
        </p:nvGrpSpPr>
        <p:grpSpPr>
          <a:xfrm>
            <a:off x="6000750" y="1266825"/>
            <a:ext cx="2190900" cy="1876500"/>
            <a:chOff x="0" y="-114300"/>
            <a:chExt cx="2190900" cy="1876500"/>
          </a:xfrm>
        </p:grpSpPr>
        <p:sp>
          <p:nvSpPr>
            <p:cNvPr id="221" name="Google Shape;221;p19"/>
            <p:cNvSpPr/>
            <p:nvPr/>
          </p:nvSpPr>
          <p:spPr>
            <a:xfrm>
              <a:off x="0" y="0"/>
              <a:ext cx="2190900" cy="1762200"/>
            </a:xfrm>
            <a:prstGeom prst="roundRect">
              <a:avLst>
                <a:gd fmla="val 4324" name="adj"/>
              </a:avLst>
            </a:prstGeom>
            <a:solidFill>
              <a:srgbClr val="121214"/>
            </a:solidFill>
            <a:ln cap="flat" cmpd="sng" w="14300">
              <a:solidFill>
                <a:srgbClr val="2222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19"/>
            <p:cNvSpPr/>
            <p:nvPr/>
          </p:nvSpPr>
          <p:spPr>
            <a:xfrm>
              <a:off x="1057275" y="-114300"/>
              <a:ext cx="76200" cy="762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19"/>
            <p:cNvSpPr txBox="1"/>
            <p:nvPr/>
          </p:nvSpPr>
          <p:spPr>
            <a:xfrm>
              <a:off x="190500" y="190500"/>
              <a:ext cx="1809600" cy="138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2600">
                  <a:solidFill>
                    <a:srgbClr val="EF4444"/>
                  </a:solidFill>
                  <a:latin typeface="Montserrat Black"/>
                  <a:ea typeface="Montserrat Black"/>
                  <a:cs typeface="Montserrat Black"/>
                  <a:sym typeface="Montserrat Black"/>
                </a:rPr>
                <a:t>90%</a:t>
              </a:r>
              <a:endParaRPr b="0" sz="2600">
                <a:solidFill>
                  <a:srgbClr val="EF4444"/>
                </a:solidFill>
                <a:latin typeface="Montserrat Black"/>
                <a:ea typeface="Montserrat Black"/>
                <a:cs typeface="Montserrat Black"/>
                <a:sym typeface="Montserrat Black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-GB" sz="935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EXPERIENCE MATTERS</a:t>
              </a:r>
              <a:endParaRPr b="1" sz="93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GB" sz="765">
                  <a:solidFill>
                    <a:srgbClr val="9CA3AF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Early career internships and practical ecosystem exposures are now critical prerequisites for competitive hiring.</a:t>
              </a:r>
              <a:endParaRPr b="0" sz="765">
                <a:solidFill>
                  <a:srgbClr val="9CA3AF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GB" sz="638">
                  <a:solidFill>
                    <a:srgbClr val="EF4444"/>
                  </a:solidFill>
                  <a:latin typeface="Space Mono"/>
                  <a:ea typeface="Space Mono"/>
                  <a:cs typeface="Space Mono"/>
                  <a:sym typeface="Space Mono"/>
                </a:rPr>
                <a:t>[NACE Job Outlook Survey]</a:t>
              </a:r>
              <a:endParaRPr b="0" sz="638">
                <a:solidFill>
                  <a:srgbClr val="EF4444"/>
                </a:solidFill>
                <a:latin typeface="Space Mono"/>
                <a:ea typeface="Space Mono"/>
                <a:cs typeface="Space Mono"/>
                <a:sym typeface="Space Mono"/>
              </a:endParaRPr>
            </a:p>
          </p:txBody>
        </p:sp>
      </p:grpSp>
      <p:grpSp>
        <p:nvGrpSpPr>
          <p:cNvPr id="224" name="Google Shape;224;p19"/>
          <p:cNvGrpSpPr/>
          <p:nvPr/>
        </p:nvGrpSpPr>
        <p:grpSpPr>
          <a:xfrm>
            <a:off x="952500" y="3381375"/>
            <a:ext cx="7239000" cy="619200"/>
            <a:chOff x="0" y="0"/>
            <a:chExt cx="7239000" cy="619200"/>
          </a:xfrm>
        </p:grpSpPr>
        <p:sp>
          <p:nvSpPr>
            <p:cNvPr id="225" name="Google Shape;225;p19"/>
            <p:cNvSpPr/>
            <p:nvPr/>
          </p:nvSpPr>
          <p:spPr>
            <a:xfrm>
              <a:off x="0" y="0"/>
              <a:ext cx="7239000" cy="619200"/>
            </a:xfrm>
            <a:prstGeom prst="roundRect">
              <a:avLst>
                <a:gd fmla="val 9230" name="adj"/>
              </a:avLst>
            </a:prstGeom>
            <a:solidFill>
              <a:srgbClr val="1A0B0C"/>
            </a:solidFill>
            <a:ln cap="flat" cmpd="sng" w="9525">
              <a:solidFill>
                <a:srgbClr val="EF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19"/>
            <p:cNvSpPr txBox="1"/>
            <p:nvPr/>
          </p:nvSpPr>
          <p:spPr>
            <a:xfrm>
              <a:off x="190500" y="95250"/>
              <a:ext cx="68580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20">
                  <a:solidFill>
                    <a:srgbClr val="EF4444"/>
                  </a:solidFill>
                  <a:latin typeface="Inter"/>
                  <a:ea typeface="Inter"/>
                  <a:cs typeface="Inter"/>
                  <a:sym typeface="Inter"/>
                </a:rPr>
                <a:t>TRADITIONAL EDUCATION ALONE CANNOT KEEP PACE.</a:t>
              </a:r>
              <a:endParaRPr b="1" sz="1020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-GB" sz="893">
                  <a:solidFill>
                    <a:srgbClr val="E5E7EB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Bridging dynamic industry skill lifecycles with modular, real-world application is the ultimate survival imperative.</a:t>
              </a:r>
              <a:endParaRPr b="0" sz="893">
                <a:solidFill>
                  <a:srgbClr val="E5E7EB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</p:txBody>
        </p:sp>
      </p:grpSp>
      <p:cxnSp>
        <p:nvCxnSpPr>
          <p:cNvPr id="227" name="Google Shape;227;p19"/>
          <p:cNvCxnSpPr/>
          <p:nvPr/>
        </p:nvCxnSpPr>
        <p:spPr>
          <a:xfrm>
            <a:off x="952500" y="4238625"/>
            <a:ext cx="72390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22222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8" name="Google Shape;228;p19"/>
          <p:cNvSpPr txBox="1"/>
          <p:nvPr/>
        </p:nvSpPr>
        <p:spPr>
          <a:xfrm>
            <a:off x="952500" y="4381500"/>
            <a:ext cx="36195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765">
                <a:solidFill>
                  <a:srgbClr val="9CA3AF"/>
                </a:solidFill>
                <a:latin typeface="Space Mono"/>
                <a:ea typeface="Space Mono"/>
                <a:cs typeface="Space Mono"/>
                <a:sym typeface="Space Mono"/>
              </a:rPr>
              <a:t>TEAM: COFFETOTODE</a:t>
            </a:r>
            <a:endParaRPr b="0" sz="765">
              <a:solidFill>
                <a:srgbClr val="9CA3AF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229" name="Google Shape;229;p19"/>
          <p:cNvSpPr txBox="1"/>
          <p:nvPr/>
        </p:nvSpPr>
        <p:spPr>
          <a:xfrm>
            <a:off x="4572000" y="4381500"/>
            <a:ext cx="36195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765">
                <a:solidFill>
                  <a:srgbClr val="9CA3AF"/>
                </a:solidFill>
                <a:latin typeface="Space Mono"/>
                <a:ea typeface="Space Mono"/>
                <a:cs typeface="Space Mono"/>
                <a:sym typeface="Space Mono"/>
              </a:rPr>
              <a:t>PROBLEM: SIH26044</a:t>
            </a:r>
            <a:endParaRPr b="0" sz="765">
              <a:solidFill>
                <a:srgbClr val="9CA3AF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5" name="Google Shape;235;p20"/>
          <p:cNvGrpSpPr/>
          <p:nvPr/>
        </p:nvGrpSpPr>
        <p:grpSpPr>
          <a:xfrm>
            <a:off x="3333750" y="381000"/>
            <a:ext cx="2476500" cy="228600"/>
            <a:chOff x="0" y="0"/>
            <a:chExt cx="2476500" cy="228600"/>
          </a:xfrm>
        </p:grpSpPr>
        <p:sp>
          <p:nvSpPr>
            <p:cNvPr id="236" name="Google Shape;236;p20"/>
            <p:cNvSpPr/>
            <p:nvPr/>
          </p:nvSpPr>
          <p:spPr>
            <a:xfrm>
              <a:off x="0" y="0"/>
              <a:ext cx="2476500" cy="228600"/>
            </a:xfrm>
            <a:prstGeom prst="roundRect">
              <a:avLst>
                <a:gd fmla="val 50000" name="adj"/>
              </a:avLst>
            </a:prstGeom>
            <a:solidFill>
              <a:srgbClr val="000000">
                <a:alpha val="0"/>
              </a:srgbClr>
            </a:solidFill>
            <a:ln cap="flat" cmpd="sng" w="14300">
              <a:solidFill>
                <a:srgbClr val="EF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20"/>
            <p:cNvSpPr txBox="1"/>
            <p:nvPr/>
          </p:nvSpPr>
          <p:spPr>
            <a:xfrm>
              <a:off x="0" y="0"/>
              <a:ext cx="2476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765">
                  <a:solidFill>
                    <a:srgbClr val="EF4444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SIH 2026 | IDEATION &amp; VALIDATION</a:t>
              </a:r>
              <a:endParaRPr b="0" sz="765">
                <a:solidFill>
                  <a:srgbClr val="EF4444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sp>
        <p:nvSpPr>
          <p:cNvPr id="238" name="Google Shape;238;p20"/>
          <p:cNvSpPr txBox="1"/>
          <p:nvPr/>
        </p:nvSpPr>
        <p:spPr>
          <a:xfrm>
            <a:off x="952500" y="714375"/>
            <a:ext cx="7239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40"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WE STARTED WITH PROBLEMS, NOT FEATURES.</a:t>
            </a:r>
            <a:endParaRPr b="0" sz="2040">
              <a:solidFill>
                <a:srgbClr val="FFFFFF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grpSp>
        <p:nvGrpSpPr>
          <p:cNvPr id="239" name="Google Shape;239;p20"/>
          <p:cNvGrpSpPr/>
          <p:nvPr/>
        </p:nvGrpSpPr>
        <p:grpSpPr>
          <a:xfrm>
            <a:off x="952500" y="1266825"/>
            <a:ext cx="1285800" cy="1543200"/>
            <a:chOff x="0" y="-114300"/>
            <a:chExt cx="1285800" cy="1543200"/>
          </a:xfrm>
        </p:grpSpPr>
        <p:sp>
          <p:nvSpPr>
            <p:cNvPr id="240" name="Google Shape;240;p20"/>
            <p:cNvSpPr/>
            <p:nvPr/>
          </p:nvSpPr>
          <p:spPr>
            <a:xfrm>
              <a:off x="0" y="0"/>
              <a:ext cx="1285800" cy="1428900"/>
            </a:xfrm>
            <a:prstGeom prst="roundRect">
              <a:avLst>
                <a:gd fmla="val 5925" name="adj"/>
              </a:avLst>
            </a:prstGeom>
            <a:solidFill>
              <a:srgbClr val="121214"/>
            </a:solidFill>
            <a:ln cap="flat" cmpd="sng" w="9525">
              <a:solidFill>
                <a:srgbClr val="2222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20"/>
            <p:cNvSpPr/>
            <p:nvPr/>
          </p:nvSpPr>
          <p:spPr>
            <a:xfrm>
              <a:off x="604838" y="-114300"/>
              <a:ext cx="76200" cy="762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20"/>
            <p:cNvSpPr txBox="1"/>
            <p:nvPr/>
          </p:nvSpPr>
          <p:spPr>
            <a:xfrm>
              <a:off x="142875" y="142875"/>
              <a:ext cx="10002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2405">
                  <a:solidFill>
                    <a:srgbClr val="EF4444"/>
                  </a:solidFill>
                  <a:latin typeface="Montserrat Black"/>
                  <a:ea typeface="Montserrat Black"/>
                  <a:cs typeface="Montserrat Black"/>
                  <a:sym typeface="Montserrat Black"/>
                </a:rPr>
                <a:t>01</a:t>
              </a:r>
              <a:endParaRPr b="0" sz="2405">
                <a:solidFill>
                  <a:srgbClr val="EF4444"/>
                </a:solidFill>
                <a:latin typeface="Montserrat Black"/>
                <a:ea typeface="Montserrat Black"/>
                <a:cs typeface="Montserrat Black"/>
                <a:sym typeface="Montserrat Black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879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RESEARCH</a:t>
              </a:r>
              <a:endParaRPr b="1" sz="87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GB" sz="722">
                  <a:solidFill>
                    <a:srgbClr val="9CA3AF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Deep dive into AISHE, NASSCOM, and AICTE reports to chart ecosystem gaps.</a:t>
              </a:r>
              <a:endParaRPr b="0" sz="722">
                <a:solidFill>
                  <a:srgbClr val="9CA3AF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</p:txBody>
        </p:sp>
      </p:grpSp>
      <p:grpSp>
        <p:nvGrpSpPr>
          <p:cNvPr id="243" name="Google Shape;243;p20"/>
          <p:cNvGrpSpPr/>
          <p:nvPr/>
        </p:nvGrpSpPr>
        <p:grpSpPr>
          <a:xfrm>
            <a:off x="2428875" y="1266825"/>
            <a:ext cx="1285800" cy="1543200"/>
            <a:chOff x="0" y="-114300"/>
            <a:chExt cx="1285800" cy="1543200"/>
          </a:xfrm>
        </p:grpSpPr>
        <p:sp>
          <p:nvSpPr>
            <p:cNvPr id="244" name="Google Shape;244;p20"/>
            <p:cNvSpPr/>
            <p:nvPr/>
          </p:nvSpPr>
          <p:spPr>
            <a:xfrm>
              <a:off x="0" y="0"/>
              <a:ext cx="1285800" cy="1428900"/>
            </a:xfrm>
            <a:prstGeom prst="roundRect">
              <a:avLst>
                <a:gd fmla="val 5925" name="adj"/>
              </a:avLst>
            </a:prstGeom>
            <a:solidFill>
              <a:srgbClr val="121214"/>
            </a:solidFill>
            <a:ln cap="flat" cmpd="sng" w="9525">
              <a:solidFill>
                <a:srgbClr val="2222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20"/>
            <p:cNvSpPr/>
            <p:nvPr/>
          </p:nvSpPr>
          <p:spPr>
            <a:xfrm>
              <a:off x="604838" y="-114300"/>
              <a:ext cx="76200" cy="762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20"/>
            <p:cNvSpPr txBox="1"/>
            <p:nvPr/>
          </p:nvSpPr>
          <p:spPr>
            <a:xfrm>
              <a:off x="142875" y="142875"/>
              <a:ext cx="10002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2405">
                  <a:solidFill>
                    <a:srgbClr val="EF4444"/>
                  </a:solidFill>
                  <a:latin typeface="Montserrat Black"/>
                  <a:ea typeface="Montserrat Black"/>
                  <a:cs typeface="Montserrat Black"/>
                  <a:sym typeface="Montserrat Black"/>
                </a:rPr>
                <a:t>02</a:t>
              </a:r>
              <a:endParaRPr b="0" sz="2405">
                <a:solidFill>
                  <a:srgbClr val="EF4444"/>
                </a:solidFill>
                <a:latin typeface="Montserrat Black"/>
                <a:ea typeface="Montserrat Black"/>
                <a:cs typeface="Montserrat Black"/>
                <a:sym typeface="Montserrat Black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879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PAIN POINTS</a:t>
              </a:r>
              <a:endParaRPr b="1" sz="87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GB" sz="722">
                  <a:solidFill>
                    <a:srgbClr val="9CA3AF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Mapping fragmented platforms, low employability, and credential inflation.</a:t>
              </a:r>
              <a:endParaRPr b="0" sz="722">
                <a:solidFill>
                  <a:srgbClr val="9CA3AF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</p:txBody>
        </p:sp>
      </p:grpSp>
      <p:grpSp>
        <p:nvGrpSpPr>
          <p:cNvPr id="247" name="Google Shape;247;p20"/>
          <p:cNvGrpSpPr/>
          <p:nvPr/>
        </p:nvGrpSpPr>
        <p:grpSpPr>
          <a:xfrm>
            <a:off x="3905250" y="1266825"/>
            <a:ext cx="1285800" cy="1543200"/>
            <a:chOff x="0" y="-114300"/>
            <a:chExt cx="1285800" cy="1543200"/>
          </a:xfrm>
        </p:grpSpPr>
        <p:sp>
          <p:nvSpPr>
            <p:cNvPr id="248" name="Google Shape;248;p20"/>
            <p:cNvSpPr/>
            <p:nvPr/>
          </p:nvSpPr>
          <p:spPr>
            <a:xfrm>
              <a:off x="0" y="0"/>
              <a:ext cx="1285800" cy="1428900"/>
            </a:xfrm>
            <a:prstGeom prst="roundRect">
              <a:avLst>
                <a:gd fmla="val 5925" name="adj"/>
              </a:avLst>
            </a:prstGeom>
            <a:solidFill>
              <a:srgbClr val="121214"/>
            </a:solidFill>
            <a:ln cap="flat" cmpd="sng" w="9525">
              <a:solidFill>
                <a:srgbClr val="2222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20"/>
            <p:cNvSpPr/>
            <p:nvPr/>
          </p:nvSpPr>
          <p:spPr>
            <a:xfrm>
              <a:off x="604838" y="-114300"/>
              <a:ext cx="76200" cy="762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20"/>
            <p:cNvSpPr txBox="1"/>
            <p:nvPr/>
          </p:nvSpPr>
          <p:spPr>
            <a:xfrm>
              <a:off x="142875" y="142875"/>
              <a:ext cx="10002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2405">
                  <a:solidFill>
                    <a:srgbClr val="EF4444"/>
                  </a:solidFill>
                  <a:latin typeface="Montserrat Black"/>
                  <a:ea typeface="Montserrat Black"/>
                  <a:cs typeface="Montserrat Black"/>
                  <a:sym typeface="Montserrat Black"/>
                </a:rPr>
                <a:t>03</a:t>
              </a:r>
              <a:endParaRPr b="0" sz="2405">
                <a:solidFill>
                  <a:srgbClr val="EF4444"/>
                </a:solidFill>
                <a:latin typeface="Montserrat Black"/>
                <a:ea typeface="Montserrat Black"/>
                <a:cs typeface="Montserrat Black"/>
                <a:sym typeface="Montserrat Black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879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IDEAS</a:t>
              </a:r>
              <a:endParaRPr b="1" sz="87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GB" sz="722">
                  <a:solidFill>
                    <a:srgbClr val="9CA3AF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Initially considered LMS, simple job portals, and automated resumes.</a:t>
              </a:r>
              <a:endParaRPr b="0" sz="722">
                <a:solidFill>
                  <a:srgbClr val="9CA3AF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</p:txBody>
        </p:sp>
      </p:grpSp>
      <p:grpSp>
        <p:nvGrpSpPr>
          <p:cNvPr id="251" name="Google Shape;251;p20"/>
          <p:cNvGrpSpPr/>
          <p:nvPr/>
        </p:nvGrpSpPr>
        <p:grpSpPr>
          <a:xfrm>
            <a:off x="5381625" y="1266825"/>
            <a:ext cx="1285800" cy="1543200"/>
            <a:chOff x="0" y="-114300"/>
            <a:chExt cx="1285800" cy="1543200"/>
          </a:xfrm>
        </p:grpSpPr>
        <p:sp>
          <p:nvSpPr>
            <p:cNvPr id="252" name="Google Shape;252;p20"/>
            <p:cNvSpPr/>
            <p:nvPr/>
          </p:nvSpPr>
          <p:spPr>
            <a:xfrm>
              <a:off x="0" y="0"/>
              <a:ext cx="1285800" cy="1428900"/>
            </a:xfrm>
            <a:prstGeom prst="roundRect">
              <a:avLst>
                <a:gd fmla="val 5925" name="adj"/>
              </a:avLst>
            </a:prstGeom>
            <a:solidFill>
              <a:srgbClr val="121214"/>
            </a:solidFill>
            <a:ln cap="flat" cmpd="sng" w="9525">
              <a:solidFill>
                <a:srgbClr val="2222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20"/>
            <p:cNvSpPr/>
            <p:nvPr/>
          </p:nvSpPr>
          <p:spPr>
            <a:xfrm>
              <a:off x="604838" y="-114300"/>
              <a:ext cx="76200" cy="762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20"/>
            <p:cNvSpPr txBox="1"/>
            <p:nvPr/>
          </p:nvSpPr>
          <p:spPr>
            <a:xfrm>
              <a:off x="142875" y="142875"/>
              <a:ext cx="10002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2405">
                  <a:solidFill>
                    <a:srgbClr val="EF4444"/>
                  </a:solidFill>
                  <a:latin typeface="Montserrat Black"/>
                  <a:ea typeface="Montserrat Black"/>
                  <a:cs typeface="Montserrat Black"/>
                  <a:sym typeface="Montserrat Black"/>
                </a:rPr>
                <a:t>04</a:t>
              </a:r>
              <a:endParaRPr b="0" sz="2405">
                <a:solidFill>
                  <a:srgbClr val="EF4444"/>
                </a:solidFill>
                <a:latin typeface="Montserrat Black"/>
                <a:ea typeface="Montserrat Black"/>
                <a:cs typeface="Montserrat Black"/>
                <a:sym typeface="Montserrat Black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879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VALIDATION</a:t>
              </a:r>
              <a:endParaRPr b="1" sz="87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GB" sz="722">
                  <a:solidFill>
                    <a:srgbClr val="9CA3AF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Testing hypotheses against user readiness and enterprise demand.</a:t>
              </a:r>
              <a:endParaRPr b="0" sz="722">
                <a:solidFill>
                  <a:srgbClr val="9CA3AF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</p:txBody>
        </p:sp>
      </p:grpSp>
      <p:grpSp>
        <p:nvGrpSpPr>
          <p:cNvPr id="255" name="Google Shape;255;p20"/>
          <p:cNvGrpSpPr/>
          <p:nvPr/>
        </p:nvGrpSpPr>
        <p:grpSpPr>
          <a:xfrm>
            <a:off x="6858000" y="1266825"/>
            <a:ext cx="1333500" cy="1543200"/>
            <a:chOff x="0" y="-114300"/>
            <a:chExt cx="1333500" cy="1543200"/>
          </a:xfrm>
        </p:grpSpPr>
        <p:sp>
          <p:nvSpPr>
            <p:cNvPr id="256" name="Google Shape;256;p20"/>
            <p:cNvSpPr/>
            <p:nvPr/>
          </p:nvSpPr>
          <p:spPr>
            <a:xfrm>
              <a:off x="0" y="0"/>
              <a:ext cx="1333500" cy="1428900"/>
            </a:xfrm>
            <a:prstGeom prst="roundRect">
              <a:avLst>
                <a:gd fmla="val 5714" name="adj"/>
              </a:avLst>
            </a:prstGeom>
            <a:solidFill>
              <a:srgbClr val="1A0B0C"/>
            </a:solidFill>
            <a:ln cap="flat" cmpd="sng" w="14300">
              <a:solidFill>
                <a:srgbClr val="EF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20"/>
            <p:cNvSpPr/>
            <p:nvPr/>
          </p:nvSpPr>
          <p:spPr>
            <a:xfrm>
              <a:off x="628650" y="-114300"/>
              <a:ext cx="76200" cy="762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20"/>
            <p:cNvSpPr txBox="1"/>
            <p:nvPr/>
          </p:nvSpPr>
          <p:spPr>
            <a:xfrm>
              <a:off x="142875" y="142875"/>
              <a:ext cx="10479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2405">
                  <a:solidFill>
                    <a:srgbClr val="EF4444"/>
                  </a:solidFill>
                  <a:latin typeface="Montserrat Black"/>
                  <a:ea typeface="Montserrat Black"/>
                  <a:cs typeface="Montserrat Black"/>
                  <a:sym typeface="Montserrat Black"/>
                </a:rPr>
                <a:t>05</a:t>
              </a:r>
              <a:endParaRPr b="0" sz="2405">
                <a:solidFill>
                  <a:srgbClr val="EF4444"/>
                </a:solidFill>
                <a:latin typeface="Montserrat Black"/>
                <a:ea typeface="Montserrat Black"/>
                <a:cs typeface="Montserrat Black"/>
                <a:sym typeface="Montserrat Black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879">
                  <a:solidFill>
                    <a:srgbClr val="EF4444"/>
                  </a:solidFill>
                  <a:latin typeface="Inter"/>
                  <a:ea typeface="Inter"/>
                  <a:cs typeface="Inter"/>
                  <a:sym typeface="Inter"/>
                </a:rPr>
                <a:t>SOLUTION</a:t>
              </a:r>
              <a:endParaRPr b="1" sz="879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GB" sz="722">
                  <a:solidFill>
                    <a:srgbClr val="9CA3AF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SkillBridge: A unified ecosystem linking validation to hiring.</a:t>
              </a:r>
              <a:endParaRPr b="0" sz="722">
                <a:solidFill>
                  <a:srgbClr val="9CA3AF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</p:txBody>
        </p:sp>
      </p:grpSp>
      <p:pic>
        <p:nvPicPr>
          <p:cNvPr id="259" name="Google Shape;25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38375" y="2085975"/>
            <a:ext cx="4619700" cy="19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0" name="Google Shape;260;p20"/>
          <p:cNvGrpSpPr/>
          <p:nvPr/>
        </p:nvGrpSpPr>
        <p:grpSpPr>
          <a:xfrm>
            <a:off x="952500" y="3000375"/>
            <a:ext cx="7239000" cy="1000200"/>
            <a:chOff x="0" y="0"/>
            <a:chExt cx="7239000" cy="1000200"/>
          </a:xfrm>
        </p:grpSpPr>
        <p:sp>
          <p:nvSpPr>
            <p:cNvPr id="261" name="Google Shape;261;p20"/>
            <p:cNvSpPr/>
            <p:nvPr/>
          </p:nvSpPr>
          <p:spPr>
            <a:xfrm>
              <a:off x="0" y="0"/>
              <a:ext cx="7239000" cy="1000200"/>
            </a:xfrm>
            <a:prstGeom prst="roundRect">
              <a:avLst>
                <a:gd fmla="val 5714" name="adj"/>
              </a:avLst>
            </a:prstGeom>
            <a:solidFill>
              <a:srgbClr val="1A0B0C"/>
            </a:solidFill>
            <a:ln cap="flat" cmpd="sng" w="9525">
              <a:solidFill>
                <a:srgbClr val="EF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20"/>
            <p:cNvSpPr txBox="1"/>
            <p:nvPr/>
          </p:nvSpPr>
          <p:spPr>
            <a:xfrm>
              <a:off x="190500" y="142875"/>
              <a:ext cx="68580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20">
                  <a:solidFill>
                    <a:srgbClr val="EF4444"/>
                  </a:solidFill>
                  <a:latin typeface="Inter"/>
                  <a:ea typeface="Inter"/>
                  <a:cs typeface="Inter"/>
                  <a:sym typeface="Inter"/>
                </a:rPr>
                <a:t>PRODUCT THINKING: SOLVING THE HIGHEST-IMPACT PROBLEMS FIRST</a:t>
              </a:r>
              <a:endParaRPr b="1" sz="1020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GB" sz="893">
                  <a:solidFill>
                    <a:srgbClr val="FFFFFF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Rather than building an isolated feature-heavy LMS, we prioritized an integrated bridge. By validating the critical intersection of real-world experiences with employer trust, we bypassed superficial solutions to target India's massive scale gap.</a:t>
              </a:r>
              <a:endParaRPr b="0" sz="893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</p:txBody>
        </p:sp>
      </p:grpSp>
      <p:cxnSp>
        <p:nvCxnSpPr>
          <p:cNvPr id="263" name="Google Shape;263;p20"/>
          <p:cNvCxnSpPr/>
          <p:nvPr/>
        </p:nvCxnSpPr>
        <p:spPr>
          <a:xfrm>
            <a:off x="952500" y="4238625"/>
            <a:ext cx="72390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22222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4" name="Google Shape;264;p20"/>
          <p:cNvSpPr txBox="1"/>
          <p:nvPr/>
        </p:nvSpPr>
        <p:spPr>
          <a:xfrm>
            <a:off x="952500" y="4381500"/>
            <a:ext cx="36195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765">
                <a:solidFill>
                  <a:srgbClr val="9CA3AF"/>
                </a:solidFill>
                <a:latin typeface="Space Mono"/>
                <a:ea typeface="Space Mono"/>
                <a:cs typeface="Space Mono"/>
                <a:sym typeface="Space Mono"/>
              </a:rPr>
              <a:t>TEAM: COFFETOTODE</a:t>
            </a:r>
            <a:endParaRPr b="0" sz="765">
              <a:solidFill>
                <a:srgbClr val="9CA3AF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265" name="Google Shape;265;p20"/>
          <p:cNvSpPr txBox="1"/>
          <p:nvPr/>
        </p:nvSpPr>
        <p:spPr>
          <a:xfrm>
            <a:off x="4572000" y="4381500"/>
            <a:ext cx="36195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765">
                <a:solidFill>
                  <a:srgbClr val="9CA3AF"/>
                </a:solidFill>
                <a:latin typeface="Space Mono"/>
                <a:ea typeface="Space Mono"/>
                <a:cs typeface="Space Mono"/>
                <a:sym typeface="Space Mono"/>
              </a:rPr>
              <a:t>PROBLEM: SIH26044</a:t>
            </a:r>
            <a:endParaRPr b="0" sz="765">
              <a:solidFill>
                <a:srgbClr val="9CA3AF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1" name="Google Shape;271;p21"/>
          <p:cNvGrpSpPr/>
          <p:nvPr/>
        </p:nvGrpSpPr>
        <p:grpSpPr>
          <a:xfrm>
            <a:off x="3143250" y="381000"/>
            <a:ext cx="2857500" cy="228600"/>
            <a:chOff x="0" y="0"/>
            <a:chExt cx="2857500" cy="228600"/>
          </a:xfrm>
        </p:grpSpPr>
        <p:sp>
          <p:nvSpPr>
            <p:cNvPr id="272" name="Google Shape;272;p21"/>
            <p:cNvSpPr/>
            <p:nvPr/>
          </p:nvSpPr>
          <p:spPr>
            <a:xfrm>
              <a:off x="0" y="0"/>
              <a:ext cx="2857500" cy="228600"/>
            </a:xfrm>
            <a:prstGeom prst="roundRect">
              <a:avLst>
                <a:gd fmla="val 50000" name="adj"/>
              </a:avLst>
            </a:prstGeom>
            <a:solidFill>
              <a:srgbClr val="000000">
                <a:alpha val="0"/>
              </a:srgbClr>
            </a:solidFill>
            <a:ln cap="flat" cmpd="sng" w="14300">
              <a:solidFill>
                <a:srgbClr val="EF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21"/>
            <p:cNvSpPr txBox="1"/>
            <p:nvPr/>
          </p:nvSpPr>
          <p:spPr>
            <a:xfrm>
              <a:off x="0" y="0"/>
              <a:ext cx="2857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765">
                  <a:solidFill>
                    <a:srgbClr val="EF4444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SIH 2026 | PRODUCT SCOPE</a:t>
              </a:r>
              <a:endParaRPr b="0" sz="765">
                <a:solidFill>
                  <a:srgbClr val="EF4444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sp>
        <p:nvSpPr>
          <p:cNvPr id="274" name="Google Shape;274;p21"/>
          <p:cNvSpPr txBox="1"/>
          <p:nvPr/>
        </p:nvSpPr>
        <p:spPr>
          <a:xfrm>
            <a:off x="952500" y="714375"/>
            <a:ext cx="7239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00"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WE REMOVED WHAT DIDN'T SOLVE THE PROBLEM.</a:t>
            </a:r>
            <a:endParaRPr b="0" sz="1800">
              <a:solidFill>
                <a:srgbClr val="FFFFFF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grpSp>
        <p:nvGrpSpPr>
          <p:cNvPr id="275" name="Google Shape;275;p21"/>
          <p:cNvGrpSpPr/>
          <p:nvPr/>
        </p:nvGrpSpPr>
        <p:grpSpPr>
          <a:xfrm>
            <a:off x="952500" y="1381125"/>
            <a:ext cx="1095300" cy="1428900"/>
            <a:chOff x="0" y="0"/>
            <a:chExt cx="1095300" cy="1428900"/>
          </a:xfrm>
        </p:grpSpPr>
        <p:sp>
          <p:nvSpPr>
            <p:cNvPr id="276" name="Google Shape;276;p21"/>
            <p:cNvSpPr/>
            <p:nvPr/>
          </p:nvSpPr>
          <p:spPr>
            <a:xfrm>
              <a:off x="0" y="0"/>
              <a:ext cx="1095300" cy="1428900"/>
            </a:xfrm>
            <a:prstGeom prst="roundRect">
              <a:avLst>
                <a:gd fmla="val 6956" name="adj"/>
              </a:avLst>
            </a:prstGeom>
            <a:solidFill>
              <a:srgbClr val="121214"/>
            </a:solidFill>
            <a:ln cap="flat" cmpd="sng" w="9525">
              <a:solidFill>
                <a:srgbClr val="2222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77" name="Google Shape;277;p21"/>
            <p:cNvCxnSpPr/>
            <p:nvPr/>
          </p:nvCxnSpPr>
          <p:spPr>
            <a:xfrm flipH="1" rot="10800000">
              <a:off x="142875" y="142875"/>
              <a:ext cx="809700" cy="1143000"/>
            </a:xfrm>
            <a:prstGeom prst="straightConnector1">
              <a:avLst/>
            </a:prstGeom>
            <a:solidFill>
              <a:srgbClr val="FFFFFF"/>
            </a:solidFill>
            <a:ln cap="rnd" cmpd="sng" w="19050">
              <a:solidFill>
                <a:srgbClr val="EF4444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78" name="Google Shape;278;p21"/>
            <p:cNvSpPr txBox="1"/>
            <p:nvPr/>
          </p:nvSpPr>
          <p:spPr>
            <a:xfrm>
              <a:off x="142875" y="142875"/>
              <a:ext cx="8097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850">
                  <a:solidFill>
                    <a:srgbClr val="6B7280"/>
                  </a:solidFill>
                  <a:latin typeface="Montserrat Black"/>
                  <a:ea typeface="Montserrat Black"/>
                  <a:cs typeface="Montserrat Black"/>
                  <a:sym typeface="Montserrat Black"/>
                </a:rPr>
                <a:t>❌</a:t>
              </a:r>
              <a:endParaRPr b="0" sz="1850">
                <a:solidFill>
                  <a:srgbClr val="6B7280"/>
                </a:solidFill>
                <a:latin typeface="Montserrat Black"/>
                <a:ea typeface="Montserrat Black"/>
                <a:cs typeface="Montserrat Black"/>
                <a:sym typeface="Montserrat Black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GB" sz="812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LEADERBOARD</a:t>
              </a:r>
              <a:endParaRPr b="1" sz="81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GB" sz="667">
                  <a:solidFill>
                    <a:srgbClr val="9CA3AF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Gamification features that fail to directly drive hiring metrics.</a:t>
              </a:r>
              <a:endParaRPr b="0" sz="667">
                <a:solidFill>
                  <a:srgbClr val="9CA3AF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</p:txBody>
        </p:sp>
      </p:grpSp>
      <p:grpSp>
        <p:nvGrpSpPr>
          <p:cNvPr id="279" name="Google Shape;279;p21"/>
          <p:cNvGrpSpPr/>
          <p:nvPr/>
        </p:nvGrpSpPr>
        <p:grpSpPr>
          <a:xfrm>
            <a:off x="2143125" y="1381125"/>
            <a:ext cx="1095300" cy="1428900"/>
            <a:chOff x="0" y="0"/>
            <a:chExt cx="1095300" cy="1428900"/>
          </a:xfrm>
        </p:grpSpPr>
        <p:sp>
          <p:nvSpPr>
            <p:cNvPr id="280" name="Google Shape;280;p21"/>
            <p:cNvSpPr/>
            <p:nvPr/>
          </p:nvSpPr>
          <p:spPr>
            <a:xfrm>
              <a:off x="0" y="0"/>
              <a:ext cx="1095300" cy="1428900"/>
            </a:xfrm>
            <a:prstGeom prst="roundRect">
              <a:avLst>
                <a:gd fmla="val 6956" name="adj"/>
              </a:avLst>
            </a:prstGeom>
            <a:solidFill>
              <a:srgbClr val="121214"/>
            </a:solidFill>
            <a:ln cap="flat" cmpd="sng" w="9525">
              <a:solidFill>
                <a:srgbClr val="2222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81" name="Google Shape;281;p21"/>
            <p:cNvCxnSpPr/>
            <p:nvPr/>
          </p:nvCxnSpPr>
          <p:spPr>
            <a:xfrm flipH="1" rot="10800000">
              <a:off x="142875" y="142875"/>
              <a:ext cx="809700" cy="1143000"/>
            </a:xfrm>
            <a:prstGeom prst="straightConnector1">
              <a:avLst/>
            </a:prstGeom>
            <a:solidFill>
              <a:srgbClr val="FFFFFF"/>
            </a:solidFill>
            <a:ln cap="rnd" cmpd="sng" w="19050">
              <a:solidFill>
                <a:srgbClr val="EF4444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82" name="Google Shape;282;p21"/>
            <p:cNvSpPr txBox="1"/>
            <p:nvPr/>
          </p:nvSpPr>
          <p:spPr>
            <a:xfrm>
              <a:off x="142875" y="142875"/>
              <a:ext cx="8097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850">
                  <a:solidFill>
                    <a:srgbClr val="6B7280"/>
                  </a:solidFill>
                  <a:latin typeface="Montserrat Black"/>
                  <a:ea typeface="Montserrat Black"/>
                  <a:cs typeface="Montserrat Black"/>
                  <a:sym typeface="Montserrat Black"/>
                </a:rPr>
                <a:t>❌</a:t>
              </a:r>
              <a:endParaRPr b="0" sz="1850">
                <a:solidFill>
                  <a:srgbClr val="6B7280"/>
                </a:solidFill>
                <a:latin typeface="Montserrat Black"/>
                <a:ea typeface="Montserrat Black"/>
                <a:cs typeface="Montserrat Black"/>
                <a:sym typeface="Montserrat Black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GB" sz="812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MESSAGING</a:t>
              </a:r>
              <a:endParaRPr b="1" sz="81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GB" sz="667">
                  <a:solidFill>
                    <a:srgbClr val="9CA3AF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Fragmented chat tools which bypass official validation paths.</a:t>
              </a:r>
              <a:endParaRPr b="0" sz="667">
                <a:solidFill>
                  <a:srgbClr val="9CA3AF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</p:txBody>
        </p:sp>
      </p:grpSp>
      <p:grpSp>
        <p:nvGrpSpPr>
          <p:cNvPr id="283" name="Google Shape;283;p21"/>
          <p:cNvGrpSpPr/>
          <p:nvPr/>
        </p:nvGrpSpPr>
        <p:grpSpPr>
          <a:xfrm>
            <a:off x="3333750" y="1381125"/>
            <a:ext cx="1095300" cy="1428900"/>
            <a:chOff x="0" y="0"/>
            <a:chExt cx="1095300" cy="1428900"/>
          </a:xfrm>
        </p:grpSpPr>
        <p:sp>
          <p:nvSpPr>
            <p:cNvPr id="284" name="Google Shape;284;p21"/>
            <p:cNvSpPr/>
            <p:nvPr/>
          </p:nvSpPr>
          <p:spPr>
            <a:xfrm>
              <a:off x="0" y="0"/>
              <a:ext cx="1095300" cy="1428900"/>
            </a:xfrm>
            <a:prstGeom prst="roundRect">
              <a:avLst>
                <a:gd fmla="val 6956" name="adj"/>
              </a:avLst>
            </a:prstGeom>
            <a:solidFill>
              <a:srgbClr val="121214"/>
            </a:solidFill>
            <a:ln cap="flat" cmpd="sng" w="9525">
              <a:solidFill>
                <a:srgbClr val="2222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85" name="Google Shape;285;p21"/>
            <p:cNvCxnSpPr/>
            <p:nvPr/>
          </p:nvCxnSpPr>
          <p:spPr>
            <a:xfrm flipH="1" rot="10800000">
              <a:off x="142875" y="142875"/>
              <a:ext cx="809700" cy="1143000"/>
            </a:xfrm>
            <a:prstGeom prst="straightConnector1">
              <a:avLst/>
            </a:prstGeom>
            <a:solidFill>
              <a:srgbClr val="FFFFFF"/>
            </a:solidFill>
            <a:ln cap="rnd" cmpd="sng" w="19050">
              <a:solidFill>
                <a:srgbClr val="EF4444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86" name="Google Shape;286;p21"/>
            <p:cNvSpPr txBox="1"/>
            <p:nvPr/>
          </p:nvSpPr>
          <p:spPr>
            <a:xfrm>
              <a:off x="142875" y="142875"/>
              <a:ext cx="8097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850">
                  <a:solidFill>
                    <a:srgbClr val="6B7280"/>
                  </a:solidFill>
                  <a:latin typeface="Montserrat Black"/>
                  <a:ea typeface="Montserrat Black"/>
                  <a:cs typeface="Montserrat Black"/>
                  <a:sym typeface="Montserrat Black"/>
                </a:rPr>
                <a:t>❌</a:t>
              </a:r>
              <a:endParaRPr b="0" sz="1850">
                <a:solidFill>
                  <a:srgbClr val="6B7280"/>
                </a:solidFill>
                <a:latin typeface="Montserrat Black"/>
                <a:ea typeface="Montserrat Black"/>
                <a:cs typeface="Montserrat Black"/>
                <a:sym typeface="Montserrat Black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GB" sz="812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COMMUNITY</a:t>
              </a:r>
              <a:endParaRPr b="1" sz="81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GB" sz="667">
                  <a:solidFill>
                    <a:srgbClr val="9CA3AF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Social networking elements that distract from real skill alignment.</a:t>
              </a:r>
              <a:endParaRPr b="0" sz="667">
                <a:solidFill>
                  <a:srgbClr val="9CA3AF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</p:txBody>
        </p:sp>
      </p:grpSp>
      <p:grpSp>
        <p:nvGrpSpPr>
          <p:cNvPr id="287" name="Google Shape;287;p21"/>
          <p:cNvGrpSpPr/>
          <p:nvPr/>
        </p:nvGrpSpPr>
        <p:grpSpPr>
          <a:xfrm>
            <a:off x="4714875" y="1381125"/>
            <a:ext cx="1095300" cy="1428900"/>
            <a:chOff x="0" y="0"/>
            <a:chExt cx="1095300" cy="1428900"/>
          </a:xfrm>
        </p:grpSpPr>
        <p:sp>
          <p:nvSpPr>
            <p:cNvPr id="288" name="Google Shape;288;p21"/>
            <p:cNvSpPr/>
            <p:nvPr/>
          </p:nvSpPr>
          <p:spPr>
            <a:xfrm>
              <a:off x="0" y="0"/>
              <a:ext cx="1095300" cy="1428900"/>
            </a:xfrm>
            <a:prstGeom prst="roundRect">
              <a:avLst>
                <a:gd fmla="val 6956" name="adj"/>
              </a:avLst>
            </a:prstGeom>
            <a:solidFill>
              <a:srgbClr val="064E3B">
                <a:alpha val="20000"/>
              </a:srgbClr>
            </a:solidFill>
            <a:ln cap="flat" cmpd="sng" w="9525">
              <a:solidFill>
                <a:srgbClr val="0478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21"/>
            <p:cNvSpPr txBox="1"/>
            <p:nvPr/>
          </p:nvSpPr>
          <p:spPr>
            <a:xfrm>
              <a:off x="142875" y="142875"/>
              <a:ext cx="8097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850">
                  <a:solidFill>
                    <a:srgbClr val="10B981"/>
                  </a:solidFill>
                  <a:latin typeface="Montserrat Black"/>
                  <a:ea typeface="Montserrat Black"/>
                  <a:cs typeface="Montserrat Black"/>
                  <a:sym typeface="Montserrat Black"/>
                </a:rPr>
                <a:t>✓</a:t>
              </a:r>
              <a:endParaRPr b="0" sz="1850">
                <a:solidFill>
                  <a:srgbClr val="10B981"/>
                </a:solidFill>
                <a:latin typeface="Montserrat Black"/>
                <a:ea typeface="Montserrat Black"/>
                <a:cs typeface="Montserrat Black"/>
                <a:sym typeface="Montserrat Black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GB" sz="812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SKILL MAPPING</a:t>
              </a:r>
              <a:endParaRPr b="1" sz="81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GB" sz="667">
                  <a:solidFill>
                    <a:srgbClr val="A7F3D0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Translating raw competencies into standard profiles.</a:t>
              </a:r>
              <a:endParaRPr b="0" sz="667">
                <a:solidFill>
                  <a:srgbClr val="A7F3D0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</p:txBody>
        </p:sp>
      </p:grpSp>
      <p:grpSp>
        <p:nvGrpSpPr>
          <p:cNvPr id="290" name="Google Shape;290;p21"/>
          <p:cNvGrpSpPr/>
          <p:nvPr/>
        </p:nvGrpSpPr>
        <p:grpSpPr>
          <a:xfrm>
            <a:off x="5905500" y="1381125"/>
            <a:ext cx="1095300" cy="1428900"/>
            <a:chOff x="0" y="0"/>
            <a:chExt cx="1095300" cy="1428900"/>
          </a:xfrm>
        </p:grpSpPr>
        <p:sp>
          <p:nvSpPr>
            <p:cNvPr id="291" name="Google Shape;291;p21"/>
            <p:cNvSpPr/>
            <p:nvPr/>
          </p:nvSpPr>
          <p:spPr>
            <a:xfrm>
              <a:off x="0" y="0"/>
              <a:ext cx="1095300" cy="1428900"/>
            </a:xfrm>
            <a:prstGeom prst="roundRect">
              <a:avLst>
                <a:gd fmla="val 6956" name="adj"/>
              </a:avLst>
            </a:prstGeom>
            <a:solidFill>
              <a:srgbClr val="064E3B">
                <a:alpha val="20000"/>
              </a:srgbClr>
            </a:solidFill>
            <a:ln cap="flat" cmpd="sng" w="9525">
              <a:solidFill>
                <a:srgbClr val="0478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21"/>
            <p:cNvSpPr txBox="1"/>
            <p:nvPr/>
          </p:nvSpPr>
          <p:spPr>
            <a:xfrm>
              <a:off x="142875" y="142875"/>
              <a:ext cx="8097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850">
                  <a:solidFill>
                    <a:srgbClr val="10B981"/>
                  </a:solidFill>
                  <a:latin typeface="Montserrat Black"/>
                  <a:ea typeface="Montserrat Black"/>
                  <a:cs typeface="Montserrat Black"/>
                  <a:sym typeface="Montserrat Black"/>
                </a:rPr>
                <a:t>✓</a:t>
              </a:r>
              <a:endParaRPr b="0" sz="1850">
                <a:solidFill>
                  <a:srgbClr val="10B981"/>
                </a:solidFill>
                <a:latin typeface="Montserrat Black"/>
                <a:ea typeface="Montserrat Black"/>
                <a:cs typeface="Montserrat Black"/>
                <a:sym typeface="Montserrat Black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GB" sz="812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OPPORTUNITY</a:t>
              </a:r>
              <a:endParaRPr b="1" sz="81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GB" sz="667">
                  <a:solidFill>
                    <a:srgbClr val="A7F3D0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Algorithmic matching of skills with business needs.</a:t>
              </a:r>
              <a:endParaRPr b="0" sz="667">
                <a:solidFill>
                  <a:srgbClr val="A7F3D0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</p:txBody>
        </p:sp>
      </p:grpSp>
      <p:grpSp>
        <p:nvGrpSpPr>
          <p:cNvPr id="293" name="Google Shape;293;p21"/>
          <p:cNvGrpSpPr/>
          <p:nvPr/>
        </p:nvGrpSpPr>
        <p:grpSpPr>
          <a:xfrm>
            <a:off x="7096125" y="1381125"/>
            <a:ext cx="1095300" cy="1428900"/>
            <a:chOff x="0" y="0"/>
            <a:chExt cx="1095300" cy="1428900"/>
          </a:xfrm>
        </p:grpSpPr>
        <p:sp>
          <p:nvSpPr>
            <p:cNvPr id="294" name="Google Shape;294;p21"/>
            <p:cNvSpPr/>
            <p:nvPr/>
          </p:nvSpPr>
          <p:spPr>
            <a:xfrm>
              <a:off x="0" y="0"/>
              <a:ext cx="1095300" cy="1428900"/>
            </a:xfrm>
            <a:prstGeom prst="roundRect">
              <a:avLst>
                <a:gd fmla="val 6956" name="adj"/>
              </a:avLst>
            </a:prstGeom>
            <a:solidFill>
              <a:srgbClr val="064E3B">
                <a:alpha val="20000"/>
              </a:srgbClr>
            </a:solidFill>
            <a:ln cap="flat" cmpd="sng" w="9525">
              <a:solidFill>
                <a:srgbClr val="0478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21"/>
            <p:cNvSpPr txBox="1"/>
            <p:nvPr/>
          </p:nvSpPr>
          <p:spPr>
            <a:xfrm>
              <a:off x="142875" y="142875"/>
              <a:ext cx="8097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850">
                  <a:solidFill>
                    <a:srgbClr val="10B981"/>
                  </a:solidFill>
                  <a:latin typeface="Montserrat Black"/>
                  <a:ea typeface="Montserrat Black"/>
                  <a:cs typeface="Montserrat Black"/>
                  <a:sym typeface="Montserrat Black"/>
                </a:rPr>
                <a:t>✓</a:t>
              </a:r>
              <a:endParaRPr b="0" sz="1850">
                <a:solidFill>
                  <a:srgbClr val="10B981"/>
                </a:solidFill>
                <a:latin typeface="Montserrat Black"/>
                <a:ea typeface="Montserrat Black"/>
                <a:cs typeface="Montserrat Black"/>
                <a:sym typeface="Montserrat Black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GB" sz="812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ALIGNMENT</a:t>
              </a:r>
              <a:endParaRPr b="1" sz="81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GB" sz="667">
                  <a:solidFill>
                    <a:srgbClr val="A7F3D0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Direct connection of classwork to market demands.</a:t>
              </a:r>
              <a:endParaRPr b="0" sz="667">
                <a:solidFill>
                  <a:srgbClr val="A7F3D0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</p:txBody>
        </p:sp>
      </p:grpSp>
      <p:grpSp>
        <p:nvGrpSpPr>
          <p:cNvPr id="296" name="Google Shape;296;p21"/>
          <p:cNvGrpSpPr/>
          <p:nvPr/>
        </p:nvGrpSpPr>
        <p:grpSpPr>
          <a:xfrm>
            <a:off x="952500" y="3000375"/>
            <a:ext cx="7239000" cy="1000200"/>
            <a:chOff x="0" y="0"/>
            <a:chExt cx="7239000" cy="1000200"/>
          </a:xfrm>
        </p:grpSpPr>
        <p:sp>
          <p:nvSpPr>
            <p:cNvPr id="297" name="Google Shape;297;p21"/>
            <p:cNvSpPr/>
            <p:nvPr/>
          </p:nvSpPr>
          <p:spPr>
            <a:xfrm>
              <a:off x="0" y="0"/>
              <a:ext cx="7239000" cy="1000200"/>
            </a:xfrm>
            <a:prstGeom prst="roundRect">
              <a:avLst>
                <a:gd fmla="val 5714" name="adj"/>
              </a:avLst>
            </a:prstGeom>
            <a:solidFill>
              <a:srgbClr val="1A0B0C"/>
            </a:solidFill>
            <a:ln cap="flat" cmpd="sng" w="9525">
              <a:solidFill>
                <a:srgbClr val="EF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21"/>
            <p:cNvSpPr txBox="1"/>
            <p:nvPr/>
          </p:nvSpPr>
          <p:spPr>
            <a:xfrm>
              <a:off x="190500" y="142875"/>
              <a:ext cx="68580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20">
                  <a:solidFill>
                    <a:srgbClr val="EF4444"/>
                  </a:solidFill>
                  <a:latin typeface="Inter"/>
                  <a:ea typeface="Inter"/>
                  <a:cs typeface="Inter"/>
                  <a:sym typeface="Inter"/>
                </a:rPr>
                <a:t>PRODUCT STRATEGY: FOCUS &gt; FEATURE OVERLOAD</a:t>
              </a:r>
              <a:endParaRPr b="1" sz="1020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338"/>
                </a:spcBef>
                <a:spcAft>
                  <a:spcPts val="0"/>
                </a:spcAft>
                <a:buNone/>
              </a:pPr>
              <a:r>
                <a:rPr b="0" lang="en-GB" sz="892">
                  <a:solidFill>
                    <a:srgbClr val="FFFFFF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Traditional engagement mechanics like messaging or leaderboards are useful for retention, but not critical for solving India's massive employability bridge. We made a deliberate architectural choice to build deep integration where value resides.</a:t>
              </a:r>
              <a:endParaRPr b="0" sz="892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</p:txBody>
        </p:sp>
      </p:grpSp>
      <p:cxnSp>
        <p:nvCxnSpPr>
          <p:cNvPr id="299" name="Google Shape;299;p21"/>
          <p:cNvCxnSpPr/>
          <p:nvPr/>
        </p:nvCxnSpPr>
        <p:spPr>
          <a:xfrm>
            <a:off x="952500" y="4238625"/>
            <a:ext cx="72390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22222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0" name="Google Shape;300;p21"/>
          <p:cNvSpPr txBox="1"/>
          <p:nvPr/>
        </p:nvSpPr>
        <p:spPr>
          <a:xfrm>
            <a:off x="952500" y="4381500"/>
            <a:ext cx="36195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65">
                <a:solidFill>
                  <a:srgbClr val="9CA3AF"/>
                </a:solidFill>
                <a:latin typeface="Space Mono"/>
                <a:ea typeface="Space Mono"/>
                <a:cs typeface="Space Mono"/>
                <a:sym typeface="Space Mono"/>
              </a:rPr>
              <a:t>TEAM: COFFETOTODE</a:t>
            </a:r>
            <a:endParaRPr sz="765">
              <a:solidFill>
                <a:srgbClr val="9CA3AF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301" name="Google Shape;301;p21"/>
          <p:cNvSpPr txBox="1"/>
          <p:nvPr/>
        </p:nvSpPr>
        <p:spPr>
          <a:xfrm>
            <a:off x="4572000" y="4381500"/>
            <a:ext cx="36195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65">
                <a:solidFill>
                  <a:srgbClr val="9CA3AF"/>
                </a:solidFill>
                <a:latin typeface="Space Mono"/>
                <a:ea typeface="Space Mono"/>
                <a:cs typeface="Space Mono"/>
                <a:sym typeface="Space Mono"/>
              </a:rPr>
              <a:t>PROBLEM: SIH26044</a:t>
            </a:r>
            <a:endParaRPr sz="765">
              <a:solidFill>
                <a:srgbClr val="9CA3AF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07" name="Google Shape;307;p22"/>
          <p:cNvGrpSpPr/>
          <p:nvPr/>
        </p:nvGrpSpPr>
        <p:grpSpPr>
          <a:xfrm>
            <a:off x="3048000" y="381000"/>
            <a:ext cx="3048000" cy="228600"/>
            <a:chOff x="0" y="0"/>
            <a:chExt cx="3048000" cy="228600"/>
          </a:xfrm>
        </p:grpSpPr>
        <p:sp>
          <p:nvSpPr>
            <p:cNvPr id="308" name="Google Shape;308;p22"/>
            <p:cNvSpPr/>
            <p:nvPr/>
          </p:nvSpPr>
          <p:spPr>
            <a:xfrm>
              <a:off x="0" y="0"/>
              <a:ext cx="3048000" cy="228600"/>
            </a:xfrm>
            <a:prstGeom prst="roundRect">
              <a:avLst>
                <a:gd fmla="val 50000" name="adj"/>
              </a:avLst>
            </a:prstGeom>
            <a:solidFill>
              <a:srgbClr val="000000">
                <a:alpha val="0"/>
              </a:srgbClr>
            </a:solidFill>
            <a:ln cap="flat" cmpd="sng" w="14300">
              <a:solidFill>
                <a:srgbClr val="EF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22"/>
            <p:cNvSpPr txBox="1"/>
            <p:nvPr/>
          </p:nvSpPr>
          <p:spPr>
            <a:xfrm>
              <a:off x="0" y="0"/>
              <a:ext cx="3048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765">
                  <a:solidFill>
                    <a:srgbClr val="EF4444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SIH 2026 | VALIDATION PILLARS</a:t>
              </a:r>
              <a:endParaRPr b="0" sz="765">
                <a:solidFill>
                  <a:srgbClr val="EF4444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sp>
        <p:nvSpPr>
          <p:cNvPr id="310" name="Google Shape;310;p22"/>
          <p:cNvSpPr txBox="1"/>
          <p:nvPr/>
        </p:nvSpPr>
        <p:spPr>
          <a:xfrm>
            <a:off x="762000" y="714375"/>
            <a:ext cx="7620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00"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WHAT SHOULD THE PLATFORM ACTUALLY SOLVE?</a:t>
            </a:r>
            <a:endParaRPr b="0" sz="1800">
              <a:solidFill>
                <a:srgbClr val="FFFFFF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grpSp>
        <p:nvGrpSpPr>
          <p:cNvPr id="311" name="Google Shape;311;p22"/>
          <p:cNvGrpSpPr/>
          <p:nvPr/>
        </p:nvGrpSpPr>
        <p:grpSpPr>
          <a:xfrm>
            <a:off x="762000" y="1266825"/>
            <a:ext cx="2000100" cy="1543200"/>
            <a:chOff x="0" y="-114300"/>
            <a:chExt cx="2000100" cy="1543200"/>
          </a:xfrm>
        </p:grpSpPr>
        <p:sp>
          <p:nvSpPr>
            <p:cNvPr id="312" name="Google Shape;312;p22"/>
            <p:cNvSpPr/>
            <p:nvPr/>
          </p:nvSpPr>
          <p:spPr>
            <a:xfrm>
              <a:off x="0" y="0"/>
              <a:ext cx="2000100" cy="1428900"/>
            </a:xfrm>
            <a:prstGeom prst="roundRect">
              <a:avLst>
                <a:gd fmla="val 5333" name="adj"/>
              </a:avLst>
            </a:prstGeom>
            <a:solidFill>
              <a:srgbClr val="121214"/>
            </a:solidFill>
            <a:ln cap="flat" cmpd="sng" w="9525">
              <a:solidFill>
                <a:srgbClr val="2222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22"/>
            <p:cNvSpPr/>
            <p:nvPr/>
          </p:nvSpPr>
          <p:spPr>
            <a:xfrm>
              <a:off x="962025" y="-114300"/>
              <a:ext cx="76200" cy="762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22"/>
            <p:cNvSpPr txBox="1"/>
            <p:nvPr/>
          </p:nvSpPr>
          <p:spPr>
            <a:xfrm>
              <a:off x="142875" y="142875"/>
              <a:ext cx="17145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600">
                  <a:solidFill>
                    <a:srgbClr val="EF4444"/>
                  </a:solidFill>
                  <a:latin typeface="Montserrat Black"/>
                  <a:ea typeface="Montserrat Black"/>
                  <a:cs typeface="Montserrat Black"/>
                  <a:sym typeface="Montserrat Black"/>
                </a:rPr>
                <a:t>01</a:t>
              </a:r>
              <a:endParaRPr b="0" sz="1600">
                <a:solidFill>
                  <a:srgbClr val="EF4444"/>
                </a:solidFill>
                <a:latin typeface="Montserrat Black"/>
                <a:ea typeface="Montserrat Black"/>
                <a:cs typeface="Montserrat Black"/>
                <a:sym typeface="Montserrat Black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SKILL GAPS</a:t>
              </a:r>
              <a:endParaRPr b="1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GB" sz="750">
                  <a:solidFill>
                    <a:srgbClr val="9CA3AF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Can a student identify their skill gap and find verified pathways to address it?</a:t>
              </a:r>
              <a:endParaRPr b="0" sz="750">
                <a:solidFill>
                  <a:srgbClr val="9CA3AF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</p:txBody>
        </p:sp>
      </p:grpSp>
      <p:grpSp>
        <p:nvGrpSpPr>
          <p:cNvPr id="315" name="Google Shape;315;p22"/>
          <p:cNvGrpSpPr/>
          <p:nvPr/>
        </p:nvGrpSpPr>
        <p:grpSpPr>
          <a:xfrm>
            <a:off x="2905125" y="1266825"/>
            <a:ext cx="2000100" cy="1543200"/>
            <a:chOff x="0" y="-114300"/>
            <a:chExt cx="2000100" cy="1543200"/>
          </a:xfrm>
        </p:grpSpPr>
        <p:sp>
          <p:nvSpPr>
            <p:cNvPr id="316" name="Google Shape;316;p22"/>
            <p:cNvSpPr/>
            <p:nvPr/>
          </p:nvSpPr>
          <p:spPr>
            <a:xfrm>
              <a:off x="0" y="0"/>
              <a:ext cx="2000100" cy="1428900"/>
            </a:xfrm>
            <a:prstGeom prst="roundRect">
              <a:avLst>
                <a:gd fmla="val 5333" name="adj"/>
              </a:avLst>
            </a:prstGeom>
            <a:solidFill>
              <a:srgbClr val="121214"/>
            </a:solidFill>
            <a:ln cap="flat" cmpd="sng" w="9525">
              <a:solidFill>
                <a:srgbClr val="2222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22"/>
            <p:cNvSpPr/>
            <p:nvPr/>
          </p:nvSpPr>
          <p:spPr>
            <a:xfrm>
              <a:off x="962025" y="-114300"/>
              <a:ext cx="76200" cy="762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22"/>
            <p:cNvSpPr txBox="1"/>
            <p:nvPr/>
          </p:nvSpPr>
          <p:spPr>
            <a:xfrm>
              <a:off x="142875" y="142875"/>
              <a:ext cx="17145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600">
                  <a:solidFill>
                    <a:srgbClr val="EF4444"/>
                  </a:solidFill>
                  <a:latin typeface="Montserrat Black"/>
                  <a:ea typeface="Montserrat Black"/>
                  <a:cs typeface="Montserrat Black"/>
                  <a:sym typeface="Montserrat Black"/>
                </a:rPr>
                <a:t>02</a:t>
              </a:r>
              <a:endParaRPr b="0" sz="1600">
                <a:solidFill>
                  <a:srgbClr val="EF4444"/>
                </a:solidFill>
                <a:latin typeface="Montserrat Black"/>
                <a:ea typeface="Montserrat Black"/>
                <a:cs typeface="Montserrat Black"/>
                <a:sym typeface="Montserrat Black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OPPORTUNITIES</a:t>
              </a:r>
              <a:endParaRPr b="1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GB" sz="750">
                  <a:solidFill>
                    <a:srgbClr val="9CA3AF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Can relevant opportunities be discovered faster without credential noise?</a:t>
              </a:r>
              <a:endParaRPr b="0" sz="750">
                <a:solidFill>
                  <a:srgbClr val="9CA3AF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</p:txBody>
        </p:sp>
      </p:grpSp>
      <p:grpSp>
        <p:nvGrpSpPr>
          <p:cNvPr id="319" name="Google Shape;319;p22"/>
          <p:cNvGrpSpPr/>
          <p:nvPr/>
        </p:nvGrpSpPr>
        <p:grpSpPr>
          <a:xfrm>
            <a:off x="5048250" y="1266825"/>
            <a:ext cx="2000100" cy="1543200"/>
            <a:chOff x="0" y="-114300"/>
            <a:chExt cx="2000100" cy="1543200"/>
          </a:xfrm>
        </p:grpSpPr>
        <p:sp>
          <p:nvSpPr>
            <p:cNvPr id="320" name="Google Shape;320;p22"/>
            <p:cNvSpPr/>
            <p:nvPr/>
          </p:nvSpPr>
          <p:spPr>
            <a:xfrm>
              <a:off x="0" y="0"/>
              <a:ext cx="2000100" cy="1428900"/>
            </a:xfrm>
            <a:prstGeom prst="roundRect">
              <a:avLst>
                <a:gd fmla="val 5333" name="adj"/>
              </a:avLst>
            </a:prstGeom>
            <a:solidFill>
              <a:srgbClr val="121214"/>
            </a:solidFill>
            <a:ln cap="flat" cmpd="sng" w="9525">
              <a:solidFill>
                <a:srgbClr val="2222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22"/>
            <p:cNvSpPr/>
            <p:nvPr/>
          </p:nvSpPr>
          <p:spPr>
            <a:xfrm>
              <a:off x="962025" y="-114300"/>
              <a:ext cx="76200" cy="762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22"/>
            <p:cNvSpPr txBox="1"/>
            <p:nvPr/>
          </p:nvSpPr>
          <p:spPr>
            <a:xfrm>
              <a:off x="142875" y="142875"/>
              <a:ext cx="17145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600">
                  <a:solidFill>
                    <a:srgbClr val="EF4444"/>
                  </a:solidFill>
                  <a:latin typeface="Montserrat Black"/>
                  <a:ea typeface="Montserrat Black"/>
                  <a:cs typeface="Montserrat Black"/>
                  <a:sym typeface="Montserrat Black"/>
                </a:rPr>
                <a:t>03</a:t>
              </a:r>
              <a:endParaRPr b="0" sz="1600">
                <a:solidFill>
                  <a:srgbClr val="EF4444"/>
                </a:solidFill>
                <a:latin typeface="Montserrat Black"/>
                <a:ea typeface="Montserrat Black"/>
                <a:cs typeface="Montserrat Black"/>
                <a:sym typeface="Montserrat Black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ALIGNMENT</a:t>
              </a:r>
              <a:endParaRPr b="1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GB" sz="750">
                  <a:solidFill>
                    <a:srgbClr val="9CA3AF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Can academia better understand and dynamically adapt to industry requirements?</a:t>
              </a:r>
              <a:endParaRPr b="0" sz="750">
                <a:solidFill>
                  <a:srgbClr val="9CA3AF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</p:txBody>
        </p:sp>
      </p:grpSp>
      <p:pic>
        <p:nvPicPr>
          <p:cNvPr id="323" name="Google Shape;32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52600" y="2809875"/>
            <a:ext cx="1790700" cy="24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95725" y="2809875"/>
            <a:ext cx="19200" cy="23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67200" y="2809875"/>
            <a:ext cx="1790700" cy="247800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22"/>
          <p:cNvSpPr/>
          <p:nvPr/>
        </p:nvSpPr>
        <p:spPr>
          <a:xfrm>
            <a:off x="3905250" y="3048000"/>
            <a:ext cx="0" cy="238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0" y="120000"/>
                </a:lnTo>
              </a:path>
            </a:pathLst>
          </a:custGeom>
          <a:solidFill>
            <a:srgbClr val="000000">
              <a:alpha val="0"/>
            </a:srgbClr>
          </a:solidFill>
          <a:ln cap="flat" cmpd="sng" w="143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22"/>
          <p:cNvSpPr/>
          <p:nvPr/>
        </p:nvSpPr>
        <p:spPr>
          <a:xfrm>
            <a:off x="3867150" y="3257550"/>
            <a:ext cx="76200" cy="57300"/>
          </a:xfrm>
          <a:custGeom>
            <a:rect b="b" l="l" r="r" t="t"/>
            <a:pathLst>
              <a:path extrusionOk="0" h="120000" w="120000">
                <a:moveTo>
                  <a:pt x="60000" y="120000"/>
                </a:moveTo>
                <a:lnTo>
                  <a:pt x="0" y="0"/>
                </a:lnTo>
                <a:lnTo>
                  <a:pt x="120000" y="0"/>
                </a:lnTo>
                <a:close/>
              </a:path>
            </a:pathLst>
          </a:custGeom>
          <a:solidFill>
            <a:srgbClr val="EF444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28" name="Google Shape;328;p22"/>
          <p:cNvGrpSpPr/>
          <p:nvPr/>
        </p:nvGrpSpPr>
        <p:grpSpPr>
          <a:xfrm>
            <a:off x="952500" y="3333750"/>
            <a:ext cx="7239000" cy="762000"/>
            <a:chOff x="0" y="0"/>
            <a:chExt cx="7239000" cy="762000"/>
          </a:xfrm>
        </p:grpSpPr>
        <p:sp>
          <p:nvSpPr>
            <p:cNvPr id="329" name="Google Shape;329;p22"/>
            <p:cNvSpPr/>
            <p:nvPr/>
          </p:nvSpPr>
          <p:spPr>
            <a:xfrm>
              <a:off x="0" y="0"/>
              <a:ext cx="7239000" cy="762000"/>
            </a:xfrm>
            <a:prstGeom prst="roundRect">
              <a:avLst>
                <a:gd fmla="val 7500" name="adj"/>
              </a:avLst>
            </a:prstGeom>
            <a:solidFill>
              <a:srgbClr val="064E3B">
                <a:alpha val="20000"/>
              </a:srgbClr>
            </a:solidFill>
            <a:ln cap="flat" cmpd="sng" w="14300">
              <a:solidFill>
                <a:srgbClr val="10B98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22"/>
            <p:cNvSpPr txBox="1"/>
            <p:nvPr/>
          </p:nvSpPr>
          <p:spPr>
            <a:xfrm>
              <a:off x="190500" y="95250"/>
              <a:ext cx="6858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400">
                  <a:solidFill>
                    <a:srgbClr val="10B981"/>
                  </a:solidFill>
                  <a:latin typeface="Montserrat Black"/>
                  <a:ea typeface="Montserrat Black"/>
                  <a:cs typeface="Montserrat Black"/>
                  <a:sym typeface="Montserrat Black"/>
                </a:rPr>
                <a:t>SKILLBRIDGE</a:t>
              </a:r>
              <a:endParaRPr b="0" sz="1400">
                <a:solidFill>
                  <a:srgbClr val="10B981"/>
                </a:solidFill>
                <a:latin typeface="Montserrat Black"/>
                <a:ea typeface="Montserrat Black"/>
                <a:cs typeface="Montserrat Black"/>
                <a:sym typeface="Montserrat Black"/>
              </a:endParaRPr>
            </a:p>
            <a:p>
              <a:pPr indent="0" lvl="0" marL="0" rtl="0" algn="ctr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-GB" sz="850">
                  <a:solidFill>
                    <a:srgbClr val="A7F3D0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The Unified Solution: Aligning student progression, verified tracking, and direct employer integration to close the readiness loop.</a:t>
              </a:r>
              <a:endParaRPr b="0" sz="850">
                <a:solidFill>
                  <a:srgbClr val="A7F3D0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</p:txBody>
        </p:sp>
      </p:grpSp>
      <p:cxnSp>
        <p:nvCxnSpPr>
          <p:cNvPr id="331" name="Google Shape;331;p22"/>
          <p:cNvCxnSpPr/>
          <p:nvPr/>
        </p:nvCxnSpPr>
        <p:spPr>
          <a:xfrm>
            <a:off x="952500" y="4238625"/>
            <a:ext cx="72390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22222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2" name="Google Shape;332;p22"/>
          <p:cNvSpPr txBox="1"/>
          <p:nvPr/>
        </p:nvSpPr>
        <p:spPr>
          <a:xfrm>
            <a:off x="952500" y="4381500"/>
            <a:ext cx="36195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65">
                <a:solidFill>
                  <a:srgbClr val="9CA3AF"/>
                </a:solidFill>
                <a:latin typeface="Space Mono"/>
                <a:ea typeface="Space Mono"/>
                <a:cs typeface="Space Mono"/>
                <a:sym typeface="Space Mono"/>
              </a:rPr>
              <a:t>TEAM: COFFETOTODE</a:t>
            </a:r>
            <a:endParaRPr sz="765">
              <a:solidFill>
                <a:srgbClr val="9CA3AF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333" name="Google Shape;333;p22"/>
          <p:cNvSpPr txBox="1"/>
          <p:nvPr/>
        </p:nvSpPr>
        <p:spPr>
          <a:xfrm>
            <a:off x="4572000" y="4381500"/>
            <a:ext cx="36195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65">
                <a:solidFill>
                  <a:srgbClr val="9CA3AF"/>
                </a:solidFill>
                <a:latin typeface="Space Mono"/>
                <a:ea typeface="Space Mono"/>
                <a:cs typeface="Space Mono"/>
                <a:sym typeface="Space Mono"/>
              </a:rPr>
              <a:t>PROBLEM: SIH26044</a:t>
            </a:r>
            <a:endParaRPr sz="765">
              <a:solidFill>
                <a:srgbClr val="9CA3AF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9" name="Google Shape;339;p23"/>
          <p:cNvGrpSpPr/>
          <p:nvPr/>
        </p:nvGrpSpPr>
        <p:grpSpPr>
          <a:xfrm>
            <a:off x="3048000" y="333375"/>
            <a:ext cx="3048000" cy="228600"/>
            <a:chOff x="0" y="0"/>
            <a:chExt cx="3048000" cy="228600"/>
          </a:xfrm>
        </p:grpSpPr>
        <p:sp>
          <p:nvSpPr>
            <p:cNvPr id="340" name="Google Shape;340;p23"/>
            <p:cNvSpPr/>
            <p:nvPr/>
          </p:nvSpPr>
          <p:spPr>
            <a:xfrm>
              <a:off x="0" y="0"/>
              <a:ext cx="3048000" cy="228600"/>
            </a:xfrm>
            <a:prstGeom prst="roundRect">
              <a:avLst>
                <a:gd fmla="val 50000" name="adj"/>
              </a:avLst>
            </a:prstGeom>
            <a:solidFill>
              <a:srgbClr val="000000">
                <a:alpha val="0"/>
              </a:srgbClr>
            </a:solidFill>
            <a:ln cap="flat" cmpd="sng" w="14300">
              <a:solidFill>
                <a:srgbClr val="EF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23"/>
            <p:cNvSpPr txBox="1"/>
            <p:nvPr/>
          </p:nvSpPr>
          <p:spPr>
            <a:xfrm>
              <a:off x="0" y="0"/>
              <a:ext cx="3048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765">
                  <a:solidFill>
                    <a:srgbClr val="EF4444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SIH 2026 | PRODUCT REVEAL</a:t>
              </a:r>
              <a:endParaRPr b="0" sz="765">
                <a:solidFill>
                  <a:srgbClr val="EF4444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sp>
        <p:nvSpPr>
          <p:cNvPr id="342" name="Google Shape;342;p23"/>
          <p:cNvSpPr txBox="1"/>
          <p:nvPr/>
        </p:nvSpPr>
        <p:spPr>
          <a:xfrm>
            <a:off x="762000" y="666750"/>
            <a:ext cx="76200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00"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INTRODUCING SKILLBRIDGE</a:t>
            </a:r>
            <a:endParaRPr b="0" sz="1800">
              <a:solidFill>
                <a:srgbClr val="FFFFFF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343" name="Google Shape;343;p23"/>
          <p:cNvSpPr txBox="1"/>
          <p:nvPr/>
        </p:nvSpPr>
        <p:spPr>
          <a:xfrm>
            <a:off x="762000" y="971550"/>
            <a:ext cx="7620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950">
                <a:solidFill>
                  <a:srgbClr val="9CA3AF"/>
                </a:solidFill>
                <a:latin typeface="Inter Light"/>
                <a:ea typeface="Inter Light"/>
                <a:cs typeface="Inter Light"/>
                <a:sym typeface="Inter Light"/>
              </a:rPr>
              <a:t>One ecosystem connecting skills with opportunities.</a:t>
            </a:r>
            <a:endParaRPr b="0" sz="950">
              <a:solidFill>
                <a:srgbClr val="9CA3AF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grpSp>
        <p:nvGrpSpPr>
          <p:cNvPr id="344" name="Google Shape;344;p23"/>
          <p:cNvGrpSpPr/>
          <p:nvPr/>
        </p:nvGrpSpPr>
        <p:grpSpPr>
          <a:xfrm>
            <a:off x="762000" y="1222588"/>
            <a:ext cx="7620000" cy="2862150"/>
            <a:chOff x="468400" y="-517525"/>
            <a:chExt cx="7620000" cy="2862150"/>
          </a:xfrm>
        </p:grpSpPr>
        <p:sp>
          <p:nvSpPr>
            <p:cNvPr id="345" name="Google Shape;345;p23"/>
            <p:cNvSpPr/>
            <p:nvPr/>
          </p:nvSpPr>
          <p:spPr>
            <a:xfrm>
              <a:off x="468400" y="-517525"/>
              <a:ext cx="7620000" cy="1476300"/>
            </a:xfrm>
            <a:prstGeom prst="roundRect">
              <a:avLst>
                <a:gd fmla="val 7741" name="adj"/>
              </a:avLst>
            </a:prstGeom>
            <a:solidFill>
              <a:srgbClr val="121214"/>
            </a:solidFill>
            <a:ln cap="flat" cmpd="sng" w="9525">
              <a:solidFill>
                <a:srgbClr val="2222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46" name="Google Shape;346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666875" y="2019300"/>
              <a:ext cx="4286400" cy="9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7" name="Google Shape;347;p23"/>
            <p:cNvSpPr/>
            <p:nvPr/>
          </p:nvSpPr>
          <p:spPr>
            <a:xfrm>
              <a:off x="2924175" y="1985963"/>
              <a:ext cx="76200" cy="76200"/>
            </a:xfrm>
            <a:custGeom>
              <a:rect b="b" l="l" r="r" t="t"/>
              <a:pathLst>
                <a:path extrusionOk="0" h="120000" w="120000">
                  <a:moveTo>
                    <a:pt x="120000" y="60000"/>
                  </a:moveTo>
                  <a:lnTo>
                    <a:pt x="0" y="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23"/>
            <p:cNvSpPr/>
            <p:nvPr/>
          </p:nvSpPr>
          <p:spPr>
            <a:xfrm>
              <a:off x="1666875" y="1985963"/>
              <a:ext cx="76200" cy="76200"/>
            </a:xfrm>
            <a:custGeom>
              <a:rect b="b" l="l" r="r" t="t"/>
              <a:pathLst>
                <a:path extrusionOk="0" h="120000" w="120000">
                  <a:moveTo>
                    <a:pt x="0" y="60000"/>
                  </a:moveTo>
                  <a:lnTo>
                    <a:pt x="120000" y="0"/>
                  </a:lnTo>
                  <a:lnTo>
                    <a:pt x="120000" y="120000"/>
                  </a:lnTo>
                  <a:close/>
                </a:path>
              </a:pathLst>
            </a:cu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23"/>
            <p:cNvSpPr/>
            <p:nvPr/>
          </p:nvSpPr>
          <p:spPr>
            <a:xfrm>
              <a:off x="4543425" y="1985963"/>
              <a:ext cx="76200" cy="76200"/>
            </a:xfrm>
            <a:custGeom>
              <a:rect b="b" l="l" r="r" t="t"/>
              <a:pathLst>
                <a:path extrusionOk="0" h="120000" w="120000">
                  <a:moveTo>
                    <a:pt x="120000" y="60000"/>
                  </a:moveTo>
                  <a:lnTo>
                    <a:pt x="0" y="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23"/>
            <p:cNvSpPr/>
            <p:nvPr/>
          </p:nvSpPr>
          <p:spPr>
            <a:xfrm>
              <a:off x="5876925" y="1985963"/>
              <a:ext cx="76200" cy="76200"/>
            </a:xfrm>
            <a:custGeom>
              <a:rect b="b" l="l" r="r" t="t"/>
              <a:pathLst>
                <a:path extrusionOk="0" h="120000" w="120000">
                  <a:moveTo>
                    <a:pt x="120000" y="60000"/>
                  </a:moveTo>
                  <a:lnTo>
                    <a:pt x="0" y="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51" name="Google Shape;351;p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805238" y="1443038"/>
              <a:ext cx="2138400" cy="319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23"/>
            <p:cNvSpPr/>
            <p:nvPr/>
          </p:nvSpPr>
          <p:spPr>
            <a:xfrm>
              <a:off x="5876925" y="1409700"/>
              <a:ext cx="76200" cy="76200"/>
            </a:xfrm>
            <a:custGeom>
              <a:rect b="b" l="l" r="r" t="t"/>
              <a:pathLst>
                <a:path extrusionOk="0" h="120000" w="120000">
                  <a:moveTo>
                    <a:pt x="120000" y="60000"/>
                  </a:moveTo>
                  <a:lnTo>
                    <a:pt x="0" y="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53" name="Google Shape;353;p23"/>
            <p:cNvGrpSpPr/>
            <p:nvPr/>
          </p:nvGrpSpPr>
          <p:grpSpPr>
            <a:xfrm>
              <a:off x="3095625" y="1762125"/>
              <a:ext cx="1428900" cy="523800"/>
              <a:chOff x="0" y="0"/>
              <a:chExt cx="1428900" cy="523800"/>
            </a:xfrm>
          </p:grpSpPr>
          <p:sp>
            <p:nvSpPr>
              <p:cNvPr id="354" name="Google Shape;354;p23"/>
              <p:cNvSpPr/>
              <p:nvPr/>
            </p:nvSpPr>
            <p:spPr>
              <a:xfrm>
                <a:off x="0" y="0"/>
                <a:ext cx="1428900" cy="523800"/>
              </a:xfrm>
              <a:prstGeom prst="roundRect">
                <a:avLst>
                  <a:gd fmla="val 14545" name="adj"/>
                </a:avLst>
              </a:prstGeom>
              <a:solidFill>
                <a:srgbClr val="064E3B">
                  <a:alpha val="20000"/>
                </a:srgbClr>
              </a:solidFill>
              <a:ln cap="flat" cmpd="sng" w="14300">
                <a:solidFill>
                  <a:srgbClr val="10B98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5" name="Google Shape;355;p23"/>
              <p:cNvSpPr txBox="1"/>
              <p:nvPr/>
            </p:nvSpPr>
            <p:spPr>
              <a:xfrm>
                <a:off x="0" y="0"/>
                <a:ext cx="1428900" cy="52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800">
                    <a:solidFill>
                      <a:srgbClr val="10B981"/>
                    </a:solidFill>
                    <a:latin typeface="Montserrat Black"/>
                    <a:ea typeface="Montserrat Black"/>
                    <a:cs typeface="Montserrat Black"/>
                    <a:sym typeface="Montserrat Black"/>
                  </a:rPr>
                  <a:t>SKILLBRIDGE</a:t>
                </a:r>
                <a:endParaRPr b="0" sz="800">
                  <a:solidFill>
                    <a:srgbClr val="10B981"/>
                  </a:solidFill>
                  <a:latin typeface="Montserrat Black"/>
                  <a:ea typeface="Montserrat Black"/>
                  <a:cs typeface="Montserrat Black"/>
                  <a:sym typeface="Montserrat Black"/>
                </a:endParaRPr>
              </a:p>
            </p:txBody>
          </p:sp>
        </p:grpSp>
        <p:grpSp>
          <p:nvGrpSpPr>
            <p:cNvPr id="356" name="Google Shape;356;p23"/>
            <p:cNvGrpSpPr/>
            <p:nvPr/>
          </p:nvGrpSpPr>
          <p:grpSpPr>
            <a:xfrm>
              <a:off x="952500" y="1762125"/>
              <a:ext cx="1095300" cy="523800"/>
              <a:chOff x="0" y="0"/>
              <a:chExt cx="1095300" cy="523800"/>
            </a:xfrm>
          </p:grpSpPr>
          <p:sp>
            <p:nvSpPr>
              <p:cNvPr id="357" name="Google Shape;357;p23"/>
              <p:cNvSpPr/>
              <p:nvPr/>
            </p:nvSpPr>
            <p:spPr>
              <a:xfrm>
                <a:off x="0" y="0"/>
                <a:ext cx="1095300" cy="523800"/>
              </a:xfrm>
              <a:prstGeom prst="roundRect">
                <a:avLst>
                  <a:gd fmla="val 14545" name="adj"/>
                </a:avLst>
              </a:prstGeom>
              <a:solidFill>
                <a:srgbClr val="1A1A1E"/>
              </a:solidFill>
              <a:ln cap="flat" cmpd="sng" w="9525">
                <a:solidFill>
                  <a:srgbClr val="22222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8" name="Google Shape;358;p23"/>
              <p:cNvSpPr txBox="1"/>
              <p:nvPr/>
            </p:nvSpPr>
            <p:spPr>
              <a:xfrm>
                <a:off x="0" y="0"/>
                <a:ext cx="1095300" cy="52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800">
                    <a:solidFill>
                      <a:srgbClr val="FFFFFF"/>
                    </a:solidFill>
                    <a:latin typeface="Montserrat Black"/>
                    <a:ea typeface="Montserrat Black"/>
                    <a:cs typeface="Montserrat Black"/>
                    <a:sym typeface="Montserrat Black"/>
                  </a:rPr>
                  <a:t>STUDENTS</a:t>
                </a:r>
                <a:endParaRPr b="0" sz="800">
                  <a:solidFill>
                    <a:srgbClr val="FFFFFF"/>
                  </a:solidFill>
                  <a:latin typeface="Montserrat Black"/>
                  <a:ea typeface="Montserrat Black"/>
                  <a:cs typeface="Montserrat Black"/>
                  <a:sym typeface="Montserrat Black"/>
                </a:endParaRPr>
              </a:p>
            </p:txBody>
          </p:sp>
        </p:grpSp>
        <p:grpSp>
          <p:nvGrpSpPr>
            <p:cNvPr id="359" name="Google Shape;359;p23"/>
            <p:cNvGrpSpPr/>
            <p:nvPr/>
          </p:nvGrpSpPr>
          <p:grpSpPr>
            <a:xfrm>
              <a:off x="5572125" y="1190625"/>
              <a:ext cx="1095300" cy="523800"/>
              <a:chOff x="0" y="0"/>
              <a:chExt cx="1095300" cy="523800"/>
            </a:xfrm>
          </p:grpSpPr>
          <p:sp>
            <p:nvSpPr>
              <p:cNvPr id="360" name="Google Shape;360;p23"/>
              <p:cNvSpPr/>
              <p:nvPr/>
            </p:nvSpPr>
            <p:spPr>
              <a:xfrm>
                <a:off x="0" y="0"/>
                <a:ext cx="1095300" cy="523800"/>
              </a:xfrm>
              <a:prstGeom prst="roundRect">
                <a:avLst>
                  <a:gd fmla="val 14545" name="adj"/>
                </a:avLst>
              </a:prstGeom>
              <a:solidFill>
                <a:srgbClr val="1A1A1E"/>
              </a:solidFill>
              <a:ln cap="flat" cmpd="sng" w="9525">
                <a:solidFill>
                  <a:srgbClr val="22222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1" name="Google Shape;361;p23"/>
              <p:cNvSpPr txBox="1"/>
              <p:nvPr/>
            </p:nvSpPr>
            <p:spPr>
              <a:xfrm>
                <a:off x="0" y="0"/>
                <a:ext cx="1095300" cy="52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800">
                    <a:solidFill>
                      <a:srgbClr val="FFFFFF"/>
                    </a:solidFill>
                    <a:latin typeface="Montserrat Black"/>
                    <a:ea typeface="Montserrat Black"/>
                    <a:cs typeface="Montserrat Black"/>
                    <a:sym typeface="Montserrat Black"/>
                  </a:rPr>
                  <a:t>ACADEMIA</a:t>
                </a:r>
                <a:endParaRPr b="0" sz="800">
                  <a:solidFill>
                    <a:srgbClr val="FFFFFF"/>
                  </a:solidFill>
                  <a:latin typeface="Montserrat Black"/>
                  <a:ea typeface="Montserrat Black"/>
                  <a:cs typeface="Montserrat Black"/>
                  <a:sym typeface="Montserrat Black"/>
                </a:endParaRPr>
              </a:p>
            </p:txBody>
          </p:sp>
        </p:grpSp>
        <p:grpSp>
          <p:nvGrpSpPr>
            <p:cNvPr id="362" name="Google Shape;362;p23"/>
            <p:cNvGrpSpPr/>
            <p:nvPr/>
          </p:nvGrpSpPr>
          <p:grpSpPr>
            <a:xfrm>
              <a:off x="5977050" y="1820825"/>
              <a:ext cx="1095300" cy="523800"/>
              <a:chOff x="-1119075" y="58700"/>
              <a:chExt cx="1095300" cy="523800"/>
            </a:xfrm>
          </p:grpSpPr>
          <p:sp>
            <p:nvSpPr>
              <p:cNvPr id="363" name="Google Shape;363;p23"/>
              <p:cNvSpPr/>
              <p:nvPr/>
            </p:nvSpPr>
            <p:spPr>
              <a:xfrm>
                <a:off x="-1119075" y="58700"/>
                <a:ext cx="1095300" cy="523800"/>
              </a:xfrm>
              <a:prstGeom prst="roundRect">
                <a:avLst>
                  <a:gd fmla="val 14545" name="adj"/>
                </a:avLst>
              </a:prstGeom>
              <a:solidFill>
                <a:srgbClr val="1A1A1E"/>
              </a:solidFill>
              <a:ln cap="flat" cmpd="sng" w="9525">
                <a:solidFill>
                  <a:srgbClr val="22222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4" name="Google Shape;364;p23"/>
              <p:cNvSpPr txBox="1"/>
              <p:nvPr/>
            </p:nvSpPr>
            <p:spPr>
              <a:xfrm>
                <a:off x="-1119075" y="58700"/>
                <a:ext cx="1095300" cy="52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800">
                    <a:solidFill>
                      <a:srgbClr val="FFFFFF"/>
                    </a:solidFill>
                    <a:latin typeface="Montserrat Black"/>
                    <a:ea typeface="Montserrat Black"/>
                    <a:cs typeface="Montserrat Black"/>
                    <a:sym typeface="Montserrat Black"/>
                  </a:rPr>
                  <a:t>INDUSTRY</a:t>
                </a:r>
                <a:endParaRPr b="0" sz="800">
                  <a:solidFill>
                    <a:srgbClr val="FFFFFF"/>
                  </a:solidFill>
                  <a:latin typeface="Montserrat Black"/>
                  <a:ea typeface="Montserrat Black"/>
                  <a:cs typeface="Montserrat Black"/>
                  <a:sym typeface="Montserrat Black"/>
                </a:endParaRPr>
              </a:p>
            </p:txBody>
          </p:sp>
        </p:grpSp>
      </p:grpSp>
      <p:grpSp>
        <p:nvGrpSpPr>
          <p:cNvPr id="365" name="Google Shape;365;p23"/>
          <p:cNvGrpSpPr/>
          <p:nvPr/>
        </p:nvGrpSpPr>
        <p:grpSpPr>
          <a:xfrm>
            <a:off x="844200" y="1381050"/>
            <a:ext cx="2381400" cy="1190700"/>
            <a:chOff x="82200" y="-1524075"/>
            <a:chExt cx="2381400" cy="1190700"/>
          </a:xfrm>
        </p:grpSpPr>
        <p:sp>
          <p:nvSpPr>
            <p:cNvPr id="366" name="Google Shape;366;p23"/>
            <p:cNvSpPr/>
            <p:nvPr/>
          </p:nvSpPr>
          <p:spPr>
            <a:xfrm>
              <a:off x="82200" y="-1524075"/>
              <a:ext cx="2381400" cy="1190700"/>
            </a:xfrm>
            <a:prstGeom prst="roundRect">
              <a:avLst>
                <a:gd fmla="val 6400" name="adj"/>
              </a:avLst>
            </a:prstGeom>
            <a:solidFill>
              <a:srgbClr val="121214"/>
            </a:solidFill>
            <a:ln cap="flat" cmpd="sng" w="9525">
              <a:solidFill>
                <a:srgbClr val="2222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23"/>
            <p:cNvSpPr txBox="1"/>
            <p:nvPr/>
          </p:nvSpPr>
          <p:spPr>
            <a:xfrm>
              <a:off x="285900" y="-1323937"/>
              <a:ext cx="2095500" cy="9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950">
                  <a:solidFill>
                    <a:srgbClr val="10B981"/>
                  </a:solidFill>
                  <a:latin typeface="Montserrat Black"/>
                  <a:ea typeface="Montserrat Black"/>
                  <a:cs typeface="Montserrat Black"/>
                  <a:sym typeface="Montserrat Black"/>
                </a:rPr>
                <a:t>01</a:t>
              </a:r>
              <a:r>
                <a:rPr b="0" lang="en-GB" sz="950">
                  <a:solidFill>
                    <a:srgbClr val="FFFFFF"/>
                  </a:solidFill>
                  <a:latin typeface="Montserrat Black"/>
                  <a:ea typeface="Montserrat Black"/>
                  <a:cs typeface="Montserrat Black"/>
                  <a:sym typeface="Montserrat Black"/>
                </a:rPr>
                <a:t> UNDERSTAND SKILLS</a:t>
              </a:r>
              <a:endParaRPr b="0" sz="950"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GB" sz="750">
                  <a:solidFill>
                    <a:srgbClr val="9CA3AF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Map and translate raw competencies into standard, globally recognized industry profiles. </a:t>
              </a:r>
              <a:r>
                <a:rPr b="1" lang="en-GB" sz="750">
                  <a:solidFill>
                    <a:srgbClr val="10B981"/>
                  </a:solidFill>
                  <a:latin typeface="Inter"/>
                  <a:ea typeface="Inter"/>
                  <a:cs typeface="Inter"/>
                  <a:sym typeface="Inter"/>
                </a:rPr>
                <a:t>Clear visibility</a:t>
              </a:r>
              <a:r>
                <a:rPr b="0" lang="en-GB" sz="750">
                  <a:solidFill>
                    <a:srgbClr val="9CA3AF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 into existing talents.</a:t>
              </a:r>
              <a:endParaRPr b="0" sz="750">
                <a:solidFill>
                  <a:srgbClr val="9CA3AF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</p:txBody>
        </p:sp>
      </p:grpSp>
      <p:grpSp>
        <p:nvGrpSpPr>
          <p:cNvPr id="368" name="Google Shape;368;p23"/>
          <p:cNvGrpSpPr/>
          <p:nvPr/>
        </p:nvGrpSpPr>
        <p:grpSpPr>
          <a:xfrm>
            <a:off x="3381300" y="1381050"/>
            <a:ext cx="2381400" cy="1190700"/>
            <a:chOff x="-75" y="-1552525"/>
            <a:chExt cx="2381400" cy="1190700"/>
          </a:xfrm>
        </p:grpSpPr>
        <p:sp>
          <p:nvSpPr>
            <p:cNvPr id="369" name="Google Shape;369;p23"/>
            <p:cNvSpPr/>
            <p:nvPr/>
          </p:nvSpPr>
          <p:spPr>
            <a:xfrm>
              <a:off x="-75" y="-1552525"/>
              <a:ext cx="2381400" cy="1190700"/>
            </a:xfrm>
            <a:prstGeom prst="roundRect">
              <a:avLst>
                <a:gd fmla="val 6400" name="adj"/>
              </a:avLst>
            </a:prstGeom>
            <a:solidFill>
              <a:srgbClr val="121214"/>
            </a:solidFill>
            <a:ln cap="flat" cmpd="sng" w="9525">
              <a:solidFill>
                <a:srgbClr val="2222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23"/>
            <p:cNvSpPr txBox="1"/>
            <p:nvPr/>
          </p:nvSpPr>
          <p:spPr>
            <a:xfrm>
              <a:off x="142950" y="-1409587"/>
              <a:ext cx="2095500" cy="9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950">
                  <a:solidFill>
                    <a:srgbClr val="10B981"/>
                  </a:solidFill>
                  <a:latin typeface="Montserrat Black"/>
                  <a:ea typeface="Montserrat Black"/>
                  <a:cs typeface="Montserrat Black"/>
                  <a:sym typeface="Montserrat Black"/>
                </a:rPr>
                <a:t>02</a:t>
              </a:r>
              <a:r>
                <a:rPr b="0" lang="en-GB" sz="950">
                  <a:solidFill>
                    <a:srgbClr val="FFFFFF"/>
                  </a:solidFill>
                  <a:latin typeface="Montserrat Black"/>
                  <a:ea typeface="Montserrat Black"/>
                  <a:cs typeface="Montserrat Black"/>
                  <a:sym typeface="Montserrat Black"/>
                </a:rPr>
                <a:t> IDENTIFY GAPS</a:t>
              </a:r>
              <a:endParaRPr b="0" sz="950"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GB" sz="750">
                  <a:solidFill>
                    <a:srgbClr val="9CA3AF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Instantly identify the precise skill gap of a student and discover verified, personalized learning pathways to address it.</a:t>
              </a:r>
              <a:endParaRPr b="0" sz="750">
                <a:solidFill>
                  <a:srgbClr val="9CA3AF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</p:txBody>
        </p:sp>
      </p:grpSp>
      <p:grpSp>
        <p:nvGrpSpPr>
          <p:cNvPr id="371" name="Google Shape;371;p23"/>
          <p:cNvGrpSpPr/>
          <p:nvPr/>
        </p:nvGrpSpPr>
        <p:grpSpPr>
          <a:xfrm>
            <a:off x="5918400" y="1381050"/>
            <a:ext cx="2381400" cy="1190700"/>
            <a:chOff x="0" y="0"/>
            <a:chExt cx="2381400" cy="1190700"/>
          </a:xfrm>
        </p:grpSpPr>
        <p:sp>
          <p:nvSpPr>
            <p:cNvPr id="372" name="Google Shape;372;p23"/>
            <p:cNvSpPr/>
            <p:nvPr/>
          </p:nvSpPr>
          <p:spPr>
            <a:xfrm>
              <a:off x="0" y="0"/>
              <a:ext cx="2381400" cy="1190700"/>
            </a:xfrm>
            <a:prstGeom prst="roundRect">
              <a:avLst>
                <a:gd fmla="val 6400" name="adj"/>
              </a:avLst>
            </a:prstGeom>
            <a:solidFill>
              <a:srgbClr val="121214"/>
            </a:solidFill>
            <a:ln cap="flat" cmpd="sng" w="9525">
              <a:solidFill>
                <a:srgbClr val="2222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23"/>
            <p:cNvSpPr txBox="1"/>
            <p:nvPr/>
          </p:nvSpPr>
          <p:spPr>
            <a:xfrm>
              <a:off x="142875" y="142875"/>
              <a:ext cx="2095500" cy="9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950">
                  <a:solidFill>
                    <a:srgbClr val="10B981"/>
                  </a:solidFill>
                  <a:latin typeface="Montserrat Black"/>
                  <a:ea typeface="Montserrat Black"/>
                  <a:cs typeface="Montserrat Black"/>
                  <a:sym typeface="Montserrat Black"/>
                </a:rPr>
                <a:t>03</a:t>
              </a:r>
              <a:r>
                <a:rPr b="0" lang="en-GB" sz="950">
                  <a:solidFill>
                    <a:srgbClr val="FFFFFF"/>
                  </a:solidFill>
                  <a:latin typeface="Montserrat Black"/>
                  <a:ea typeface="Montserrat Black"/>
                  <a:cs typeface="Montserrat Black"/>
                  <a:sym typeface="Montserrat Black"/>
                </a:rPr>
                <a:t> DISCOVER OPPORTUNITIES</a:t>
              </a:r>
              <a:endParaRPr b="0" sz="950"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GB" sz="750">
                  <a:solidFill>
                    <a:srgbClr val="9CA3AF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Algorithmic, precision matching connects highly qualified students directly to industry needs, </a:t>
              </a:r>
              <a:r>
                <a:rPr b="1" lang="en-GB" sz="750">
                  <a:solidFill>
                    <a:srgbClr val="10B981"/>
                  </a:solidFill>
                  <a:latin typeface="Inter"/>
                  <a:ea typeface="Inter"/>
                  <a:cs typeface="Inter"/>
                  <a:sym typeface="Inter"/>
                </a:rPr>
                <a:t>eliminating traditional credential noise</a:t>
              </a:r>
              <a:r>
                <a:rPr b="0" lang="en-GB" sz="750">
                  <a:solidFill>
                    <a:srgbClr val="9CA3AF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.</a:t>
              </a:r>
              <a:endParaRPr b="0" sz="750">
                <a:solidFill>
                  <a:srgbClr val="9CA3AF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</p:txBody>
        </p:sp>
      </p:grpSp>
      <p:cxnSp>
        <p:nvCxnSpPr>
          <p:cNvPr id="374" name="Google Shape;374;p23"/>
          <p:cNvCxnSpPr/>
          <p:nvPr/>
        </p:nvCxnSpPr>
        <p:spPr>
          <a:xfrm>
            <a:off x="952500" y="4333875"/>
            <a:ext cx="72390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22222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5" name="Google Shape;375;p23"/>
          <p:cNvSpPr txBox="1"/>
          <p:nvPr/>
        </p:nvSpPr>
        <p:spPr>
          <a:xfrm>
            <a:off x="952500" y="4429125"/>
            <a:ext cx="36195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765">
                <a:solidFill>
                  <a:srgbClr val="9CA3AF"/>
                </a:solidFill>
                <a:latin typeface="Space Mono"/>
                <a:ea typeface="Space Mono"/>
                <a:cs typeface="Space Mono"/>
                <a:sym typeface="Space Mono"/>
              </a:rPr>
              <a:t>TEAM: COFFETOTODE</a:t>
            </a:r>
            <a:endParaRPr b="0" sz="765">
              <a:solidFill>
                <a:srgbClr val="9CA3AF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376" name="Google Shape;376;p23"/>
          <p:cNvSpPr txBox="1"/>
          <p:nvPr/>
        </p:nvSpPr>
        <p:spPr>
          <a:xfrm>
            <a:off x="4572000" y="4429125"/>
            <a:ext cx="36195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765">
                <a:solidFill>
                  <a:srgbClr val="9CA3AF"/>
                </a:solidFill>
                <a:latin typeface="Space Mono"/>
                <a:ea typeface="Space Mono"/>
                <a:cs typeface="Space Mono"/>
                <a:sym typeface="Space Mono"/>
              </a:rPr>
              <a:t>PROBLEM: SIH26044</a:t>
            </a:r>
            <a:endParaRPr b="0" sz="765">
              <a:solidFill>
                <a:srgbClr val="9CA3AF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2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82" name="Google Shape;382;p24"/>
          <p:cNvGrpSpPr/>
          <p:nvPr/>
        </p:nvGrpSpPr>
        <p:grpSpPr>
          <a:xfrm>
            <a:off x="3048000" y="333375"/>
            <a:ext cx="3048000" cy="228600"/>
            <a:chOff x="0" y="0"/>
            <a:chExt cx="3048000" cy="228600"/>
          </a:xfrm>
        </p:grpSpPr>
        <p:sp>
          <p:nvSpPr>
            <p:cNvPr id="383" name="Google Shape;383;p24"/>
            <p:cNvSpPr/>
            <p:nvPr/>
          </p:nvSpPr>
          <p:spPr>
            <a:xfrm>
              <a:off x="0" y="0"/>
              <a:ext cx="3048000" cy="228600"/>
            </a:xfrm>
            <a:prstGeom prst="roundRect">
              <a:avLst>
                <a:gd fmla="val 50000" name="adj"/>
              </a:avLst>
            </a:prstGeom>
            <a:solidFill>
              <a:srgbClr val="000000">
                <a:alpha val="0"/>
              </a:srgbClr>
            </a:solidFill>
            <a:ln cap="flat" cmpd="sng" w="14300">
              <a:solidFill>
                <a:srgbClr val="EF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24"/>
            <p:cNvSpPr txBox="1"/>
            <p:nvPr/>
          </p:nvSpPr>
          <p:spPr>
            <a:xfrm>
              <a:off x="0" y="0"/>
              <a:ext cx="3048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765">
                  <a:solidFill>
                    <a:srgbClr val="EF4444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SIH 2026 | USER JOURNEY TRANSFORMATION</a:t>
              </a:r>
              <a:endParaRPr b="0" sz="765">
                <a:solidFill>
                  <a:srgbClr val="EF4444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sp>
        <p:nvSpPr>
          <p:cNvPr id="385" name="Google Shape;385;p24"/>
          <p:cNvSpPr txBox="1"/>
          <p:nvPr/>
        </p:nvSpPr>
        <p:spPr>
          <a:xfrm>
            <a:off x="762000" y="666750"/>
            <a:ext cx="76200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00"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FROM CONFUSION TO CLARITY</a:t>
            </a:r>
            <a:endParaRPr b="0" sz="1800">
              <a:solidFill>
                <a:srgbClr val="FFFFFF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386" name="Google Shape;386;p24"/>
          <p:cNvSpPr txBox="1"/>
          <p:nvPr/>
        </p:nvSpPr>
        <p:spPr>
          <a:xfrm>
            <a:off x="762000" y="1143000"/>
            <a:ext cx="1905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800">
                <a:solidFill>
                  <a:srgbClr val="9CA3AF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CURRENT SCATTERED JOURNEY</a:t>
            </a:r>
            <a:endParaRPr b="0" sz="800">
              <a:solidFill>
                <a:srgbClr val="9CA3AF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grpSp>
        <p:nvGrpSpPr>
          <p:cNvPr id="387" name="Google Shape;387;p24"/>
          <p:cNvGrpSpPr/>
          <p:nvPr/>
        </p:nvGrpSpPr>
        <p:grpSpPr>
          <a:xfrm>
            <a:off x="762000" y="1381125"/>
            <a:ext cx="1295400" cy="809700"/>
            <a:chOff x="0" y="0"/>
            <a:chExt cx="1295400" cy="809700"/>
          </a:xfrm>
        </p:grpSpPr>
        <p:sp>
          <p:nvSpPr>
            <p:cNvPr id="388" name="Google Shape;388;p24"/>
            <p:cNvSpPr/>
            <p:nvPr/>
          </p:nvSpPr>
          <p:spPr>
            <a:xfrm>
              <a:off x="0" y="0"/>
              <a:ext cx="1295400" cy="809700"/>
            </a:xfrm>
            <a:prstGeom prst="roundRect">
              <a:avLst>
                <a:gd fmla="val 9411" name="adj"/>
              </a:avLst>
            </a:prstGeom>
            <a:solidFill>
              <a:srgbClr val="121214"/>
            </a:solidFill>
            <a:ln cap="flat" cmpd="sng" w="9525">
              <a:solidFill>
                <a:srgbClr val="2222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24"/>
            <p:cNvSpPr txBox="1"/>
            <p:nvPr/>
          </p:nvSpPr>
          <p:spPr>
            <a:xfrm>
              <a:off x="114300" y="114300"/>
              <a:ext cx="1066800" cy="58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400">
                  <a:solidFill>
                    <a:srgbClr val="4B5563"/>
                  </a:solidFill>
                  <a:latin typeface="Montserrat Black"/>
                  <a:ea typeface="Montserrat Black"/>
                  <a:cs typeface="Montserrat Black"/>
                  <a:sym typeface="Montserrat Black"/>
                </a:rPr>
                <a:t>01</a:t>
              </a:r>
              <a:endParaRPr b="0" sz="1400">
                <a:solidFill>
                  <a:srgbClr val="4B5563"/>
                </a:solidFill>
                <a:latin typeface="Montserrat Black"/>
                <a:ea typeface="Montserrat Black"/>
                <a:cs typeface="Montserrat Black"/>
                <a:sym typeface="Montserrat Black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-GB" sz="8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STUDENT</a:t>
              </a:r>
              <a:endParaRPr b="1" sz="8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-GB" sz="750">
                  <a:solidFill>
                    <a:srgbClr val="9CA3AF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No single path</a:t>
              </a:r>
              <a:endParaRPr b="0" sz="750">
                <a:solidFill>
                  <a:srgbClr val="9CA3AF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</p:txBody>
        </p:sp>
      </p:grpSp>
      <p:sp>
        <p:nvSpPr>
          <p:cNvPr id="390" name="Google Shape;390;p24"/>
          <p:cNvSpPr/>
          <p:nvPr/>
        </p:nvSpPr>
        <p:spPr>
          <a:xfrm>
            <a:off x="2114550" y="1785938"/>
            <a:ext cx="19050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</a:path>
            </a:pathLst>
          </a:custGeom>
          <a:solidFill>
            <a:srgbClr val="000000">
              <a:alpha val="0"/>
            </a:srgbClr>
          </a:solidFill>
          <a:ln cap="flat" cmpd="sng" w="14300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24"/>
          <p:cNvSpPr/>
          <p:nvPr/>
        </p:nvSpPr>
        <p:spPr>
          <a:xfrm>
            <a:off x="2305050" y="1752600"/>
            <a:ext cx="57300" cy="66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6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37415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2" name="Google Shape;392;p24"/>
          <p:cNvGrpSpPr/>
          <p:nvPr/>
        </p:nvGrpSpPr>
        <p:grpSpPr>
          <a:xfrm>
            <a:off x="2419350" y="1381125"/>
            <a:ext cx="1295400" cy="809700"/>
            <a:chOff x="0" y="0"/>
            <a:chExt cx="1295400" cy="809700"/>
          </a:xfrm>
        </p:grpSpPr>
        <p:sp>
          <p:nvSpPr>
            <p:cNvPr id="393" name="Google Shape;393;p24"/>
            <p:cNvSpPr/>
            <p:nvPr/>
          </p:nvSpPr>
          <p:spPr>
            <a:xfrm>
              <a:off x="0" y="0"/>
              <a:ext cx="1295400" cy="809700"/>
            </a:xfrm>
            <a:prstGeom prst="roundRect">
              <a:avLst>
                <a:gd fmla="val 9411" name="adj"/>
              </a:avLst>
            </a:prstGeom>
            <a:solidFill>
              <a:srgbClr val="121214"/>
            </a:solidFill>
            <a:ln cap="flat" cmpd="sng" w="9525">
              <a:solidFill>
                <a:srgbClr val="2222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24"/>
            <p:cNvSpPr txBox="1"/>
            <p:nvPr/>
          </p:nvSpPr>
          <p:spPr>
            <a:xfrm>
              <a:off x="114300" y="114300"/>
              <a:ext cx="1066800" cy="58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400">
                  <a:solidFill>
                    <a:srgbClr val="4B5563"/>
                  </a:solidFill>
                  <a:latin typeface="Montserrat Black"/>
                  <a:ea typeface="Montserrat Black"/>
                  <a:cs typeface="Montserrat Black"/>
                  <a:sym typeface="Montserrat Black"/>
                </a:rPr>
                <a:t>02</a:t>
              </a:r>
              <a:endParaRPr b="0" sz="1400">
                <a:solidFill>
                  <a:srgbClr val="4B5563"/>
                </a:solidFill>
                <a:latin typeface="Montserrat Black"/>
                <a:ea typeface="Montserrat Black"/>
                <a:cs typeface="Montserrat Black"/>
                <a:sym typeface="Montserrat Black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-GB" sz="8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MULTIPLE PLATS</a:t>
              </a:r>
              <a:endParaRPr b="1" sz="8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-GB" sz="750">
                  <a:solidFill>
                    <a:srgbClr val="9CA3AF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Disjointed tools</a:t>
              </a:r>
              <a:endParaRPr b="0" sz="750">
                <a:solidFill>
                  <a:srgbClr val="9CA3AF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</p:txBody>
        </p:sp>
      </p:grpSp>
      <p:sp>
        <p:nvSpPr>
          <p:cNvPr id="395" name="Google Shape;395;p24"/>
          <p:cNvSpPr/>
          <p:nvPr/>
        </p:nvSpPr>
        <p:spPr>
          <a:xfrm>
            <a:off x="3771900" y="1785938"/>
            <a:ext cx="19050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</a:path>
            </a:pathLst>
          </a:custGeom>
          <a:solidFill>
            <a:srgbClr val="000000">
              <a:alpha val="0"/>
            </a:srgbClr>
          </a:solidFill>
          <a:ln cap="flat" cmpd="sng" w="14300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24"/>
          <p:cNvSpPr/>
          <p:nvPr/>
        </p:nvSpPr>
        <p:spPr>
          <a:xfrm>
            <a:off x="3962400" y="1752600"/>
            <a:ext cx="57300" cy="66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6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37415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7" name="Google Shape;397;p24"/>
          <p:cNvGrpSpPr/>
          <p:nvPr/>
        </p:nvGrpSpPr>
        <p:grpSpPr>
          <a:xfrm>
            <a:off x="4076700" y="1381125"/>
            <a:ext cx="1295400" cy="809700"/>
            <a:chOff x="0" y="0"/>
            <a:chExt cx="1295400" cy="809700"/>
          </a:xfrm>
        </p:grpSpPr>
        <p:sp>
          <p:nvSpPr>
            <p:cNvPr id="398" name="Google Shape;398;p24"/>
            <p:cNvSpPr/>
            <p:nvPr/>
          </p:nvSpPr>
          <p:spPr>
            <a:xfrm>
              <a:off x="0" y="0"/>
              <a:ext cx="1295400" cy="809700"/>
            </a:xfrm>
            <a:prstGeom prst="roundRect">
              <a:avLst>
                <a:gd fmla="val 9411" name="adj"/>
              </a:avLst>
            </a:prstGeom>
            <a:solidFill>
              <a:srgbClr val="121214"/>
            </a:solidFill>
            <a:ln cap="flat" cmpd="sng" w="9525">
              <a:solidFill>
                <a:srgbClr val="2222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24"/>
            <p:cNvSpPr txBox="1"/>
            <p:nvPr/>
          </p:nvSpPr>
          <p:spPr>
            <a:xfrm>
              <a:off x="114300" y="114300"/>
              <a:ext cx="1066800" cy="58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400">
                  <a:solidFill>
                    <a:srgbClr val="4B5563"/>
                  </a:solidFill>
                  <a:latin typeface="Montserrat Black"/>
                  <a:ea typeface="Montserrat Black"/>
                  <a:cs typeface="Montserrat Black"/>
                  <a:sym typeface="Montserrat Black"/>
                </a:rPr>
                <a:t>03</a:t>
              </a:r>
              <a:endParaRPr b="0" sz="1400">
                <a:solidFill>
                  <a:srgbClr val="4B5563"/>
                </a:solidFill>
                <a:latin typeface="Montserrat Black"/>
                <a:ea typeface="Montserrat Black"/>
                <a:cs typeface="Montserrat Black"/>
                <a:sym typeface="Montserrat Black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-GB" sz="8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SCATTERED INFO</a:t>
              </a:r>
              <a:endParaRPr b="1" sz="8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-GB" sz="750">
                  <a:solidFill>
                    <a:srgbClr val="9CA3AF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Unverified sources</a:t>
              </a:r>
              <a:endParaRPr b="0" sz="750">
                <a:solidFill>
                  <a:srgbClr val="9CA3AF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</p:txBody>
        </p:sp>
      </p:grpSp>
      <p:sp>
        <p:nvSpPr>
          <p:cNvPr id="400" name="Google Shape;400;p24"/>
          <p:cNvSpPr/>
          <p:nvPr/>
        </p:nvSpPr>
        <p:spPr>
          <a:xfrm>
            <a:off x="5429250" y="1785938"/>
            <a:ext cx="19050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</a:path>
            </a:pathLst>
          </a:custGeom>
          <a:solidFill>
            <a:srgbClr val="000000">
              <a:alpha val="0"/>
            </a:srgbClr>
          </a:solidFill>
          <a:ln cap="flat" cmpd="sng" w="14300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24"/>
          <p:cNvSpPr/>
          <p:nvPr/>
        </p:nvSpPr>
        <p:spPr>
          <a:xfrm>
            <a:off x="5619750" y="1752600"/>
            <a:ext cx="57300" cy="66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6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37415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02" name="Google Shape;402;p24"/>
          <p:cNvGrpSpPr/>
          <p:nvPr/>
        </p:nvGrpSpPr>
        <p:grpSpPr>
          <a:xfrm>
            <a:off x="5734050" y="1381125"/>
            <a:ext cx="1295400" cy="809700"/>
            <a:chOff x="0" y="0"/>
            <a:chExt cx="1295400" cy="809700"/>
          </a:xfrm>
        </p:grpSpPr>
        <p:sp>
          <p:nvSpPr>
            <p:cNvPr id="403" name="Google Shape;403;p24"/>
            <p:cNvSpPr/>
            <p:nvPr/>
          </p:nvSpPr>
          <p:spPr>
            <a:xfrm>
              <a:off x="0" y="0"/>
              <a:ext cx="1295400" cy="809700"/>
            </a:xfrm>
            <a:prstGeom prst="roundRect">
              <a:avLst>
                <a:gd fmla="val 9411" name="adj"/>
              </a:avLst>
            </a:prstGeom>
            <a:solidFill>
              <a:srgbClr val="121214"/>
            </a:solidFill>
            <a:ln cap="flat" cmpd="sng" w="9525">
              <a:solidFill>
                <a:srgbClr val="2222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24"/>
            <p:cNvSpPr txBox="1"/>
            <p:nvPr/>
          </p:nvSpPr>
          <p:spPr>
            <a:xfrm>
              <a:off x="114300" y="114300"/>
              <a:ext cx="1066800" cy="58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400">
                  <a:solidFill>
                    <a:srgbClr val="4B5563"/>
                  </a:solidFill>
                  <a:latin typeface="Montserrat Black"/>
                  <a:ea typeface="Montserrat Black"/>
                  <a:cs typeface="Montserrat Black"/>
                  <a:sym typeface="Montserrat Black"/>
                </a:rPr>
                <a:t>04</a:t>
              </a:r>
              <a:endParaRPr b="0" sz="1400">
                <a:solidFill>
                  <a:srgbClr val="4B5563"/>
                </a:solidFill>
                <a:latin typeface="Montserrat Black"/>
                <a:ea typeface="Montserrat Black"/>
                <a:cs typeface="Montserrat Black"/>
                <a:sym typeface="Montserrat Black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-GB" sz="8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UNCLEAR SKILLS</a:t>
              </a:r>
              <a:endParaRPr b="1" sz="8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-GB" sz="750">
                  <a:solidFill>
                    <a:srgbClr val="9CA3AF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Competency gaps</a:t>
              </a:r>
              <a:endParaRPr b="0" sz="750">
                <a:solidFill>
                  <a:srgbClr val="9CA3AF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</p:txBody>
        </p:sp>
      </p:grpSp>
      <p:sp>
        <p:nvSpPr>
          <p:cNvPr id="405" name="Google Shape;405;p24"/>
          <p:cNvSpPr/>
          <p:nvPr/>
        </p:nvSpPr>
        <p:spPr>
          <a:xfrm>
            <a:off x="7086600" y="1785938"/>
            <a:ext cx="19050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</a:path>
            </a:pathLst>
          </a:custGeom>
          <a:solidFill>
            <a:srgbClr val="000000">
              <a:alpha val="0"/>
            </a:srgbClr>
          </a:solidFill>
          <a:ln cap="flat" cmpd="sng" w="14300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24"/>
          <p:cNvSpPr/>
          <p:nvPr/>
        </p:nvSpPr>
        <p:spPr>
          <a:xfrm>
            <a:off x="7277100" y="1752600"/>
            <a:ext cx="57300" cy="66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6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37415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07" name="Google Shape;407;p24"/>
          <p:cNvGrpSpPr/>
          <p:nvPr/>
        </p:nvGrpSpPr>
        <p:grpSpPr>
          <a:xfrm>
            <a:off x="7391400" y="1266825"/>
            <a:ext cx="990600" cy="924000"/>
            <a:chOff x="0" y="-114300"/>
            <a:chExt cx="990600" cy="924000"/>
          </a:xfrm>
        </p:grpSpPr>
        <p:sp>
          <p:nvSpPr>
            <p:cNvPr id="408" name="Google Shape;408;p24"/>
            <p:cNvSpPr/>
            <p:nvPr/>
          </p:nvSpPr>
          <p:spPr>
            <a:xfrm>
              <a:off x="0" y="0"/>
              <a:ext cx="990600" cy="809700"/>
            </a:xfrm>
            <a:prstGeom prst="roundRect">
              <a:avLst>
                <a:gd fmla="val 9411" name="adj"/>
              </a:avLst>
            </a:prstGeom>
            <a:solidFill>
              <a:srgbClr val="121214"/>
            </a:solidFill>
            <a:ln cap="flat" cmpd="sng" w="9525">
              <a:solidFill>
                <a:srgbClr val="2222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24"/>
            <p:cNvSpPr/>
            <p:nvPr/>
          </p:nvSpPr>
          <p:spPr>
            <a:xfrm>
              <a:off x="457200" y="-114300"/>
              <a:ext cx="76200" cy="762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24"/>
            <p:cNvSpPr txBox="1"/>
            <p:nvPr/>
          </p:nvSpPr>
          <p:spPr>
            <a:xfrm>
              <a:off x="95250" y="114300"/>
              <a:ext cx="800100" cy="58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400">
                  <a:solidFill>
                    <a:srgbClr val="EF4444"/>
                  </a:solidFill>
                  <a:latin typeface="Montserrat Black"/>
                  <a:ea typeface="Montserrat Black"/>
                  <a:cs typeface="Montserrat Black"/>
                  <a:sym typeface="Montserrat Black"/>
                </a:rPr>
                <a:t>05</a:t>
              </a:r>
              <a:endParaRPr b="0" sz="1400">
                <a:solidFill>
                  <a:srgbClr val="EF4444"/>
                </a:solidFill>
                <a:latin typeface="Montserrat Black"/>
                <a:ea typeface="Montserrat Black"/>
                <a:cs typeface="Montserrat Black"/>
                <a:sym typeface="Montserrat Black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-GB" sz="8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MISSED OPPS</a:t>
              </a:r>
              <a:endParaRPr b="1" sz="8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-GB" sz="750">
                  <a:solidFill>
                    <a:srgbClr val="9CA3AF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Loss of potential</a:t>
              </a:r>
              <a:endParaRPr b="0" sz="750">
                <a:solidFill>
                  <a:srgbClr val="9CA3AF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</p:txBody>
        </p:sp>
      </p:grpSp>
      <p:sp>
        <p:nvSpPr>
          <p:cNvPr id="411" name="Google Shape;411;p24"/>
          <p:cNvSpPr txBox="1"/>
          <p:nvPr/>
        </p:nvSpPr>
        <p:spPr>
          <a:xfrm>
            <a:off x="762000" y="2524125"/>
            <a:ext cx="1905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800">
                <a:solidFill>
                  <a:srgbClr val="10B98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SKILLBRIDGE UNIFIED JOURNEY</a:t>
            </a:r>
            <a:endParaRPr b="0" sz="800">
              <a:solidFill>
                <a:srgbClr val="10B98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grpSp>
        <p:nvGrpSpPr>
          <p:cNvPr id="412" name="Google Shape;412;p24"/>
          <p:cNvGrpSpPr/>
          <p:nvPr/>
        </p:nvGrpSpPr>
        <p:grpSpPr>
          <a:xfrm>
            <a:off x="762000" y="2762250"/>
            <a:ext cx="1295400" cy="1047900"/>
            <a:chOff x="0" y="0"/>
            <a:chExt cx="1295400" cy="1047900"/>
          </a:xfrm>
        </p:grpSpPr>
        <p:sp>
          <p:nvSpPr>
            <p:cNvPr id="413" name="Google Shape;413;p24"/>
            <p:cNvSpPr/>
            <p:nvPr/>
          </p:nvSpPr>
          <p:spPr>
            <a:xfrm>
              <a:off x="0" y="0"/>
              <a:ext cx="1295400" cy="1047900"/>
            </a:xfrm>
            <a:prstGeom prst="roundRect">
              <a:avLst>
                <a:gd fmla="val 7272" name="adj"/>
              </a:avLst>
            </a:prstGeom>
            <a:solidFill>
              <a:srgbClr val="064E3B">
                <a:alpha val="20000"/>
              </a:srgbClr>
            </a:solidFill>
            <a:ln cap="flat" cmpd="sng" w="14300">
              <a:solidFill>
                <a:srgbClr val="10B98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24"/>
            <p:cNvSpPr txBox="1"/>
            <p:nvPr/>
          </p:nvSpPr>
          <p:spPr>
            <a:xfrm>
              <a:off x="114300" y="114300"/>
              <a:ext cx="1066800" cy="81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400">
                  <a:solidFill>
                    <a:srgbClr val="10B981"/>
                  </a:solidFill>
                  <a:latin typeface="Montserrat Black"/>
                  <a:ea typeface="Montserrat Black"/>
                  <a:cs typeface="Montserrat Black"/>
                  <a:sym typeface="Montserrat Black"/>
                </a:rPr>
                <a:t>01</a:t>
              </a:r>
              <a:endParaRPr b="0" sz="1400">
                <a:solidFill>
                  <a:srgbClr val="10B981"/>
                </a:solidFill>
                <a:latin typeface="Montserrat Black"/>
                <a:ea typeface="Montserrat Black"/>
                <a:cs typeface="Montserrat Black"/>
                <a:sym typeface="Montserrat Black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1" lang="en-GB" sz="8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PROFILE</a:t>
              </a:r>
              <a:endParaRPr b="1" sz="8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-GB" sz="750">
                  <a:solidFill>
                    <a:srgbClr val="A7F3D0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Unified verified identity</a:t>
              </a:r>
              <a:endParaRPr b="0" sz="750">
                <a:solidFill>
                  <a:srgbClr val="A7F3D0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</p:txBody>
        </p:sp>
      </p:grpSp>
      <p:sp>
        <p:nvSpPr>
          <p:cNvPr id="415" name="Google Shape;415;p24"/>
          <p:cNvSpPr/>
          <p:nvPr/>
        </p:nvSpPr>
        <p:spPr>
          <a:xfrm>
            <a:off x="2114550" y="3286125"/>
            <a:ext cx="19050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</a:path>
            </a:pathLst>
          </a:custGeom>
          <a:solidFill>
            <a:srgbClr val="000000">
              <a:alpha val="0"/>
            </a:srgbClr>
          </a:solidFill>
          <a:ln cap="flat" cmpd="sng" w="1905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24"/>
          <p:cNvSpPr/>
          <p:nvPr/>
        </p:nvSpPr>
        <p:spPr>
          <a:xfrm>
            <a:off x="2305050" y="3248025"/>
            <a:ext cx="57300" cy="76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6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10B98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17" name="Google Shape;417;p24"/>
          <p:cNvGrpSpPr/>
          <p:nvPr/>
        </p:nvGrpSpPr>
        <p:grpSpPr>
          <a:xfrm>
            <a:off x="2419350" y="2762250"/>
            <a:ext cx="1295400" cy="1047900"/>
            <a:chOff x="0" y="0"/>
            <a:chExt cx="1295400" cy="1047900"/>
          </a:xfrm>
        </p:grpSpPr>
        <p:sp>
          <p:nvSpPr>
            <p:cNvPr id="418" name="Google Shape;418;p24"/>
            <p:cNvSpPr/>
            <p:nvPr/>
          </p:nvSpPr>
          <p:spPr>
            <a:xfrm>
              <a:off x="0" y="0"/>
              <a:ext cx="1295400" cy="1047900"/>
            </a:xfrm>
            <a:prstGeom prst="roundRect">
              <a:avLst>
                <a:gd fmla="val 7272" name="adj"/>
              </a:avLst>
            </a:prstGeom>
            <a:solidFill>
              <a:srgbClr val="064E3B">
                <a:alpha val="20000"/>
              </a:srgbClr>
            </a:solidFill>
            <a:ln cap="flat" cmpd="sng" w="14300">
              <a:solidFill>
                <a:srgbClr val="10B98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24"/>
            <p:cNvSpPr txBox="1"/>
            <p:nvPr/>
          </p:nvSpPr>
          <p:spPr>
            <a:xfrm>
              <a:off x="114300" y="114300"/>
              <a:ext cx="1066800" cy="81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400">
                  <a:solidFill>
                    <a:srgbClr val="10B981"/>
                  </a:solidFill>
                  <a:latin typeface="Montserrat Black"/>
                  <a:ea typeface="Montserrat Black"/>
                  <a:cs typeface="Montserrat Black"/>
                  <a:sym typeface="Montserrat Black"/>
                </a:rPr>
                <a:t>02</a:t>
              </a:r>
              <a:endParaRPr b="0" sz="1400">
                <a:solidFill>
                  <a:srgbClr val="10B981"/>
                </a:solidFill>
                <a:latin typeface="Montserrat Black"/>
                <a:ea typeface="Montserrat Black"/>
                <a:cs typeface="Montserrat Black"/>
                <a:sym typeface="Montserrat Black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1" lang="en-GB" sz="8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SKILL MAPPING</a:t>
              </a:r>
              <a:endParaRPr b="1" sz="8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-GB" sz="750">
                  <a:solidFill>
                    <a:srgbClr val="A7F3D0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Competencies structured</a:t>
              </a:r>
              <a:endParaRPr b="0" sz="750">
                <a:solidFill>
                  <a:srgbClr val="A7F3D0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</p:txBody>
        </p:sp>
      </p:grpSp>
      <p:sp>
        <p:nvSpPr>
          <p:cNvPr id="420" name="Google Shape;420;p24"/>
          <p:cNvSpPr/>
          <p:nvPr/>
        </p:nvSpPr>
        <p:spPr>
          <a:xfrm>
            <a:off x="3771900" y="3286125"/>
            <a:ext cx="19050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</a:path>
            </a:pathLst>
          </a:custGeom>
          <a:solidFill>
            <a:srgbClr val="000000">
              <a:alpha val="0"/>
            </a:srgbClr>
          </a:solidFill>
          <a:ln cap="flat" cmpd="sng" w="1905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24"/>
          <p:cNvSpPr/>
          <p:nvPr/>
        </p:nvSpPr>
        <p:spPr>
          <a:xfrm>
            <a:off x="3962400" y="3248025"/>
            <a:ext cx="57300" cy="76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6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10B98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2" name="Google Shape;422;p24"/>
          <p:cNvGrpSpPr/>
          <p:nvPr/>
        </p:nvGrpSpPr>
        <p:grpSpPr>
          <a:xfrm>
            <a:off x="4076700" y="2762250"/>
            <a:ext cx="1295400" cy="1047900"/>
            <a:chOff x="0" y="0"/>
            <a:chExt cx="1295400" cy="1047900"/>
          </a:xfrm>
        </p:grpSpPr>
        <p:sp>
          <p:nvSpPr>
            <p:cNvPr id="423" name="Google Shape;423;p24"/>
            <p:cNvSpPr/>
            <p:nvPr/>
          </p:nvSpPr>
          <p:spPr>
            <a:xfrm>
              <a:off x="0" y="0"/>
              <a:ext cx="1295400" cy="1047900"/>
            </a:xfrm>
            <a:prstGeom prst="roundRect">
              <a:avLst>
                <a:gd fmla="val 7272" name="adj"/>
              </a:avLst>
            </a:prstGeom>
            <a:solidFill>
              <a:srgbClr val="064E3B">
                <a:alpha val="20000"/>
              </a:srgbClr>
            </a:solidFill>
            <a:ln cap="flat" cmpd="sng" w="14300">
              <a:solidFill>
                <a:srgbClr val="10B98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24"/>
            <p:cNvSpPr txBox="1"/>
            <p:nvPr/>
          </p:nvSpPr>
          <p:spPr>
            <a:xfrm>
              <a:off x="114300" y="114300"/>
              <a:ext cx="1066800" cy="81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400">
                  <a:solidFill>
                    <a:srgbClr val="10B981"/>
                  </a:solidFill>
                  <a:latin typeface="Montserrat Black"/>
                  <a:ea typeface="Montserrat Black"/>
                  <a:cs typeface="Montserrat Black"/>
                  <a:sym typeface="Montserrat Black"/>
                </a:rPr>
                <a:t>03</a:t>
              </a:r>
              <a:endParaRPr b="0" sz="1400">
                <a:solidFill>
                  <a:srgbClr val="10B981"/>
                </a:solidFill>
                <a:latin typeface="Montserrat Black"/>
                <a:ea typeface="Montserrat Black"/>
                <a:cs typeface="Montserrat Black"/>
                <a:sym typeface="Montserrat Black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1" lang="en-GB" sz="8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GAP ANALYSIS</a:t>
              </a:r>
              <a:endParaRPr b="1" sz="8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-GB" sz="750">
                  <a:solidFill>
                    <a:srgbClr val="A7F3D0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Instant deficiency metrics</a:t>
              </a:r>
              <a:endParaRPr b="0" sz="750">
                <a:solidFill>
                  <a:srgbClr val="A7F3D0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</p:txBody>
        </p:sp>
      </p:grpSp>
      <p:sp>
        <p:nvSpPr>
          <p:cNvPr id="425" name="Google Shape;425;p24"/>
          <p:cNvSpPr/>
          <p:nvPr/>
        </p:nvSpPr>
        <p:spPr>
          <a:xfrm>
            <a:off x="5429250" y="3286125"/>
            <a:ext cx="19050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</a:path>
            </a:pathLst>
          </a:custGeom>
          <a:solidFill>
            <a:srgbClr val="000000">
              <a:alpha val="0"/>
            </a:srgbClr>
          </a:solidFill>
          <a:ln cap="flat" cmpd="sng" w="1905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24"/>
          <p:cNvSpPr/>
          <p:nvPr/>
        </p:nvSpPr>
        <p:spPr>
          <a:xfrm>
            <a:off x="5619750" y="3248025"/>
            <a:ext cx="57300" cy="76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6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10B98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7" name="Google Shape;427;p24"/>
          <p:cNvGrpSpPr/>
          <p:nvPr/>
        </p:nvGrpSpPr>
        <p:grpSpPr>
          <a:xfrm>
            <a:off x="5734050" y="2762250"/>
            <a:ext cx="1295400" cy="1047900"/>
            <a:chOff x="0" y="0"/>
            <a:chExt cx="1295400" cy="1047900"/>
          </a:xfrm>
        </p:grpSpPr>
        <p:sp>
          <p:nvSpPr>
            <p:cNvPr id="428" name="Google Shape;428;p24"/>
            <p:cNvSpPr/>
            <p:nvPr/>
          </p:nvSpPr>
          <p:spPr>
            <a:xfrm>
              <a:off x="0" y="0"/>
              <a:ext cx="1295400" cy="1047900"/>
            </a:xfrm>
            <a:prstGeom prst="roundRect">
              <a:avLst>
                <a:gd fmla="val 7272" name="adj"/>
              </a:avLst>
            </a:prstGeom>
            <a:solidFill>
              <a:srgbClr val="064E3B">
                <a:alpha val="20000"/>
              </a:srgbClr>
            </a:solidFill>
            <a:ln cap="flat" cmpd="sng" w="14300">
              <a:solidFill>
                <a:srgbClr val="10B98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24"/>
            <p:cNvSpPr txBox="1"/>
            <p:nvPr/>
          </p:nvSpPr>
          <p:spPr>
            <a:xfrm>
              <a:off x="114300" y="114300"/>
              <a:ext cx="1066800" cy="81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400">
                  <a:solidFill>
                    <a:srgbClr val="10B981"/>
                  </a:solidFill>
                  <a:latin typeface="Montserrat Black"/>
                  <a:ea typeface="Montserrat Black"/>
                  <a:cs typeface="Montserrat Black"/>
                  <a:sym typeface="Montserrat Black"/>
                </a:rPr>
                <a:t>04</a:t>
              </a:r>
              <a:endParaRPr b="0" sz="1400">
                <a:solidFill>
                  <a:srgbClr val="10B981"/>
                </a:solidFill>
                <a:latin typeface="Montserrat Black"/>
                <a:ea typeface="Montserrat Black"/>
                <a:cs typeface="Montserrat Black"/>
                <a:sym typeface="Montserrat Black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1" lang="en-GB" sz="8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PERSONALIZED</a:t>
              </a:r>
              <a:endParaRPr b="1" sz="8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-GB" sz="750">
                  <a:solidFill>
                    <a:srgbClr val="A7F3D0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Targeted learning pathways</a:t>
              </a:r>
              <a:endParaRPr b="0" sz="750">
                <a:solidFill>
                  <a:srgbClr val="A7F3D0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</p:txBody>
        </p:sp>
      </p:grpSp>
      <p:sp>
        <p:nvSpPr>
          <p:cNvPr id="430" name="Google Shape;430;p24"/>
          <p:cNvSpPr/>
          <p:nvPr/>
        </p:nvSpPr>
        <p:spPr>
          <a:xfrm>
            <a:off x="7086600" y="3286125"/>
            <a:ext cx="19050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</a:path>
            </a:pathLst>
          </a:custGeom>
          <a:solidFill>
            <a:srgbClr val="000000">
              <a:alpha val="0"/>
            </a:srgbClr>
          </a:solidFill>
          <a:ln cap="flat" cmpd="sng" w="1905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24"/>
          <p:cNvSpPr/>
          <p:nvPr/>
        </p:nvSpPr>
        <p:spPr>
          <a:xfrm>
            <a:off x="7277100" y="3248025"/>
            <a:ext cx="57300" cy="76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6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10B98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32" name="Google Shape;432;p24"/>
          <p:cNvGrpSpPr/>
          <p:nvPr/>
        </p:nvGrpSpPr>
        <p:grpSpPr>
          <a:xfrm>
            <a:off x="7391400" y="2647950"/>
            <a:ext cx="990600" cy="1162200"/>
            <a:chOff x="0" y="-114300"/>
            <a:chExt cx="990600" cy="1162200"/>
          </a:xfrm>
        </p:grpSpPr>
        <p:sp>
          <p:nvSpPr>
            <p:cNvPr id="433" name="Google Shape;433;p24"/>
            <p:cNvSpPr/>
            <p:nvPr/>
          </p:nvSpPr>
          <p:spPr>
            <a:xfrm>
              <a:off x="0" y="0"/>
              <a:ext cx="990600" cy="1047900"/>
            </a:xfrm>
            <a:prstGeom prst="roundRect">
              <a:avLst>
                <a:gd fmla="val 7692" name="adj"/>
              </a:avLst>
            </a:prstGeom>
            <a:solidFill>
              <a:srgbClr val="064E3B">
                <a:alpha val="20000"/>
              </a:srgbClr>
            </a:solidFill>
            <a:ln cap="flat" cmpd="sng" w="14300">
              <a:solidFill>
                <a:srgbClr val="10B98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24"/>
            <p:cNvSpPr/>
            <p:nvPr/>
          </p:nvSpPr>
          <p:spPr>
            <a:xfrm>
              <a:off x="457200" y="-114300"/>
              <a:ext cx="76200" cy="762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24"/>
            <p:cNvSpPr txBox="1"/>
            <p:nvPr/>
          </p:nvSpPr>
          <p:spPr>
            <a:xfrm>
              <a:off x="95250" y="114300"/>
              <a:ext cx="800100" cy="81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400">
                  <a:solidFill>
                    <a:srgbClr val="10B981"/>
                  </a:solidFill>
                  <a:latin typeface="Montserrat Black"/>
                  <a:ea typeface="Montserrat Black"/>
                  <a:cs typeface="Montserrat Black"/>
                  <a:sym typeface="Montserrat Black"/>
                </a:rPr>
                <a:t>05</a:t>
              </a:r>
              <a:endParaRPr b="0" sz="1400">
                <a:solidFill>
                  <a:srgbClr val="10B981"/>
                </a:solidFill>
                <a:latin typeface="Montserrat Black"/>
                <a:ea typeface="Montserrat Black"/>
                <a:cs typeface="Montserrat Black"/>
                <a:sym typeface="Montserrat Black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1" lang="en-GB" sz="8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MATCHING</a:t>
              </a:r>
              <a:endParaRPr b="1" sz="8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-GB" sz="750">
                  <a:solidFill>
                    <a:srgbClr val="A7F3D0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Direct pipeline connection</a:t>
              </a:r>
              <a:endParaRPr b="0" sz="750">
                <a:solidFill>
                  <a:srgbClr val="A7F3D0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</p:txBody>
        </p:sp>
      </p:grpSp>
      <p:cxnSp>
        <p:nvCxnSpPr>
          <p:cNvPr id="436" name="Google Shape;436;p24"/>
          <p:cNvCxnSpPr/>
          <p:nvPr/>
        </p:nvCxnSpPr>
        <p:spPr>
          <a:xfrm>
            <a:off x="952500" y="4333875"/>
            <a:ext cx="72390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22222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7" name="Google Shape;437;p24"/>
          <p:cNvSpPr txBox="1"/>
          <p:nvPr/>
        </p:nvSpPr>
        <p:spPr>
          <a:xfrm>
            <a:off x="952500" y="4429125"/>
            <a:ext cx="36195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765">
                <a:solidFill>
                  <a:srgbClr val="9CA3AF"/>
                </a:solidFill>
                <a:latin typeface="Space Mono"/>
                <a:ea typeface="Space Mono"/>
                <a:cs typeface="Space Mono"/>
                <a:sym typeface="Space Mono"/>
              </a:rPr>
              <a:t>TEAM: COFFETOTODE</a:t>
            </a:r>
            <a:endParaRPr b="0" sz="765">
              <a:solidFill>
                <a:srgbClr val="9CA3AF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438" name="Google Shape;438;p24"/>
          <p:cNvSpPr txBox="1"/>
          <p:nvPr/>
        </p:nvSpPr>
        <p:spPr>
          <a:xfrm>
            <a:off x="4572000" y="4429125"/>
            <a:ext cx="36195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765">
                <a:solidFill>
                  <a:srgbClr val="9CA3AF"/>
                </a:solidFill>
                <a:latin typeface="Space Mono"/>
                <a:ea typeface="Space Mono"/>
                <a:cs typeface="Space Mono"/>
                <a:sym typeface="Space Mono"/>
              </a:rPr>
              <a:t>PROBLEM: SIH26044</a:t>
            </a:r>
            <a:endParaRPr b="0" sz="765">
              <a:solidFill>
                <a:srgbClr val="9CA3AF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2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44" name="Google Shape;444;p25"/>
          <p:cNvGrpSpPr/>
          <p:nvPr/>
        </p:nvGrpSpPr>
        <p:grpSpPr>
          <a:xfrm>
            <a:off x="3048000" y="238125"/>
            <a:ext cx="3048000" cy="209700"/>
            <a:chOff x="0" y="0"/>
            <a:chExt cx="3048000" cy="209700"/>
          </a:xfrm>
        </p:grpSpPr>
        <p:sp>
          <p:nvSpPr>
            <p:cNvPr id="445" name="Google Shape;445;p25"/>
            <p:cNvSpPr/>
            <p:nvPr/>
          </p:nvSpPr>
          <p:spPr>
            <a:xfrm>
              <a:off x="0" y="0"/>
              <a:ext cx="3048000" cy="209700"/>
            </a:xfrm>
            <a:prstGeom prst="roundRect">
              <a:avLst>
                <a:gd fmla="val 50000" name="adj"/>
              </a:avLst>
            </a:prstGeom>
            <a:solidFill>
              <a:srgbClr val="000000">
                <a:alpha val="0"/>
              </a:srgbClr>
            </a:solidFill>
            <a:ln cap="flat" cmpd="sng" w="11425">
              <a:solidFill>
                <a:srgbClr val="EF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25"/>
            <p:cNvSpPr txBox="1"/>
            <p:nvPr/>
          </p:nvSpPr>
          <p:spPr>
            <a:xfrm>
              <a:off x="0" y="0"/>
              <a:ext cx="30480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638">
                  <a:solidFill>
                    <a:srgbClr val="EF4444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SIH 2026 | INTERACTIVE INTERFACE</a:t>
              </a:r>
              <a:endParaRPr b="0" sz="638">
                <a:solidFill>
                  <a:srgbClr val="EF4444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sp>
        <p:nvSpPr>
          <p:cNvPr id="447" name="Google Shape;447;p25"/>
          <p:cNvSpPr txBox="1"/>
          <p:nvPr/>
        </p:nvSpPr>
        <p:spPr>
          <a:xfrm>
            <a:off x="762000" y="514350"/>
            <a:ext cx="7620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00"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THE SKILLBRIDGE EXPERIENCE</a:t>
            </a:r>
            <a:endParaRPr b="0" sz="1800">
              <a:solidFill>
                <a:srgbClr val="FFFFFF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448" name="Google Shape;448;p25"/>
          <p:cNvSpPr txBox="1"/>
          <p:nvPr/>
        </p:nvSpPr>
        <p:spPr>
          <a:xfrm>
            <a:off x="762000" y="781050"/>
            <a:ext cx="76200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723">
                <a:solidFill>
                  <a:srgbClr val="9CA3AF"/>
                </a:solidFill>
                <a:latin typeface="Inter Light"/>
                <a:ea typeface="Inter Light"/>
                <a:cs typeface="Inter Light"/>
                <a:sym typeface="Inter Light"/>
              </a:rPr>
              <a:t>Know where you are. Know what you're missing. Know what comes next.</a:t>
            </a:r>
            <a:endParaRPr b="0" sz="723">
              <a:solidFill>
                <a:srgbClr val="9CA3AF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449" name="Google Shape;449;p25"/>
          <p:cNvSpPr/>
          <p:nvPr/>
        </p:nvSpPr>
        <p:spPr>
          <a:xfrm>
            <a:off x="381000" y="1066800"/>
            <a:ext cx="8382000" cy="3143400"/>
          </a:xfrm>
          <a:prstGeom prst="roundRect">
            <a:avLst>
              <a:gd fmla="val 3030" name="adj"/>
            </a:avLst>
          </a:prstGeom>
          <a:solidFill>
            <a:srgbClr val="121214"/>
          </a:solidFill>
          <a:ln cap="flat" cmpd="sng" w="9525">
            <a:solidFill>
              <a:srgbClr val="2222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50" name="Google Shape;450;p25"/>
          <p:cNvCxnSpPr/>
          <p:nvPr/>
        </p:nvCxnSpPr>
        <p:spPr>
          <a:xfrm>
            <a:off x="381000" y="1447800"/>
            <a:ext cx="83820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22222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451" name="Google Shape;451;p25"/>
          <p:cNvGrpSpPr/>
          <p:nvPr/>
        </p:nvGrpSpPr>
        <p:grpSpPr>
          <a:xfrm>
            <a:off x="585788" y="1214438"/>
            <a:ext cx="352500" cy="85800"/>
            <a:chOff x="52388" y="52388"/>
            <a:chExt cx="352500" cy="85800"/>
          </a:xfrm>
        </p:grpSpPr>
        <p:sp>
          <p:nvSpPr>
            <p:cNvPr id="452" name="Google Shape;452;p25"/>
            <p:cNvSpPr/>
            <p:nvPr/>
          </p:nvSpPr>
          <p:spPr>
            <a:xfrm>
              <a:off x="52388" y="52388"/>
              <a:ext cx="85800" cy="858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25"/>
            <p:cNvSpPr/>
            <p:nvPr/>
          </p:nvSpPr>
          <p:spPr>
            <a:xfrm>
              <a:off x="185738" y="52388"/>
              <a:ext cx="85800" cy="858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25"/>
            <p:cNvSpPr/>
            <p:nvPr/>
          </p:nvSpPr>
          <p:spPr>
            <a:xfrm>
              <a:off x="319088" y="52388"/>
              <a:ext cx="85800" cy="858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5" name="Google Shape;455;p25"/>
          <p:cNvGrpSpPr/>
          <p:nvPr/>
        </p:nvGrpSpPr>
        <p:grpSpPr>
          <a:xfrm>
            <a:off x="1095375" y="1133475"/>
            <a:ext cx="1714500" cy="228600"/>
            <a:chOff x="0" y="0"/>
            <a:chExt cx="1714500" cy="228600"/>
          </a:xfrm>
        </p:grpSpPr>
        <p:sp>
          <p:nvSpPr>
            <p:cNvPr id="456" name="Google Shape;456;p25"/>
            <p:cNvSpPr/>
            <p:nvPr/>
          </p:nvSpPr>
          <p:spPr>
            <a:xfrm>
              <a:off x="0" y="0"/>
              <a:ext cx="1714500" cy="228600"/>
            </a:xfrm>
            <a:prstGeom prst="roundRect">
              <a:avLst>
                <a:gd fmla="val 50000" name="adj"/>
              </a:avLst>
            </a:prstGeom>
            <a:solidFill>
              <a:srgbClr val="1A1A1E"/>
            </a:solidFill>
            <a:ln cap="flat" cmpd="sng" w="76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25"/>
            <p:cNvSpPr txBox="1"/>
            <p:nvPr/>
          </p:nvSpPr>
          <p:spPr>
            <a:xfrm>
              <a:off x="0" y="0"/>
              <a:ext cx="1714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1430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648">
                  <a:solidFill>
                    <a:srgbClr val="9CA3AF"/>
                  </a:solidFill>
                  <a:latin typeface="Inter"/>
                  <a:ea typeface="Inter"/>
                  <a:cs typeface="Inter"/>
                  <a:sym typeface="Inter"/>
                </a:rPr>
                <a:t>🔍 app.skillbridge.in/student/profile</a:t>
              </a:r>
              <a:endParaRPr b="0" sz="648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58" name="Google Shape;458;p25"/>
          <p:cNvGrpSpPr/>
          <p:nvPr/>
        </p:nvGrpSpPr>
        <p:grpSpPr>
          <a:xfrm>
            <a:off x="7524750" y="1171575"/>
            <a:ext cx="1086000" cy="171600"/>
            <a:chOff x="0" y="0"/>
            <a:chExt cx="1086000" cy="171600"/>
          </a:xfrm>
        </p:grpSpPr>
        <p:sp>
          <p:nvSpPr>
            <p:cNvPr id="459" name="Google Shape;459;p25"/>
            <p:cNvSpPr/>
            <p:nvPr/>
          </p:nvSpPr>
          <p:spPr>
            <a:xfrm>
              <a:off x="0" y="0"/>
              <a:ext cx="1086000" cy="171600"/>
            </a:xfrm>
            <a:prstGeom prst="roundRect">
              <a:avLst>
                <a:gd fmla="val 22222" name="adj"/>
              </a:avLst>
            </a:prstGeom>
            <a:solidFill>
              <a:srgbClr val="064E3B">
                <a:alpha val="40000"/>
              </a:srgbClr>
            </a:solidFill>
            <a:ln cap="flat" cmpd="sng" w="7625">
              <a:solidFill>
                <a:srgbClr val="10B98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25"/>
            <p:cNvSpPr txBox="1"/>
            <p:nvPr/>
          </p:nvSpPr>
          <p:spPr>
            <a:xfrm>
              <a:off x="0" y="0"/>
              <a:ext cx="1086000" cy="17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648">
                  <a:solidFill>
                    <a:srgbClr val="10B981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● LIVE DEMONSTRATION</a:t>
              </a:r>
              <a:endParaRPr b="0" sz="648">
                <a:solidFill>
                  <a:srgbClr val="10B981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461" name="Google Shape;461;p25"/>
          <p:cNvGrpSpPr/>
          <p:nvPr/>
        </p:nvGrpSpPr>
        <p:grpSpPr>
          <a:xfrm>
            <a:off x="533400" y="1600200"/>
            <a:ext cx="2552700" cy="1104900"/>
            <a:chOff x="0" y="0"/>
            <a:chExt cx="2552700" cy="1104900"/>
          </a:xfrm>
        </p:grpSpPr>
        <p:sp>
          <p:nvSpPr>
            <p:cNvPr id="462" name="Google Shape;462;p25"/>
            <p:cNvSpPr/>
            <p:nvPr/>
          </p:nvSpPr>
          <p:spPr>
            <a:xfrm>
              <a:off x="0" y="0"/>
              <a:ext cx="2552700" cy="1104900"/>
            </a:xfrm>
            <a:prstGeom prst="roundRect">
              <a:avLst>
                <a:gd fmla="val 6896" name="adj"/>
              </a:avLst>
            </a:prstGeom>
            <a:solidFill>
              <a:srgbClr val="1A1A1E"/>
            </a:solidFill>
            <a:ln cap="flat" cmpd="sng" w="9525">
              <a:solidFill>
                <a:srgbClr val="2222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25"/>
            <p:cNvSpPr txBox="1"/>
            <p:nvPr/>
          </p:nvSpPr>
          <p:spPr>
            <a:xfrm>
              <a:off x="114300" y="95250"/>
              <a:ext cx="2324100" cy="9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680">
                  <a:solidFill>
                    <a:srgbClr val="10B981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STUDENT PROFILE</a:t>
              </a:r>
              <a:endParaRPr b="0" sz="680">
                <a:solidFill>
                  <a:srgbClr val="10B981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-GB" sz="110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Aarav Mehta</a:t>
              </a:r>
              <a:endParaRPr b="0" sz="110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-GB" sz="680">
                  <a:solidFill>
                    <a:srgbClr val="9CA3AF"/>
                  </a:solidFill>
                  <a:latin typeface="Inter"/>
                  <a:ea typeface="Inter"/>
                  <a:cs typeface="Inter"/>
                  <a:sym typeface="Inter"/>
                </a:rPr>
                <a:t>ID: 2026_NITW_CS08</a:t>
              </a:r>
              <a:endParaRPr b="0" sz="68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GB" sz="638">
                  <a:solidFill>
                    <a:srgbClr val="9CA3AF"/>
                  </a:solidFill>
                  <a:latin typeface="Inter"/>
                  <a:ea typeface="Inter"/>
                  <a:cs typeface="Inter"/>
                  <a:sym typeface="Inter"/>
                </a:rPr>
                <a:t>Institution: NIT Warangal</a:t>
              </a:r>
              <a:endParaRPr b="0" sz="638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"/>
                </a:spcBef>
                <a:spcAft>
                  <a:spcPts val="0"/>
                </a:spcAft>
                <a:buNone/>
              </a:pPr>
              <a:r>
                <a:rPr b="0" lang="en-GB" sz="638">
                  <a:solidFill>
                    <a:srgbClr val="9CA3AF"/>
                  </a:solidFill>
                  <a:latin typeface="Inter"/>
                  <a:ea typeface="Inter"/>
                  <a:cs typeface="Inter"/>
                  <a:sym typeface="Inter"/>
                </a:rPr>
                <a:t>Stream: Computer Science &amp; Eng.</a:t>
              </a:r>
              <a:endParaRPr b="0" sz="638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"/>
                </a:spcBef>
                <a:spcAft>
                  <a:spcPts val="0"/>
                </a:spcAft>
                <a:buNone/>
              </a:pPr>
              <a:r>
                <a:rPr b="0" lang="en-GB" sz="638">
                  <a:solidFill>
                    <a:srgbClr val="9CA3AF"/>
                  </a:solidFill>
                  <a:latin typeface="Inter"/>
                  <a:ea typeface="Inter"/>
                  <a:cs typeface="Inter"/>
                  <a:sym typeface="Inter"/>
                </a:rPr>
                <a:t>Target Role: Full-Stack Cloud Architect</a:t>
              </a:r>
              <a:endParaRPr b="0" sz="638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464" name="Google Shape;464;p25"/>
            <p:cNvGrpSpPr/>
            <p:nvPr/>
          </p:nvGrpSpPr>
          <p:grpSpPr>
            <a:xfrm>
              <a:off x="1866900" y="152400"/>
              <a:ext cx="571500" cy="571500"/>
              <a:chOff x="0" y="0"/>
              <a:chExt cx="571500" cy="571500"/>
            </a:xfrm>
          </p:grpSpPr>
          <p:sp>
            <p:nvSpPr>
              <p:cNvPr id="465" name="Google Shape;465;p25"/>
              <p:cNvSpPr/>
              <p:nvPr/>
            </p:nvSpPr>
            <p:spPr>
              <a:xfrm>
                <a:off x="19050" y="19050"/>
                <a:ext cx="533400" cy="533400"/>
              </a:xfrm>
              <a:prstGeom prst="ellipse">
                <a:avLst/>
              </a:prstGeom>
              <a:solidFill>
                <a:srgbClr val="2D2D35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6" name="Google Shape;466;p25"/>
              <p:cNvSpPr txBox="1"/>
              <p:nvPr/>
            </p:nvSpPr>
            <p:spPr>
              <a:xfrm>
                <a:off x="0" y="0"/>
                <a:ext cx="5715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400">
                    <a:solidFill>
                      <a:srgbClr val="10B981"/>
                    </a:solidFill>
                    <a:latin typeface="Inter"/>
                    <a:ea typeface="Inter"/>
                    <a:cs typeface="Inter"/>
                    <a:sym typeface="Inter"/>
                  </a:rPr>
                  <a:t>AM</a:t>
                </a:r>
                <a:endParaRPr b="1" sz="1400">
                  <a:solidFill>
                    <a:srgbClr val="10B98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467" name="Google Shape;467;p25"/>
          <p:cNvGrpSpPr/>
          <p:nvPr/>
        </p:nvGrpSpPr>
        <p:grpSpPr>
          <a:xfrm>
            <a:off x="3219450" y="1600200"/>
            <a:ext cx="2705100" cy="1200300"/>
            <a:chOff x="0" y="0"/>
            <a:chExt cx="2705100" cy="1200300"/>
          </a:xfrm>
        </p:grpSpPr>
        <p:sp>
          <p:nvSpPr>
            <p:cNvPr id="468" name="Google Shape;468;p25"/>
            <p:cNvSpPr/>
            <p:nvPr/>
          </p:nvSpPr>
          <p:spPr>
            <a:xfrm>
              <a:off x="0" y="0"/>
              <a:ext cx="2705100" cy="1104900"/>
            </a:xfrm>
            <a:prstGeom prst="roundRect">
              <a:avLst>
                <a:gd fmla="val 6896" name="adj"/>
              </a:avLst>
            </a:prstGeom>
            <a:solidFill>
              <a:srgbClr val="1A1A1E"/>
            </a:solidFill>
            <a:ln cap="flat" cmpd="sng" w="9525">
              <a:solidFill>
                <a:srgbClr val="2222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25"/>
            <p:cNvSpPr txBox="1"/>
            <p:nvPr/>
          </p:nvSpPr>
          <p:spPr>
            <a:xfrm>
              <a:off x="114300" y="95250"/>
              <a:ext cx="2476500" cy="9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450"/>
                </a:spcAft>
                <a:buNone/>
              </a:pPr>
              <a:r>
                <a:rPr b="0" lang="en-GB" sz="680">
                  <a:solidFill>
                    <a:srgbClr val="10B981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SKILL INDEX VISUALIZATION</a:t>
              </a:r>
              <a:endParaRPr b="0" sz="680">
                <a:solidFill>
                  <a:srgbClr val="10B981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grpSp>
          <p:nvGrpSpPr>
            <p:cNvPr id="470" name="Google Shape;470;p25"/>
            <p:cNvGrpSpPr/>
            <p:nvPr/>
          </p:nvGrpSpPr>
          <p:grpSpPr>
            <a:xfrm>
              <a:off x="152400" y="342900"/>
              <a:ext cx="857400" cy="857400"/>
              <a:chOff x="0" y="0"/>
              <a:chExt cx="857400" cy="857400"/>
            </a:xfrm>
          </p:grpSpPr>
          <p:sp>
            <p:nvSpPr>
              <p:cNvPr id="471" name="Google Shape;471;p25"/>
              <p:cNvSpPr/>
              <p:nvPr/>
            </p:nvSpPr>
            <p:spPr>
              <a:xfrm>
                <a:off x="85725" y="85725"/>
                <a:ext cx="685800" cy="685800"/>
              </a:xfrm>
              <a:prstGeom prst="ellipse">
                <a:avLst/>
              </a:prstGeom>
              <a:solidFill>
                <a:srgbClr val="000000">
                  <a:alpha val="0"/>
                </a:srgbClr>
              </a:solidFill>
              <a:ln cap="flat" cmpd="sng" w="66675">
                <a:solidFill>
                  <a:srgbClr val="22222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472" name="Google Shape;472;p25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66675" y="52387"/>
                <a:ext cx="738300" cy="7524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73" name="Google Shape;473;p25"/>
              <p:cNvSpPr txBox="1"/>
              <p:nvPr/>
            </p:nvSpPr>
            <p:spPr>
              <a:xfrm>
                <a:off x="0" y="0"/>
                <a:ext cx="857400" cy="85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100">
                    <a:solidFill>
                      <a:srgbClr val="EF4444"/>
                    </a:solidFill>
                    <a:latin typeface="Space Mono"/>
                    <a:ea typeface="Space Mono"/>
                    <a:cs typeface="Space Mono"/>
                    <a:sym typeface="Space Mono"/>
                  </a:rPr>
                  <a:t>70%</a:t>
                </a:r>
                <a:endParaRPr b="1" sz="1100">
                  <a:solidFill>
                    <a:srgbClr val="EF4444"/>
                  </a:solidFill>
                  <a:latin typeface="Space Mono"/>
                  <a:ea typeface="Space Mono"/>
                  <a:cs typeface="Space Mono"/>
                  <a:sym typeface="Space Mono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650">
                    <a:solidFill>
                      <a:srgbClr val="9CA3AF"/>
                    </a:solidFill>
                    <a:latin typeface="Inter"/>
                    <a:ea typeface="Inter"/>
                    <a:cs typeface="Inter"/>
                    <a:sym typeface="Inter"/>
                  </a:rPr>
                  <a:t>MATCH</a:t>
                </a:r>
                <a:endParaRPr b="0" sz="650">
                  <a:solidFill>
                    <a:srgbClr val="9CA3AF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474" name="Google Shape;474;p25"/>
            <p:cNvGrpSpPr/>
            <p:nvPr/>
          </p:nvGrpSpPr>
          <p:grpSpPr>
            <a:xfrm>
              <a:off x="1143000" y="361950"/>
              <a:ext cx="1428900" cy="190500"/>
              <a:chOff x="0" y="0"/>
              <a:chExt cx="1428900" cy="190500"/>
            </a:xfrm>
          </p:grpSpPr>
          <p:sp>
            <p:nvSpPr>
              <p:cNvPr id="475" name="Google Shape;475;p25"/>
              <p:cNvSpPr/>
              <p:nvPr/>
            </p:nvSpPr>
            <p:spPr>
              <a:xfrm>
                <a:off x="0" y="0"/>
                <a:ext cx="1428900" cy="190500"/>
              </a:xfrm>
              <a:prstGeom prst="roundRect">
                <a:avLst>
                  <a:gd fmla="val 20000" name="adj"/>
                </a:avLst>
              </a:prstGeom>
              <a:solidFill>
                <a:srgbClr val="0D0D0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6" name="Google Shape;476;p25"/>
              <p:cNvSpPr txBox="1"/>
              <p:nvPr/>
            </p:nvSpPr>
            <p:spPr>
              <a:xfrm>
                <a:off x="76200" y="0"/>
                <a:ext cx="13335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638">
                    <a:solidFill>
                      <a:srgbClr val="10B981"/>
                    </a:solidFill>
                    <a:latin typeface="Inter"/>
                    <a:ea typeface="Inter"/>
                    <a:cs typeface="Inter"/>
                    <a:sym typeface="Inter"/>
                  </a:rPr>
                  <a:t>■</a:t>
                </a:r>
                <a:r>
                  <a:rPr b="0" lang="en-GB" sz="638">
                    <a:solidFill>
                      <a:srgbClr val="9CA3AF"/>
                    </a:solidFill>
                    <a:latin typeface="Inter"/>
                    <a:ea typeface="Inter"/>
                    <a:cs typeface="Inter"/>
                    <a:sym typeface="Inter"/>
                  </a:rPr>
                  <a:t> Acquired Skills: </a:t>
                </a:r>
                <a:r>
                  <a:rPr b="0" lang="en-GB" sz="638">
                    <a:solidFill>
                      <a:srgbClr val="FFFFFF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14</a:t>
                </a:r>
                <a:endParaRPr b="0" sz="638">
                  <a:solidFill>
                    <a:srgbClr val="9CA3AF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477" name="Google Shape;477;p25"/>
            <p:cNvGrpSpPr/>
            <p:nvPr/>
          </p:nvGrpSpPr>
          <p:grpSpPr>
            <a:xfrm>
              <a:off x="1143000" y="590550"/>
              <a:ext cx="1428900" cy="190500"/>
              <a:chOff x="0" y="0"/>
              <a:chExt cx="1428900" cy="190500"/>
            </a:xfrm>
          </p:grpSpPr>
          <p:sp>
            <p:nvSpPr>
              <p:cNvPr id="478" name="Google Shape;478;p25"/>
              <p:cNvSpPr/>
              <p:nvPr/>
            </p:nvSpPr>
            <p:spPr>
              <a:xfrm>
                <a:off x="0" y="0"/>
                <a:ext cx="1428900" cy="190500"/>
              </a:xfrm>
              <a:prstGeom prst="roundRect">
                <a:avLst>
                  <a:gd fmla="val 20000" name="adj"/>
                </a:avLst>
              </a:prstGeom>
              <a:solidFill>
                <a:srgbClr val="0D0D0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9" name="Google Shape;479;p25"/>
              <p:cNvSpPr txBox="1"/>
              <p:nvPr/>
            </p:nvSpPr>
            <p:spPr>
              <a:xfrm>
                <a:off x="76200" y="0"/>
                <a:ext cx="13335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638">
                    <a:solidFill>
                      <a:srgbClr val="EF4444"/>
                    </a:solidFill>
                    <a:latin typeface="Inter"/>
                    <a:ea typeface="Inter"/>
                    <a:cs typeface="Inter"/>
                    <a:sym typeface="Inter"/>
                  </a:rPr>
                  <a:t>■</a:t>
                </a:r>
                <a:r>
                  <a:rPr b="0" lang="en-GB" sz="638">
                    <a:solidFill>
                      <a:srgbClr val="9CA3AF"/>
                    </a:solidFill>
                    <a:latin typeface="Inter"/>
                    <a:ea typeface="Inter"/>
                    <a:cs typeface="Inter"/>
                    <a:sym typeface="Inter"/>
                  </a:rPr>
                  <a:t> Gaps Identified: </a:t>
                </a:r>
                <a:r>
                  <a:rPr b="0" lang="en-GB" sz="638">
                    <a:solidFill>
                      <a:srgbClr val="FFFFFF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6</a:t>
                </a:r>
                <a:endParaRPr b="0" sz="638">
                  <a:solidFill>
                    <a:srgbClr val="9CA3AF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480" name="Google Shape;480;p25"/>
            <p:cNvGrpSpPr/>
            <p:nvPr/>
          </p:nvGrpSpPr>
          <p:grpSpPr>
            <a:xfrm>
              <a:off x="1143000" y="819150"/>
              <a:ext cx="1428900" cy="190500"/>
              <a:chOff x="0" y="0"/>
              <a:chExt cx="1428900" cy="190500"/>
            </a:xfrm>
          </p:grpSpPr>
          <p:sp>
            <p:nvSpPr>
              <p:cNvPr id="481" name="Google Shape;481;p25"/>
              <p:cNvSpPr/>
              <p:nvPr/>
            </p:nvSpPr>
            <p:spPr>
              <a:xfrm>
                <a:off x="0" y="0"/>
                <a:ext cx="1428900" cy="190500"/>
              </a:xfrm>
              <a:prstGeom prst="roundRect">
                <a:avLst>
                  <a:gd fmla="val 20000" name="adj"/>
                </a:avLst>
              </a:prstGeom>
              <a:solidFill>
                <a:srgbClr val="064E3B">
                  <a:alpha val="3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2" name="Google Shape;482;p25"/>
              <p:cNvSpPr txBox="1"/>
              <p:nvPr/>
            </p:nvSpPr>
            <p:spPr>
              <a:xfrm>
                <a:off x="76200" y="0"/>
                <a:ext cx="13335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638">
                    <a:solidFill>
                      <a:srgbClr val="10B981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Index Rank: Elite</a:t>
                </a:r>
                <a:endParaRPr b="0" sz="638">
                  <a:solidFill>
                    <a:srgbClr val="10B98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483" name="Google Shape;483;p25"/>
          <p:cNvGrpSpPr/>
          <p:nvPr/>
        </p:nvGrpSpPr>
        <p:grpSpPr>
          <a:xfrm>
            <a:off x="6053138" y="1595438"/>
            <a:ext cx="2562300" cy="1114500"/>
            <a:chOff x="-4762" y="-4762"/>
            <a:chExt cx="2562300" cy="1114500"/>
          </a:xfrm>
        </p:grpSpPr>
        <p:pic>
          <p:nvPicPr>
            <p:cNvPr id="484" name="Google Shape;484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-4762" y="-4762"/>
              <a:ext cx="2562300" cy="1114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5" name="Google Shape;485;p25"/>
            <p:cNvSpPr txBox="1"/>
            <p:nvPr/>
          </p:nvSpPr>
          <p:spPr>
            <a:xfrm>
              <a:off x="114300" y="95250"/>
              <a:ext cx="2324100" cy="9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680">
                  <a:solidFill>
                    <a:srgbClr val="10B981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PERSONALIZED SUGGESTIONS</a:t>
              </a:r>
              <a:endParaRPr b="0" sz="680">
                <a:solidFill>
                  <a:srgbClr val="10B981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GB" sz="723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⚡ Roadmap Priority</a:t>
              </a:r>
              <a:endParaRPr b="0" sz="723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75"/>
                </a:spcBef>
                <a:spcAft>
                  <a:spcPts val="0"/>
                </a:spcAft>
                <a:buNone/>
              </a:pPr>
              <a:r>
                <a:rPr b="0" lang="en-GB" sz="638">
                  <a:solidFill>
                    <a:srgbClr val="9CA3AF"/>
                  </a:solidFill>
                  <a:latin typeface="Inter"/>
                  <a:ea typeface="Inter"/>
                  <a:cs typeface="Inter"/>
                  <a:sym typeface="Inter"/>
                </a:rPr>
                <a:t>Acquire </a:t>
              </a:r>
              <a:r>
                <a:rPr b="0" lang="en-GB" sz="638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Kubernetes</a:t>
              </a:r>
              <a:r>
                <a:rPr b="0" lang="en-GB" sz="638">
                  <a:solidFill>
                    <a:srgbClr val="9CA3AF"/>
                  </a:solidFill>
                  <a:latin typeface="Inter"/>
                  <a:ea typeface="Inter"/>
                  <a:cs typeface="Inter"/>
                  <a:sym typeface="Inter"/>
                </a:rPr>
                <a:t> to bridge 80% of cloud-native architecture gaps.</a:t>
              </a:r>
              <a:endParaRPr b="0" sz="638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GB" sz="723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🎓 Suggested Course</a:t>
              </a:r>
              <a:endParaRPr b="0" sz="723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75"/>
                </a:spcBef>
                <a:spcAft>
                  <a:spcPts val="0"/>
                </a:spcAft>
                <a:buNone/>
              </a:pPr>
              <a:r>
                <a:rPr b="0" lang="en-GB" sz="638">
                  <a:solidFill>
                    <a:srgbClr val="9CA3AF"/>
                  </a:solidFill>
                  <a:latin typeface="Inter"/>
                  <a:ea typeface="Inter"/>
                  <a:cs typeface="Inter"/>
                  <a:sym typeface="Inter"/>
                </a:rPr>
                <a:t>AWS Certified Solutions Architect (IITM Verified Pathway)</a:t>
              </a:r>
              <a:endParaRPr b="0" sz="638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86" name="Google Shape;486;p25"/>
          <p:cNvGrpSpPr/>
          <p:nvPr/>
        </p:nvGrpSpPr>
        <p:grpSpPr>
          <a:xfrm>
            <a:off x="533400" y="2819400"/>
            <a:ext cx="3943200" cy="1276500"/>
            <a:chOff x="0" y="0"/>
            <a:chExt cx="3943200" cy="1276500"/>
          </a:xfrm>
        </p:grpSpPr>
        <p:sp>
          <p:nvSpPr>
            <p:cNvPr id="487" name="Google Shape;487;p25"/>
            <p:cNvSpPr/>
            <p:nvPr/>
          </p:nvSpPr>
          <p:spPr>
            <a:xfrm>
              <a:off x="0" y="0"/>
              <a:ext cx="3943200" cy="1276500"/>
            </a:xfrm>
            <a:prstGeom prst="roundRect">
              <a:avLst>
                <a:gd fmla="val 5970" name="adj"/>
              </a:avLst>
            </a:prstGeom>
            <a:solidFill>
              <a:srgbClr val="1A1A1E"/>
            </a:solidFill>
            <a:ln cap="flat" cmpd="sng" w="9525">
              <a:solidFill>
                <a:srgbClr val="2222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25"/>
            <p:cNvSpPr txBox="1"/>
            <p:nvPr/>
          </p:nvSpPr>
          <p:spPr>
            <a:xfrm>
              <a:off x="114300" y="95250"/>
              <a:ext cx="3714900" cy="108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b="0" lang="en-GB" sz="680">
                  <a:solidFill>
                    <a:srgbClr val="10B981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CURRENT VS. REQUIRED SKILLS</a:t>
              </a:r>
              <a:endParaRPr b="0" sz="680">
                <a:solidFill>
                  <a:srgbClr val="10B981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grpSp>
          <p:nvGrpSpPr>
            <p:cNvPr id="489" name="Google Shape;489;p25"/>
            <p:cNvGrpSpPr/>
            <p:nvPr/>
          </p:nvGrpSpPr>
          <p:grpSpPr>
            <a:xfrm>
              <a:off x="114300" y="342900"/>
              <a:ext cx="3714900" cy="228600"/>
              <a:chOff x="0" y="0"/>
              <a:chExt cx="3714900" cy="228600"/>
            </a:xfrm>
          </p:grpSpPr>
          <p:sp>
            <p:nvSpPr>
              <p:cNvPr id="490" name="Google Shape;490;p25"/>
              <p:cNvSpPr/>
              <p:nvPr/>
            </p:nvSpPr>
            <p:spPr>
              <a:xfrm>
                <a:off x="0" y="0"/>
                <a:ext cx="3714900" cy="228600"/>
              </a:xfrm>
              <a:prstGeom prst="roundRect">
                <a:avLst>
                  <a:gd fmla="val 16666" name="adj"/>
                </a:avLst>
              </a:prstGeom>
              <a:solidFill>
                <a:srgbClr val="0D0D0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1" name="Google Shape;491;p25"/>
              <p:cNvSpPr txBox="1"/>
              <p:nvPr/>
            </p:nvSpPr>
            <p:spPr>
              <a:xfrm>
                <a:off x="76200" y="0"/>
                <a:ext cx="35622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638">
                    <a:solidFill>
                      <a:srgbClr val="FFFFFF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Core Dev:</a:t>
                </a:r>
                <a:r>
                  <a:rPr b="0" lang="en-GB" sz="638">
                    <a:solidFill>
                      <a:srgbClr val="9CA3AF"/>
                    </a:solidFill>
                    <a:latin typeface="Inter"/>
                    <a:ea typeface="Inter"/>
                    <a:cs typeface="Inter"/>
                    <a:sym typeface="Inter"/>
                  </a:rPr>
                  <a:t> React.js, Node.js, PostgreSQL, REST APIs </a:t>
                </a:r>
                <a:r>
                  <a:rPr b="0" lang="en-GB" sz="638">
                    <a:solidFill>
                      <a:srgbClr val="10B981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✓ Verified</a:t>
                </a:r>
                <a:endParaRPr b="0" sz="638">
                  <a:solidFill>
                    <a:srgbClr val="9CA3AF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492" name="Google Shape;492;p25"/>
            <p:cNvGrpSpPr/>
            <p:nvPr/>
          </p:nvGrpSpPr>
          <p:grpSpPr>
            <a:xfrm>
              <a:off x="114300" y="628650"/>
              <a:ext cx="3714900" cy="228600"/>
              <a:chOff x="0" y="0"/>
              <a:chExt cx="3714900" cy="228600"/>
            </a:xfrm>
          </p:grpSpPr>
          <p:sp>
            <p:nvSpPr>
              <p:cNvPr id="493" name="Google Shape;493;p25"/>
              <p:cNvSpPr/>
              <p:nvPr/>
            </p:nvSpPr>
            <p:spPr>
              <a:xfrm>
                <a:off x="0" y="0"/>
                <a:ext cx="3714900" cy="228600"/>
              </a:xfrm>
              <a:prstGeom prst="roundRect">
                <a:avLst>
                  <a:gd fmla="val 16666" name="adj"/>
                </a:avLst>
              </a:prstGeom>
              <a:solidFill>
                <a:srgbClr val="0D0D0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4" name="Google Shape;494;p25"/>
              <p:cNvSpPr txBox="1"/>
              <p:nvPr/>
            </p:nvSpPr>
            <p:spPr>
              <a:xfrm>
                <a:off x="76200" y="0"/>
                <a:ext cx="35622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638">
                    <a:solidFill>
                      <a:srgbClr val="FFFFFF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Cloud-Native:</a:t>
                </a:r>
                <a:r>
                  <a:rPr b="0" lang="en-GB" sz="638">
                    <a:solidFill>
                      <a:srgbClr val="9CA3AF"/>
                    </a:solidFill>
                    <a:latin typeface="Inter"/>
                    <a:ea typeface="Inter"/>
                    <a:cs typeface="Inter"/>
                    <a:sym typeface="Inter"/>
                  </a:rPr>
                  <a:t> Docker, AWS (S3/EC2) </a:t>
                </a:r>
                <a:r>
                  <a:rPr b="0" lang="en-GB" sz="638">
                    <a:solidFill>
                      <a:srgbClr val="10B981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✓ Verified</a:t>
                </a:r>
                <a:endParaRPr b="0" sz="638">
                  <a:solidFill>
                    <a:srgbClr val="9CA3AF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495" name="Google Shape;495;p25"/>
            <p:cNvGrpSpPr/>
            <p:nvPr/>
          </p:nvGrpSpPr>
          <p:grpSpPr>
            <a:xfrm>
              <a:off x="114300" y="914400"/>
              <a:ext cx="3714900" cy="228600"/>
              <a:chOff x="0" y="0"/>
              <a:chExt cx="3714900" cy="228600"/>
            </a:xfrm>
          </p:grpSpPr>
          <p:sp>
            <p:nvSpPr>
              <p:cNvPr id="496" name="Google Shape;496;p25"/>
              <p:cNvSpPr/>
              <p:nvPr/>
            </p:nvSpPr>
            <p:spPr>
              <a:xfrm>
                <a:off x="0" y="0"/>
                <a:ext cx="3714900" cy="228600"/>
              </a:xfrm>
              <a:prstGeom prst="roundRect">
                <a:avLst>
                  <a:gd fmla="val 16666" name="adj"/>
                </a:avLst>
              </a:prstGeom>
              <a:solidFill>
                <a:srgbClr val="2E1619"/>
              </a:solidFill>
              <a:ln cap="flat" cmpd="sng" w="7625">
                <a:solidFill>
                  <a:srgbClr val="EF444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7" name="Google Shape;497;p25"/>
              <p:cNvSpPr txBox="1"/>
              <p:nvPr/>
            </p:nvSpPr>
            <p:spPr>
              <a:xfrm>
                <a:off x="76200" y="0"/>
                <a:ext cx="35622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638">
                    <a:solidFill>
                      <a:srgbClr val="EF4444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Missing Industry Gaps:</a:t>
                </a:r>
                <a:r>
                  <a:rPr b="0" lang="en-GB" sz="638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 Kubernetes, CI/CD Pipelines, Terraform</a:t>
                </a:r>
                <a:endParaRPr b="0" sz="638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498" name="Google Shape;498;p25"/>
          <p:cNvGrpSpPr/>
          <p:nvPr/>
        </p:nvGrpSpPr>
        <p:grpSpPr>
          <a:xfrm>
            <a:off x="4610100" y="2819400"/>
            <a:ext cx="4000500" cy="1276500"/>
            <a:chOff x="0" y="0"/>
            <a:chExt cx="4000500" cy="1276500"/>
          </a:xfrm>
        </p:grpSpPr>
        <p:sp>
          <p:nvSpPr>
            <p:cNvPr id="499" name="Google Shape;499;p25"/>
            <p:cNvSpPr/>
            <p:nvPr/>
          </p:nvSpPr>
          <p:spPr>
            <a:xfrm>
              <a:off x="0" y="0"/>
              <a:ext cx="4000500" cy="1276500"/>
            </a:xfrm>
            <a:prstGeom prst="roundRect">
              <a:avLst>
                <a:gd fmla="val 5970" name="adj"/>
              </a:avLst>
            </a:prstGeom>
            <a:solidFill>
              <a:srgbClr val="1A1A1E"/>
            </a:solidFill>
            <a:ln cap="flat" cmpd="sng" w="9525">
              <a:solidFill>
                <a:srgbClr val="2222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25"/>
            <p:cNvSpPr txBox="1"/>
            <p:nvPr/>
          </p:nvSpPr>
          <p:spPr>
            <a:xfrm>
              <a:off x="114300" y="95250"/>
              <a:ext cx="3771900" cy="108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b="0" lang="en-GB" sz="680">
                  <a:solidFill>
                    <a:srgbClr val="10B981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RELEVANT OPPORTUNITIES (DIRECT CONNECTION)</a:t>
              </a:r>
              <a:endParaRPr b="0" sz="680">
                <a:solidFill>
                  <a:srgbClr val="10B981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grpSp>
          <p:nvGrpSpPr>
            <p:cNvPr id="501" name="Google Shape;501;p25"/>
            <p:cNvGrpSpPr/>
            <p:nvPr/>
          </p:nvGrpSpPr>
          <p:grpSpPr>
            <a:xfrm>
              <a:off x="114300" y="323850"/>
              <a:ext cx="3771900" cy="381000"/>
              <a:chOff x="0" y="0"/>
              <a:chExt cx="3771900" cy="381000"/>
            </a:xfrm>
          </p:grpSpPr>
          <p:sp>
            <p:nvSpPr>
              <p:cNvPr id="502" name="Google Shape;502;p25"/>
              <p:cNvSpPr/>
              <p:nvPr/>
            </p:nvSpPr>
            <p:spPr>
              <a:xfrm>
                <a:off x="0" y="0"/>
                <a:ext cx="3771900" cy="381000"/>
              </a:xfrm>
              <a:prstGeom prst="roundRect">
                <a:avLst>
                  <a:gd fmla="val 15000" name="adj"/>
                </a:avLst>
              </a:prstGeom>
              <a:solidFill>
                <a:srgbClr val="12121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3" name="Google Shape;503;p25"/>
              <p:cNvSpPr txBox="1"/>
              <p:nvPr/>
            </p:nvSpPr>
            <p:spPr>
              <a:xfrm>
                <a:off x="76200" y="0"/>
                <a:ext cx="36195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723">
                    <a:solidFill>
                      <a:srgbClr val="FFFFFF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Cloud Software Architect Intern </a:t>
                </a:r>
                <a:r>
                  <a:rPr b="0" lang="en-GB" sz="638">
                    <a:solidFill>
                      <a:srgbClr val="10B981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■ 85% Match</a:t>
                </a:r>
                <a:endParaRPr b="0" sz="723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638">
                    <a:solidFill>
                      <a:srgbClr val="9CA3AF"/>
                    </a:solidFill>
                    <a:latin typeface="Inter"/>
                    <a:ea typeface="Inter"/>
                    <a:cs typeface="Inter"/>
                    <a:sym typeface="Inter"/>
                  </a:rPr>
                  <a:t>Razorpay • Bengaluru • CTC: ₹45,000/mo • </a:t>
                </a:r>
                <a:r>
                  <a:rPr b="0" lang="en-GB" sz="638">
                    <a:solidFill>
                      <a:srgbClr val="EF4444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Requires Kubernetes</a:t>
                </a:r>
                <a:endParaRPr b="0" sz="638">
                  <a:solidFill>
                    <a:srgbClr val="9CA3AF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504" name="Google Shape;504;p25"/>
            <p:cNvGrpSpPr/>
            <p:nvPr/>
          </p:nvGrpSpPr>
          <p:grpSpPr>
            <a:xfrm>
              <a:off x="114300" y="762000"/>
              <a:ext cx="3771900" cy="381000"/>
              <a:chOff x="0" y="0"/>
              <a:chExt cx="3771900" cy="381000"/>
            </a:xfrm>
          </p:grpSpPr>
          <p:sp>
            <p:nvSpPr>
              <p:cNvPr id="505" name="Google Shape;505;p25"/>
              <p:cNvSpPr/>
              <p:nvPr/>
            </p:nvSpPr>
            <p:spPr>
              <a:xfrm>
                <a:off x="0" y="0"/>
                <a:ext cx="3771900" cy="381000"/>
              </a:xfrm>
              <a:prstGeom prst="roundRect">
                <a:avLst>
                  <a:gd fmla="val 15000" name="adj"/>
                </a:avLst>
              </a:prstGeom>
              <a:solidFill>
                <a:srgbClr val="12121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6" name="Google Shape;506;p25"/>
              <p:cNvSpPr txBox="1"/>
              <p:nvPr/>
            </p:nvSpPr>
            <p:spPr>
              <a:xfrm>
                <a:off x="76200" y="0"/>
                <a:ext cx="36195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723">
                    <a:solidFill>
                      <a:srgbClr val="FFFFFF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Backend Cloud Engineer </a:t>
                </a:r>
                <a:r>
                  <a:rPr b="0" lang="en-GB" sz="638">
                    <a:solidFill>
                      <a:srgbClr val="10B981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■ 90% Match</a:t>
                </a:r>
                <a:endParaRPr b="0" sz="723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638">
                    <a:solidFill>
                      <a:srgbClr val="9CA3AF"/>
                    </a:solidFill>
                    <a:latin typeface="Inter"/>
                    <a:ea typeface="Inter"/>
                    <a:cs typeface="Inter"/>
                    <a:sym typeface="Inter"/>
                  </a:rPr>
                  <a:t>JPMorgan Chase • Hyderabad • Package: ₹14 LPA • </a:t>
                </a:r>
                <a:r>
                  <a:rPr b="0" lang="en-GB" sz="638">
                    <a:solidFill>
                      <a:srgbClr val="EF4444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Requires CI/CD</a:t>
                </a:r>
                <a:endParaRPr b="0" sz="638">
                  <a:solidFill>
                    <a:srgbClr val="9CA3AF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cxnSp>
        <p:nvCxnSpPr>
          <p:cNvPr id="507" name="Google Shape;507;p25"/>
          <p:cNvCxnSpPr/>
          <p:nvPr/>
        </p:nvCxnSpPr>
        <p:spPr>
          <a:xfrm>
            <a:off x="952500" y="4429125"/>
            <a:ext cx="72390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22222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8" name="Google Shape;508;p25"/>
          <p:cNvSpPr txBox="1"/>
          <p:nvPr/>
        </p:nvSpPr>
        <p:spPr>
          <a:xfrm>
            <a:off x="952500" y="4524375"/>
            <a:ext cx="36195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38">
                <a:solidFill>
                  <a:srgbClr val="9CA3AF"/>
                </a:solidFill>
                <a:latin typeface="Space Mono"/>
                <a:ea typeface="Space Mono"/>
                <a:cs typeface="Space Mono"/>
                <a:sym typeface="Space Mono"/>
              </a:rPr>
              <a:t>TEAM: COFFETOTODE</a:t>
            </a:r>
            <a:endParaRPr sz="638">
              <a:solidFill>
                <a:srgbClr val="9CA3AF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509" name="Google Shape;509;p25"/>
          <p:cNvSpPr txBox="1"/>
          <p:nvPr/>
        </p:nvSpPr>
        <p:spPr>
          <a:xfrm>
            <a:off x="4572000" y="4524375"/>
            <a:ext cx="36195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38">
                <a:solidFill>
                  <a:srgbClr val="9CA3AF"/>
                </a:solidFill>
                <a:latin typeface="Space Mono"/>
                <a:ea typeface="Space Mono"/>
                <a:cs typeface="Space Mono"/>
                <a:sym typeface="Space Mono"/>
              </a:rPr>
              <a:t>PROBLEM: SIH26044</a:t>
            </a:r>
            <a:endParaRPr sz="638">
              <a:solidFill>
                <a:srgbClr val="9CA3AF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2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15" name="Google Shape;515;p26"/>
          <p:cNvGrpSpPr/>
          <p:nvPr/>
        </p:nvGrpSpPr>
        <p:grpSpPr>
          <a:xfrm>
            <a:off x="3048000" y="238125"/>
            <a:ext cx="3048000" cy="209700"/>
            <a:chOff x="0" y="0"/>
            <a:chExt cx="3048000" cy="209700"/>
          </a:xfrm>
        </p:grpSpPr>
        <p:sp>
          <p:nvSpPr>
            <p:cNvPr id="516" name="Google Shape;516;p26"/>
            <p:cNvSpPr/>
            <p:nvPr/>
          </p:nvSpPr>
          <p:spPr>
            <a:xfrm>
              <a:off x="0" y="0"/>
              <a:ext cx="3048000" cy="209700"/>
            </a:xfrm>
            <a:prstGeom prst="roundRect">
              <a:avLst>
                <a:gd fmla="val 50000" name="adj"/>
              </a:avLst>
            </a:prstGeom>
            <a:solidFill>
              <a:srgbClr val="000000">
                <a:alpha val="0"/>
              </a:srgbClr>
            </a:solidFill>
            <a:ln cap="flat" cmpd="sng" w="11425">
              <a:solidFill>
                <a:srgbClr val="EF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26"/>
            <p:cNvSpPr txBox="1"/>
            <p:nvPr/>
          </p:nvSpPr>
          <p:spPr>
            <a:xfrm>
              <a:off x="950071" y="83820"/>
              <a:ext cx="1147800" cy="1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488">
                  <a:solidFill>
                    <a:srgbClr val="EF4444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SIH 2026 | SYSTEM ARCHITECTURE</a:t>
              </a:r>
              <a:endParaRPr b="0" sz="488">
                <a:solidFill>
                  <a:srgbClr val="EF4444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sp>
        <p:nvSpPr>
          <p:cNvPr id="518" name="Google Shape;518;p26"/>
          <p:cNvSpPr txBox="1"/>
          <p:nvPr/>
        </p:nvSpPr>
        <p:spPr>
          <a:xfrm>
            <a:off x="3035637" y="586740"/>
            <a:ext cx="3072600" cy="27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249"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BUILT AS A CONNECTED PLATFORM</a:t>
            </a:r>
            <a:endParaRPr b="0" sz="1249">
              <a:solidFill>
                <a:srgbClr val="FFFFFF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519" name="Google Shape;519;p26"/>
          <p:cNvSpPr txBox="1"/>
          <p:nvPr/>
        </p:nvSpPr>
        <p:spPr>
          <a:xfrm>
            <a:off x="2717768" y="857250"/>
            <a:ext cx="37086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563">
                <a:solidFill>
                  <a:srgbClr val="9CA3AF"/>
                </a:solidFill>
                <a:latin typeface="Inter Light"/>
                <a:ea typeface="Inter Light"/>
                <a:cs typeface="Inter Light"/>
                <a:sym typeface="Inter Light"/>
              </a:rPr>
              <a:t>A unified, secure data pipeline driving verification and direct opportunity matching</a:t>
            </a:r>
            <a:endParaRPr b="0" sz="563">
              <a:solidFill>
                <a:srgbClr val="9CA3AF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520" name="Google Shape;520;p26"/>
          <p:cNvSpPr/>
          <p:nvPr/>
        </p:nvSpPr>
        <p:spPr>
          <a:xfrm>
            <a:off x="1857375" y="1857375"/>
            <a:ext cx="0" cy="190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0" y="120000"/>
                </a:lnTo>
              </a:path>
            </a:pathLst>
          </a:custGeom>
          <a:solidFill>
            <a:srgbClr val="000000">
              <a:alpha val="0"/>
            </a:srgbClr>
          </a:solidFill>
          <a:ln cap="flat" cmpd="sng" w="14300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26"/>
          <p:cNvSpPr/>
          <p:nvPr/>
        </p:nvSpPr>
        <p:spPr>
          <a:xfrm>
            <a:off x="1828800" y="2028825"/>
            <a:ext cx="57300" cy="57300"/>
          </a:xfrm>
          <a:custGeom>
            <a:rect b="b" l="l" r="r" t="t"/>
            <a:pathLst>
              <a:path extrusionOk="0" h="120000" w="120000">
                <a:moveTo>
                  <a:pt x="60000" y="120000"/>
                </a:moveTo>
                <a:lnTo>
                  <a:pt x="0" y="0"/>
                </a:lnTo>
                <a:lnTo>
                  <a:pt x="120000" y="0"/>
                </a:lnTo>
                <a:close/>
              </a:path>
            </a:pathLst>
          </a:custGeom>
          <a:solidFill>
            <a:srgbClr val="37415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26"/>
          <p:cNvSpPr/>
          <p:nvPr/>
        </p:nvSpPr>
        <p:spPr>
          <a:xfrm>
            <a:off x="1857375" y="2809875"/>
            <a:ext cx="0" cy="190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0" y="120000"/>
                </a:lnTo>
              </a:path>
            </a:pathLst>
          </a:custGeom>
          <a:solidFill>
            <a:srgbClr val="000000">
              <a:alpha val="0"/>
            </a:srgbClr>
          </a:solidFill>
          <a:ln cap="flat" cmpd="sng" w="14300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26"/>
          <p:cNvSpPr/>
          <p:nvPr/>
        </p:nvSpPr>
        <p:spPr>
          <a:xfrm>
            <a:off x="1828800" y="2981325"/>
            <a:ext cx="57300" cy="57300"/>
          </a:xfrm>
          <a:custGeom>
            <a:rect b="b" l="l" r="r" t="t"/>
            <a:pathLst>
              <a:path extrusionOk="0" h="120000" w="120000">
                <a:moveTo>
                  <a:pt x="60000" y="120000"/>
                </a:moveTo>
                <a:lnTo>
                  <a:pt x="0" y="0"/>
                </a:lnTo>
                <a:lnTo>
                  <a:pt x="120000" y="0"/>
                </a:lnTo>
                <a:close/>
              </a:path>
            </a:pathLst>
          </a:custGeom>
          <a:solidFill>
            <a:srgbClr val="37415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26"/>
          <p:cNvSpPr/>
          <p:nvPr/>
        </p:nvSpPr>
        <p:spPr>
          <a:xfrm>
            <a:off x="1857375" y="3762375"/>
            <a:ext cx="0" cy="190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0" y="120000"/>
                </a:lnTo>
              </a:path>
            </a:pathLst>
          </a:custGeom>
          <a:solidFill>
            <a:srgbClr val="000000">
              <a:alpha val="0"/>
            </a:srgbClr>
          </a:solidFill>
          <a:ln cap="flat" cmpd="sng" w="143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26"/>
          <p:cNvSpPr/>
          <p:nvPr/>
        </p:nvSpPr>
        <p:spPr>
          <a:xfrm>
            <a:off x="1828800" y="3933825"/>
            <a:ext cx="57300" cy="57300"/>
          </a:xfrm>
          <a:custGeom>
            <a:rect b="b" l="l" r="r" t="t"/>
            <a:pathLst>
              <a:path extrusionOk="0" h="120000" w="120000">
                <a:moveTo>
                  <a:pt x="60000" y="120000"/>
                </a:moveTo>
                <a:lnTo>
                  <a:pt x="0" y="0"/>
                </a:lnTo>
                <a:lnTo>
                  <a:pt x="120000" y="0"/>
                </a:lnTo>
                <a:close/>
              </a:path>
            </a:pathLst>
          </a:custGeom>
          <a:solidFill>
            <a:srgbClr val="10B98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26"/>
          <p:cNvSpPr/>
          <p:nvPr/>
        </p:nvSpPr>
        <p:spPr>
          <a:xfrm>
            <a:off x="2667000" y="1476375"/>
            <a:ext cx="142890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</a:path>
            </a:pathLst>
          </a:custGeom>
          <a:solidFill>
            <a:srgbClr val="000000">
              <a:alpha val="0"/>
            </a:srgbClr>
          </a:solidFill>
          <a:ln cap="flat" cmpd="sng" w="14300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26"/>
          <p:cNvSpPr/>
          <p:nvPr/>
        </p:nvSpPr>
        <p:spPr>
          <a:xfrm>
            <a:off x="4076700" y="1447800"/>
            <a:ext cx="57300" cy="57300"/>
          </a:xfrm>
          <a:custGeom>
            <a:rect b="b" l="l" r="r" t="t"/>
            <a:pathLst>
              <a:path extrusionOk="0" h="120000" w="120000">
                <a:moveTo>
                  <a:pt x="120000" y="60000"/>
                </a:moveTo>
                <a:lnTo>
                  <a:pt x="0" y="0"/>
                </a:lnTo>
                <a:lnTo>
                  <a:pt x="0" y="120000"/>
                </a:lnTo>
                <a:close/>
              </a:path>
            </a:pathLst>
          </a:custGeom>
          <a:solidFill>
            <a:srgbClr val="37415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26"/>
          <p:cNvSpPr/>
          <p:nvPr/>
        </p:nvSpPr>
        <p:spPr>
          <a:xfrm>
            <a:off x="2667000" y="2047875"/>
            <a:ext cx="1428900" cy="381000"/>
          </a:xfrm>
          <a:custGeom>
            <a:rect b="b" l="l" r="r" t="t"/>
            <a:pathLst>
              <a:path extrusionOk="0" h="120000" w="120000">
                <a:moveTo>
                  <a:pt x="0" y="120000"/>
                </a:moveTo>
                <a:lnTo>
                  <a:pt x="120000" y="0"/>
                </a:lnTo>
              </a:path>
            </a:pathLst>
          </a:custGeom>
          <a:solidFill>
            <a:srgbClr val="000000">
              <a:alpha val="0"/>
            </a:srgbClr>
          </a:solidFill>
          <a:ln cap="flat" cmpd="sng" w="14300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26"/>
          <p:cNvSpPr/>
          <p:nvPr/>
        </p:nvSpPr>
        <p:spPr>
          <a:xfrm>
            <a:off x="4076700" y="2009775"/>
            <a:ext cx="57300" cy="57300"/>
          </a:xfrm>
          <a:custGeom>
            <a:rect b="b" l="l" r="r" t="t"/>
            <a:pathLst>
              <a:path extrusionOk="0" h="120000" w="120000">
                <a:moveTo>
                  <a:pt x="120000" y="60000"/>
                </a:moveTo>
                <a:lnTo>
                  <a:pt x="0" y="0"/>
                </a:lnTo>
                <a:lnTo>
                  <a:pt x="40000" y="120000"/>
                </a:lnTo>
                <a:close/>
              </a:path>
            </a:pathLst>
          </a:custGeom>
          <a:solidFill>
            <a:srgbClr val="37415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26"/>
          <p:cNvSpPr/>
          <p:nvPr/>
        </p:nvSpPr>
        <p:spPr>
          <a:xfrm>
            <a:off x="2667000" y="2428875"/>
            <a:ext cx="1428900" cy="190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120000"/>
                </a:lnTo>
              </a:path>
            </a:pathLst>
          </a:custGeom>
          <a:solidFill>
            <a:srgbClr val="000000">
              <a:alpha val="0"/>
            </a:srgbClr>
          </a:solidFill>
          <a:ln cap="flat" cmpd="sng" w="14300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26"/>
          <p:cNvSpPr/>
          <p:nvPr/>
        </p:nvSpPr>
        <p:spPr>
          <a:xfrm>
            <a:off x="4076700" y="2600325"/>
            <a:ext cx="57300" cy="57300"/>
          </a:xfrm>
          <a:custGeom>
            <a:rect b="b" l="l" r="r" t="t"/>
            <a:pathLst>
              <a:path extrusionOk="0" h="120000" w="120000">
                <a:moveTo>
                  <a:pt x="120000" y="60000"/>
                </a:moveTo>
                <a:lnTo>
                  <a:pt x="40000" y="0"/>
                </a:lnTo>
                <a:lnTo>
                  <a:pt x="0" y="120000"/>
                </a:lnTo>
                <a:close/>
              </a:path>
            </a:pathLst>
          </a:custGeom>
          <a:solidFill>
            <a:srgbClr val="37415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26"/>
          <p:cNvSpPr/>
          <p:nvPr/>
        </p:nvSpPr>
        <p:spPr>
          <a:xfrm>
            <a:off x="2667000" y="3190875"/>
            <a:ext cx="1428900" cy="190500"/>
          </a:xfrm>
          <a:custGeom>
            <a:rect b="b" l="l" r="r" t="t"/>
            <a:pathLst>
              <a:path extrusionOk="0" h="120000" w="120000">
                <a:moveTo>
                  <a:pt x="0" y="120000"/>
                </a:moveTo>
                <a:lnTo>
                  <a:pt x="120000" y="0"/>
                </a:lnTo>
              </a:path>
            </a:pathLst>
          </a:custGeom>
          <a:solidFill>
            <a:srgbClr val="000000">
              <a:alpha val="0"/>
            </a:srgbClr>
          </a:solidFill>
          <a:ln cap="flat" cmpd="sng" w="14300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26"/>
          <p:cNvSpPr/>
          <p:nvPr/>
        </p:nvSpPr>
        <p:spPr>
          <a:xfrm>
            <a:off x="4076700" y="3152775"/>
            <a:ext cx="57300" cy="57300"/>
          </a:xfrm>
          <a:custGeom>
            <a:rect b="b" l="l" r="r" t="t"/>
            <a:pathLst>
              <a:path extrusionOk="0" h="120000" w="120000">
                <a:moveTo>
                  <a:pt x="120000" y="60000"/>
                </a:moveTo>
                <a:lnTo>
                  <a:pt x="0" y="0"/>
                </a:lnTo>
                <a:lnTo>
                  <a:pt x="40000" y="120000"/>
                </a:lnTo>
                <a:close/>
              </a:path>
            </a:pathLst>
          </a:custGeom>
          <a:solidFill>
            <a:srgbClr val="37415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26"/>
          <p:cNvSpPr/>
          <p:nvPr/>
        </p:nvSpPr>
        <p:spPr>
          <a:xfrm>
            <a:off x="2667000" y="3381375"/>
            <a:ext cx="1428900" cy="38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120000"/>
                </a:lnTo>
              </a:path>
            </a:pathLst>
          </a:custGeom>
          <a:solidFill>
            <a:srgbClr val="000000">
              <a:alpha val="0"/>
            </a:srgbClr>
          </a:solidFill>
          <a:ln cap="flat" cmpd="sng" w="14300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26"/>
          <p:cNvSpPr/>
          <p:nvPr/>
        </p:nvSpPr>
        <p:spPr>
          <a:xfrm>
            <a:off x="4076700" y="3743325"/>
            <a:ext cx="57300" cy="57300"/>
          </a:xfrm>
          <a:custGeom>
            <a:rect b="b" l="l" r="r" t="t"/>
            <a:pathLst>
              <a:path extrusionOk="0" h="120000" w="120000">
                <a:moveTo>
                  <a:pt x="120000" y="60000"/>
                </a:moveTo>
                <a:lnTo>
                  <a:pt x="40000" y="0"/>
                </a:lnTo>
                <a:lnTo>
                  <a:pt x="0" y="120000"/>
                </a:lnTo>
                <a:close/>
              </a:path>
            </a:pathLst>
          </a:custGeom>
          <a:solidFill>
            <a:srgbClr val="37415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36" name="Google Shape;536;p26"/>
          <p:cNvGrpSpPr/>
          <p:nvPr/>
        </p:nvGrpSpPr>
        <p:grpSpPr>
          <a:xfrm>
            <a:off x="1047750" y="1095375"/>
            <a:ext cx="1619100" cy="762000"/>
            <a:chOff x="0" y="0"/>
            <a:chExt cx="1619100" cy="762000"/>
          </a:xfrm>
        </p:grpSpPr>
        <p:sp>
          <p:nvSpPr>
            <p:cNvPr id="537" name="Google Shape;537;p26"/>
            <p:cNvSpPr/>
            <p:nvPr/>
          </p:nvSpPr>
          <p:spPr>
            <a:xfrm>
              <a:off x="0" y="0"/>
              <a:ext cx="1619100" cy="762000"/>
            </a:xfrm>
            <a:prstGeom prst="roundRect">
              <a:avLst>
                <a:gd fmla="val 10000" name="adj"/>
              </a:avLst>
            </a:prstGeom>
            <a:solidFill>
              <a:srgbClr val="121214"/>
            </a:solidFill>
            <a:ln cap="flat" cmpd="sng" w="9525">
              <a:solidFill>
                <a:srgbClr val="2222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26"/>
            <p:cNvSpPr txBox="1"/>
            <p:nvPr/>
          </p:nvSpPr>
          <p:spPr>
            <a:xfrm>
              <a:off x="142875" y="114300"/>
              <a:ext cx="13335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800">
                  <a:solidFill>
                    <a:srgbClr val="9CA3AF"/>
                  </a:solidFill>
                  <a:latin typeface="Inter"/>
                  <a:ea typeface="Inter"/>
                  <a:cs typeface="Inter"/>
                  <a:sym typeface="Inter"/>
                </a:rPr>
                <a:t>LAYER 01</a:t>
              </a:r>
              <a:endParaRPr b="1" sz="8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Frontend Client</a:t>
              </a:r>
              <a:endParaRPr b="1" sz="9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"/>
                </a:spcBef>
                <a:spcAft>
                  <a:spcPts val="0"/>
                </a:spcAft>
                <a:buNone/>
              </a:pPr>
              <a:r>
                <a:rPr b="0" lang="en-GB" sz="700">
                  <a:solidFill>
                    <a:srgbClr val="9CA3AF"/>
                  </a:solidFill>
                  <a:latin typeface="Inter"/>
                  <a:ea typeface="Inter"/>
                  <a:cs typeface="Inter"/>
                  <a:sym typeface="Inter"/>
                </a:rPr>
                <a:t>Interactive Student Interface &amp; Live Verification Dashboard</a:t>
              </a:r>
              <a:endParaRPr b="0" sz="7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39" name="Google Shape;539;p26"/>
          <p:cNvGrpSpPr/>
          <p:nvPr/>
        </p:nvGrpSpPr>
        <p:grpSpPr>
          <a:xfrm>
            <a:off x="1047750" y="2047875"/>
            <a:ext cx="1619100" cy="762000"/>
            <a:chOff x="0" y="0"/>
            <a:chExt cx="1619100" cy="762000"/>
          </a:xfrm>
        </p:grpSpPr>
        <p:sp>
          <p:nvSpPr>
            <p:cNvPr id="540" name="Google Shape;540;p26"/>
            <p:cNvSpPr/>
            <p:nvPr/>
          </p:nvSpPr>
          <p:spPr>
            <a:xfrm>
              <a:off x="0" y="0"/>
              <a:ext cx="1619100" cy="762000"/>
            </a:xfrm>
            <a:prstGeom prst="roundRect">
              <a:avLst>
                <a:gd fmla="val 10000" name="adj"/>
              </a:avLst>
            </a:prstGeom>
            <a:solidFill>
              <a:srgbClr val="121214"/>
            </a:solidFill>
            <a:ln cap="flat" cmpd="sng" w="9525">
              <a:solidFill>
                <a:srgbClr val="2222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26"/>
            <p:cNvSpPr txBox="1"/>
            <p:nvPr/>
          </p:nvSpPr>
          <p:spPr>
            <a:xfrm>
              <a:off x="142875" y="114300"/>
              <a:ext cx="13335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800">
                  <a:solidFill>
                    <a:srgbClr val="9CA3AF"/>
                  </a:solidFill>
                  <a:latin typeface="Inter"/>
                  <a:ea typeface="Inter"/>
                  <a:cs typeface="Inter"/>
                  <a:sym typeface="Inter"/>
                </a:rPr>
                <a:t>LAYER 02</a:t>
              </a:r>
              <a:endParaRPr b="1" sz="8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Backend API Gateway</a:t>
              </a:r>
              <a:endParaRPr b="1" sz="9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"/>
                </a:spcBef>
                <a:spcAft>
                  <a:spcPts val="0"/>
                </a:spcAft>
                <a:buNone/>
              </a:pPr>
              <a:r>
                <a:rPr b="0" lang="en-GB" sz="700">
                  <a:solidFill>
                    <a:srgbClr val="9CA3AF"/>
                  </a:solidFill>
                  <a:latin typeface="Inter"/>
                  <a:ea typeface="Inter"/>
                  <a:cs typeface="Inter"/>
                  <a:sym typeface="Inter"/>
                </a:rPr>
                <a:t>REST &amp; Real-time Event Controller &amp; Request Router</a:t>
              </a:r>
              <a:endParaRPr b="0" sz="7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42" name="Google Shape;542;p26"/>
          <p:cNvGrpSpPr/>
          <p:nvPr/>
        </p:nvGrpSpPr>
        <p:grpSpPr>
          <a:xfrm>
            <a:off x="1047750" y="3000375"/>
            <a:ext cx="1619100" cy="762000"/>
            <a:chOff x="0" y="0"/>
            <a:chExt cx="1619100" cy="762000"/>
          </a:xfrm>
        </p:grpSpPr>
        <p:sp>
          <p:nvSpPr>
            <p:cNvPr id="543" name="Google Shape;543;p26"/>
            <p:cNvSpPr/>
            <p:nvPr/>
          </p:nvSpPr>
          <p:spPr>
            <a:xfrm>
              <a:off x="0" y="0"/>
              <a:ext cx="1619100" cy="762000"/>
            </a:xfrm>
            <a:prstGeom prst="roundRect">
              <a:avLst>
                <a:gd fmla="val 10000" name="adj"/>
              </a:avLst>
            </a:prstGeom>
            <a:solidFill>
              <a:srgbClr val="121214"/>
            </a:solidFill>
            <a:ln cap="flat" cmpd="sng" w="9525">
              <a:solidFill>
                <a:srgbClr val="2222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26"/>
            <p:cNvSpPr txBox="1"/>
            <p:nvPr/>
          </p:nvSpPr>
          <p:spPr>
            <a:xfrm>
              <a:off x="142875" y="114300"/>
              <a:ext cx="13335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800">
                  <a:solidFill>
                    <a:srgbClr val="9CA3AF"/>
                  </a:solidFill>
                  <a:latin typeface="Inter"/>
                  <a:ea typeface="Inter"/>
                  <a:cs typeface="Inter"/>
                  <a:sym typeface="Inter"/>
                </a:rPr>
                <a:t>LAYER 03</a:t>
              </a:r>
              <a:endParaRPr b="1" sz="8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Core Services Engine</a:t>
              </a:r>
              <a:endParaRPr b="1" sz="9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"/>
                </a:spcBef>
                <a:spcAft>
                  <a:spcPts val="0"/>
                </a:spcAft>
                <a:buNone/>
              </a:pPr>
              <a:r>
                <a:rPr b="0" lang="en-GB" sz="700">
                  <a:solidFill>
                    <a:srgbClr val="9CA3AF"/>
                  </a:solidFill>
                  <a:latin typeface="Inter"/>
                  <a:ea typeface="Inter"/>
                  <a:cs typeface="Inter"/>
                  <a:sym typeface="Inter"/>
                </a:rPr>
                <a:t>Business Logic, Analytics &amp; Async Task Processors</a:t>
              </a:r>
              <a:endParaRPr b="0" sz="7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45" name="Google Shape;545;p26"/>
          <p:cNvGrpSpPr/>
          <p:nvPr/>
        </p:nvGrpSpPr>
        <p:grpSpPr>
          <a:xfrm>
            <a:off x="1047750" y="3952875"/>
            <a:ext cx="2357827" cy="4259475"/>
            <a:chOff x="0" y="0"/>
            <a:chExt cx="2357827" cy="4259475"/>
          </a:xfrm>
        </p:grpSpPr>
        <p:sp>
          <p:nvSpPr>
            <p:cNvPr id="546" name="Google Shape;546;p26"/>
            <p:cNvSpPr/>
            <p:nvPr/>
          </p:nvSpPr>
          <p:spPr>
            <a:xfrm>
              <a:off x="0" y="0"/>
              <a:ext cx="1619100" cy="381000"/>
            </a:xfrm>
            <a:prstGeom prst="roundRect">
              <a:avLst>
                <a:gd fmla="val 20000" name="adj"/>
              </a:avLst>
            </a:prstGeom>
            <a:solidFill>
              <a:srgbClr val="064E3B">
                <a:alpha val="20000"/>
              </a:srgbClr>
            </a:solidFill>
            <a:ln cap="flat" cmpd="sng" w="11425">
              <a:solidFill>
                <a:srgbClr val="10B98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26"/>
            <p:cNvSpPr txBox="1"/>
            <p:nvPr/>
          </p:nvSpPr>
          <p:spPr>
            <a:xfrm>
              <a:off x="1357027" y="4105275"/>
              <a:ext cx="1000800" cy="15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750">
                  <a:solidFill>
                    <a:srgbClr val="10B981"/>
                  </a:solidFill>
                  <a:latin typeface="Inter"/>
                  <a:ea typeface="Inter"/>
                  <a:cs typeface="Inter"/>
                  <a:sym typeface="Inter"/>
                </a:rPr>
                <a:t>Verified Database</a:t>
              </a:r>
              <a:endParaRPr b="1" sz="750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48" name="Google Shape;548;p26"/>
          <p:cNvGrpSpPr/>
          <p:nvPr/>
        </p:nvGrpSpPr>
        <p:grpSpPr>
          <a:xfrm>
            <a:off x="4191000" y="1095375"/>
            <a:ext cx="3905400" cy="552600"/>
            <a:chOff x="0" y="0"/>
            <a:chExt cx="3905400" cy="552600"/>
          </a:xfrm>
        </p:grpSpPr>
        <p:sp>
          <p:nvSpPr>
            <p:cNvPr id="549" name="Google Shape;549;p26"/>
            <p:cNvSpPr/>
            <p:nvPr/>
          </p:nvSpPr>
          <p:spPr>
            <a:xfrm>
              <a:off x="0" y="0"/>
              <a:ext cx="3905400" cy="552600"/>
            </a:xfrm>
            <a:prstGeom prst="roundRect">
              <a:avLst>
                <a:gd fmla="val 13793" name="adj"/>
              </a:avLst>
            </a:prstGeom>
            <a:solidFill>
              <a:srgbClr val="121214"/>
            </a:solidFill>
            <a:ln cap="flat" cmpd="sng" w="9525">
              <a:solidFill>
                <a:srgbClr val="2222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26"/>
            <p:cNvSpPr/>
            <p:nvPr/>
          </p:nvSpPr>
          <p:spPr>
            <a:xfrm>
              <a:off x="152400" y="142875"/>
              <a:ext cx="266700" cy="266700"/>
            </a:xfrm>
            <a:prstGeom prst="ellipse">
              <a:avLst/>
            </a:prstGeom>
            <a:solidFill>
              <a:srgbClr val="1E1E2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26"/>
            <p:cNvSpPr txBox="1"/>
            <p:nvPr/>
          </p:nvSpPr>
          <p:spPr>
            <a:xfrm>
              <a:off x="232772" y="245745"/>
              <a:ext cx="105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574">
                  <a:solidFill>
                    <a:srgbClr val="10B981"/>
                  </a:solidFill>
                  <a:latin typeface="Inter"/>
                  <a:ea typeface="Inter"/>
                  <a:cs typeface="Inter"/>
                  <a:sym typeface="Inter"/>
                </a:rPr>
                <a:t>01</a:t>
              </a:r>
              <a:endParaRPr b="1" sz="574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52" name="Google Shape;552;p26"/>
            <p:cNvSpPr txBox="1"/>
            <p:nvPr/>
          </p:nvSpPr>
          <p:spPr>
            <a:xfrm>
              <a:off x="571500" y="76200"/>
              <a:ext cx="31434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User Profiles</a:t>
              </a:r>
              <a:endParaRPr b="1" sz="9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"/>
                </a:spcBef>
                <a:spcAft>
                  <a:spcPts val="0"/>
                </a:spcAft>
                <a:buNone/>
              </a:pPr>
              <a:r>
                <a:rPr b="0" lang="en-GB" sz="700">
                  <a:solidFill>
                    <a:srgbClr val="9CA3AF"/>
                  </a:solidFill>
                  <a:latin typeface="Inter"/>
                  <a:ea typeface="Inter"/>
                  <a:cs typeface="Inter"/>
                  <a:sym typeface="Inter"/>
                </a:rPr>
                <a:t>Maintains decentralized, tamper-proof academic and personal student identities.</a:t>
              </a:r>
              <a:endParaRPr b="0" sz="7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53" name="Google Shape;553;p26"/>
          <p:cNvGrpSpPr/>
          <p:nvPr/>
        </p:nvGrpSpPr>
        <p:grpSpPr>
          <a:xfrm>
            <a:off x="4191000" y="1743075"/>
            <a:ext cx="3905400" cy="552600"/>
            <a:chOff x="0" y="0"/>
            <a:chExt cx="3905400" cy="552600"/>
          </a:xfrm>
        </p:grpSpPr>
        <p:sp>
          <p:nvSpPr>
            <p:cNvPr id="554" name="Google Shape;554;p26"/>
            <p:cNvSpPr/>
            <p:nvPr/>
          </p:nvSpPr>
          <p:spPr>
            <a:xfrm>
              <a:off x="0" y="0"/>
              <a:ext cx="3905400" cy="552600"/>
            </a:xfrm>
            <a:prstGeom prst="roundRect">
              <a:avLst>
                <a:gd fmla="val 13793" name="adj"/>
              </a:avLst>
            </a:prstGeom>
            <a:solidFill>
              <a:srgbClr val="121214"/>
            </a:solidFill>
            <a:ln cap="flat" cmpd="sng" w="9525">
              <a:solidFill>
                <a:srgbClr val="2222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" name="Google Shape;555;p26"/>
            <p:cNvSpPr/>
            <p:nvPr/>
          </p:nvSpPr>
          <p:spPr>
            <a:xfrm>
              <a:off x="152400" y="142875"/>
              <a:ext cx="266700" cy="266700"/>
            </a:xfrm>
            <a:prstGeom prst="ellipse">
              <a:avLst/>
            </a:prstGeom>
            <a:solidFill>
              <a:srgbClr val="1E1E2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26"/>
            <p:cNvSpPr txBox="1"/>
            <p:nvPr/>
          </p:nvSpPr>
          <p:spPr>
            <a:xfrm>
              <a:off x="232772" y="245745"/>
              <a:ext cx="105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574">
                  <a:solidFill>
                    <a:srgbClr val="10B981"/>
                  </a:solidFill>
                  <a:latin typeface="Inter"/>
                  <a:ea typeface="Inter"/>
                  <a:cs typeface="Inter"/>
                  <a:sym typeface="Inter"/>
                </a:rPr>
                <a:t>02</a:t>
              </a:r>
              <a:endParaRPr b="1" sz="574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57" name="Google Shape;557;p26"/>
            <p:cNvSpPr txBox="1"/>
            <p:nvPr/>
          </p:nvSpPr>
          <p:spPr>
            <a:xfrm>
              <a:off x="571500" y="76200"/>
              <a:ext cx="31434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Skill Mapping</a:t>
              </a:r>
              <a:endParaRPr b="1" sz="9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"/>
                </a:spcBef>
                <a:spcAft>
                  <a:spcPts val="0"/>
                </a:spcAft>
                <a:buNone/>
              </a:pPr>
              <a:r>
                <a:rPr b="0" lang="en-GB" sz="700">
                  <a:solidFill>
                    <a:srgbClr val="9CA3AF"/>
                  </a:solidFill>
                  <a:latin typeface="Inter"/>
                  <a:ea typeface="Inter"/>
                  <a:cs typeface="Inter"/>
                  <a:sym typeface="Inter"/>
                </a:rPr>
                <a:t>Deconstructs and structures student competencies from verified academic history.</a:t>
              </a:r>
              <a:endParaRPr b="0" sz="7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58" name="Google Shape;558;p26"/>
          <p:cNvGrpSpPr/>
          <p:nvPr/>
        </p:nvGrpSpPr>
        <p:grpSpPr>
          <a:xfrm>
            <a:off x="4191000" y="2390775"/>
            <a:ext cx="3905400" cy="552600"/>
            <a:chOff x="0" y="0"/>
            <a:chExt cx="3905400" cy="552600"/>
          </a:xfrm>
        </p:grpSpPr>
        <p:sp>
          <p:nvSpPr>
            <p:cNvPr id="559" name="Google Shape;559;p26"/>
            <p:cNvSpPr/>
            <p:nvPr/>
          </p:nvSpPr>
          <p:spPr>
            <a:xfrm>
              <a:off x="0" y="0"/>
              <a:ext cx="3905400" cy="552600"/>
            </a:xfrm>
            <a:prstGeom prst="roundRect">
              <a:avLst>
                <a:gd fmla="val 13793" name="adj"/>
              </a:avLst>
            </a:prstGeom>
            <a:solidFill>
              <a:srgbClr val="121214"/>
            </a:solidFill>
            <a:ln cap="flat" cmpd="sng" w="9525">
              <a:solidFill>
                <a:srgbClr val="2222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26"/>
            <p:cNvSpPr/>
            <p:nvPr/>
          </p:nvSpPr>
          <p:spPr>
            <a:xfrm>
              <a:off x="152400" y="142875"/>
              <a:ext cx="266700" cy="266700"/>
            </a:xfrm>
            <a:prstGeom prst="ellipse">
              <a:avLst/>
            </a:prstGeom>
            <a:solidFill>
              <a:srgbClr val="1E1E2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26"/>
            <p:cNvSpPr txBox="1"/>
            <p:nvPr/>
          </p:nvSpPr>
          <p:spPr>
            <a:xfrm>
              <a:off x="232772" y="245745"/>
              <a:ext cx="105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574">
                  <a:solidFill>
                    <a:srgbClr val="10B981"/>
                  </a:solidFill>
                  <a:latin typeface="Inter"/>
                  <a:ea typeface="Inter"/>
                  <a:cs typeface="Inter"/>
                  <a:sym typeface="Inter"/>
                </a:rPr>
                <a:t>03</a:t>
              </a:r>
              <a:endParaRPr b="1" sz="574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62" name="Google Shape;562;p26"/>
            <p:cNvSpPr txBox="1"/>
            <p:nvPr/>
          </p:nvSpPr>
          <p:spPr>
            <a:xfrm>
              <a:off x="571500" y="76200"/>
              <a:ext cx="31434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Gap Analysis</a:t>
              </a:r>
              <a:endParaRPr b="1" sz="9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"/>
                </a:spcBef>
                <a:spcAft>
                  <a:spcPts val="0"/>
                </a:spcAft>
                <a:buNone/>
              </a:pPr>
              <a:r>
                <a:rPr b="0" lang="en-GB" sz="700">
                  <a:solidFill>
                    <a:srgbClr val="9CA3AF"/>
                  </a:solidFill>
                  <a:latin typeface="Inter"/>
                  <a:ea typeface="Inter"/>
                  <a:cs typeface="Inter"/>
                  <a:sym typeface="Inter"/>
                </a:rPr>
                <a:t>Compares current capabilities against targeted industry roles in real time.</a:t>
              </a:r>
              <a:endParaRPr b="0" sz="7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63" name="Google Shape;563;p26"/>
          <p:cNvGrpSpPr/>
          <p:nvPr/>
        </p:nvGrpSpPr>
        <p:grpSpPr>
          <a:xfrm>
            <a:off x="4191000" y="3038475"/>
            <a:ext cx="3905400" cy="552600"/>
            <a:chOff x="0" y="0"/>
            <a:chExt cx="3905400" cy="552600"/>
          </a:xfrm>
        </p:grpSpPr>
        <p:sp>
          <p:nvSpPr>
            <p:cNvPr id="564" name="Google Shape;564;p26"/>
            <p:cNvSpPr/>
            <p:nvPr/>
          </p:nvSpPr>
          <p:spPr>
            <a:xfrm>
              <a:off x="0" y="0"/>
              <a:ext cx="3905400" cy="552600"/>
            </a:xfrm>
            <a:prstGeom prst="roundRect">
              <a:avLst>
                <a:gd fmla="val 13793" name="adj"/>
              </a:avLst>
            </a:prstGeom>
            <a:solidFill>
              <a:srgbClr val="064E3B">
                <a:alpha val="20000"/>
              </a:srgbClr>
            </a:solidFill>
            <a:ln cap="flat" cmpd="sng" w="11425">
              <a:solidFill>
                <a:srgbClr val="10B98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26"/>
            <p:cNvSpPr/>
            <p:nvPr/>
          </p:nvSpPr>
          <p:spPr>
            <a:xfrm>
              <a:off x="152400" y="142875"/>
              <a:ext cx="266700" cy="266700"/>
            </a:xfrm>
            <a:prstGeom prst="ellipse">
              <a:avLst/>
            </a:prstGeom>
            <a:solidFill>
              <a:srgbClr val="064E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26"/>
            <p:cNvSpPr txBox="1"/>
            <p:nvPr/>
          </p:nvSpPr>
          <p:spPr>
            <a:xfrm>
              <a:off x="232772" y="245745"/>
              <a:ext cx="105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574">
                  <a:solidFill>
                    <a:srgbClr val="10B981"/>
                  </a:solidFill>
                  <a:latin typeface="Inter"/>
                  <a:ea typeface="Inter"/>
                  <a:cs typeface="Inter"/>
                  <a:sym typeface="Inter"/>
                </a:rPr>
                <a:t>04</a:t>
              </a:r>
              <a:endParaRPr b="1" sz="574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67" name="Google Shape;567;p26"/>
            <p:cNvSpPr txBox="1"/>
            <p:nvPr/>
          </p:nvSpPr>
          <p:spPr>
            <a:xfrm>
              <a:off x="571500" y="76200"/>
              <a:ext cx="31434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Opportunity Matching</a:t>
              </a:r>
              <a:endParaRPr b="1" sz="9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"/>
                </a:spcBef>
                <a:spcAft>
                  <a:spcPts val="0"/>
                </a:spcAft>
                <a:buNone/>
              </a:pPr>
              <a:r>
                <a:rPr b="0" lang="en-GB" sz="700">
                  <a:solidFill>
                    <a:srgbClr val="A7F3D0"/>
                  </a:solidFill>
                  <a:latin typeface="Inter"/>
                  <a:ea typeface="Inter"/>
                  <a:cs typeface="Inter"/>
                  <a:sym typeface="Inter"/>
                </a:rPr>
                <a:t>Maps skill vectors directly to active employment and internship pipelines.</a:t>
              </a:r>
              <a:endParaRPr b="0" sz="700">
                <a:solidFill>
                  <a:srgbClr val="A7F3D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68" name="Google Shape;568;p26"/>
          <p:cNvGrpSpPr/>
          <p:nvPr/>
        </p:nvGrpSpPr>
        <p:grpSpPr>
          <a:xfrm>
            <a:off x="4191000" y="3686175"/>
            <a:ext cx="3905400" cy="552600"/>
            <a:chOff x="0" y="0"/>
            <a:chExt cx="3905400" cy="552600"/>
          </a:xfrm>
        </p:grpSpPr>
        <p:sp>
          <p:nvSpPr>
            <p:cNvPr id="569" name="Google Shape;569;p26"/>
            <p:cNvSpPr/>
            <p:nvPr/>
          </p:nvSpPr>
          <p:spPr>
            <a:xfrm>
              <a:off x="0" y="0"/>
              <a:ext cx="3905400" cy="552600"/>
            </a:xfrm>
            <a:prstGeom prst="roundRect">
              <a:avLst>
                <a:gd fmla="val 13793" name="adj"/>
              </a:avLst>
            </a:prstGeom>
            <a:solidFill>
              <a:srgbClr val="121214"/>
            </a:solidFill>
            <a:ln cap="flat" cmpd="sng" w="9525">
              <a:solidFill>
                <a:srgbClr val="2222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26"/>
            <p:cNvSpPr/>
            <p:nvPr/>
          </p:nvSpPr>
          <p:spPr>
            <a:xfrm>
              <a:off x="152400" y="142875"/>
              <a:ext cx="266700" cy="266700"/>
            </a:xfrm>
            <a:prstGeom prst="ellipse">
              <a:avLst/>
            </a:prstGeom>
            <a:solidFill>
              <a:srgbClr val="1E1E2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26"/>
            <p:cNvSpPr txBox="1"/>
            <p:nvPr/>
          </p:nvSpPr>
          <p:spPr>
            <a:xfrm>
              <a:off x="232772" y="245745"/>
              <a:ext cx="105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574">
                  <a:solidFill>
                    <a:srgbClr val="10B981"/>
                  </a:solidFill>
                  <a:latin typeface="Inter"/>
                  <a:ea typeface="Inter"/>
                  <a:cs typeface="Inter"/>
                  <a:sym typeface="Inter"/>
                </a:rPr>
                <a:t>05</a:t>
              </a:r>
              <a:endParaRPr b="1" sz="574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72" name="Google Shape;572;p26"/>
            <p:cNvSpPr txBox="1"/>
            <p:nvPr/>
          </p:nvSpPr>
          <p:spPr>
            <a:xfrm>
              <a:off x="571500" y="76200"/>
              <a:ext cx="31434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Recommendation System</a:t>
              </a:r>
              <a:endParaRPr b="1" sz="9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"/>
                </a:spcBef>
                <a:spcAft>
                  <a:spcPts val="0"/>
                </a:spcAft>
                <a:buNone/>
              </a:pPr>
              <a:r>
                <a:rPr b="0" lang="en-GB" sz="700">
                  <a:solidFill>
                    <a:srgbClr val="9CA3AF"/>
                  </a:solidFill>
                  <a:latin typeface="Inter"/>
                  <a:ea typeface="Inter"/>
                  <a:cs typeface="Inter"/>
                  <a:sym typeface="Inter"/>
                </a:rPr>
                <a:t>Suggests specific verified courses and roadmaps to bridge calculated gaps.</a:t>
              </a:r>
              <a:endParaRPr b="0" sz="7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cxnSp>
        <p:nvCxnSpPr>
          <p:cNvPr id="573" name="Google Shape;573;p26"/>
          <p:cNvCxnSpPr/>
          <p:nvPr/>
        </p:nvCxnSpPr>
        <p:spPr>
          <a:xfrm>
            <a:off x="952500" y="4619625"/>
            <a:ext cx="72390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22222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4" name="Google Shape;574;p26"/>
          <p:cNvSpPr txBox="1"/>
          <p:nvPr/>
        </p:nvSpPr>
        <p:spPr>
          <a:xfrm>
            <a:off x="952500" y="4732020"/>
            <a:ext cx="650400" cy="1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8">
                <a:solidFill>
                  <a:srgbClr val="9CA3AF"/>
                </a:solidFill>
                <a:latin typeface="Space Mono"/>
                <a:ea typeface="Space Mono"/>
                <a:cs typeface="Space Mono"/>
                <a:sym typeface="Space Mono"/>
              </a:rPr>
              <a:t>TEAM: COFFETOTODE</a:t>
            </a:r>
            <a:endParaRPr sz="488">
              <a:solidFill>
                <a:srgbClr val="9CA3AF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575" name="Google Shape;575;p26"/>
          <p:cNvSpPr txBox="1"/>
          <p:nvPr/>
        </p:nvSpPr>
        <p:spPr>
          <a:xfrm>
            <a:off x="7541047" y="4732020"/>
            <a:ext cx="650400" cy="1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8">
                <a:solidFill>
                  <a:srgbClr val="9CA3AF"/>
                </a:solidFill>
                <a:latin typeface="Space Mono"/>
                <a:ea typeface="Space Mono"/>
                <a:cs typeface="Space Mono"/>
                <a:sym typeface="Space Mono"/>
              </a:rPr>
              <a:t>PROBLEM: SIH26044</a:t>
            </a:r>
            <a:endParaRPr sz="488">
              <a:solidFill>
                <a:srgbClr val="9CA3AF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2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81" name="Google Shape;581;p27"/>
          <p:cNvGrpSpPr/>
          <p:nvPr/>
        </p:nvGrpSpPr>
        <p:grpSpPr>
          <a:xfrm>
            <a:off x="3048000" y="238125"/>
            <a:ext cx="3048000" cy="209700"/>
            <a:chOff x="0" y="0"/>
            <a:chExt cx="3048000" cy="209700"/>
          </a:xfrm>
        </p:grpSpPr>
        <p:sp>
          <p:nvSpPr>
            <p:cNvPr id="582" name="Google Shape;582;p27"/>
            <p:cNvSpPr/>
            <p:nvPr/>
          </p:nvSpPr>
          <p:spPr>
            <a:xfrm>
              <a:off x="0" y="0"/>
              <a:ext cx="3048000" cy="209700"/>
            </a:xfrm>
            <a:prstGeom prst="roundRect">
              <a:avLst>
                <a:gd fmla="val 50000" name="adj"/>
              </a:avLst>
            </a:prstGeom>
            <a:solidFill>
              <a:srgbClr val="000000">
                <a:alpha val="0"/>
              </a:srgbClr>
            </a:solidFill>
            <a:ln cap="flat" cmpd="sng" w="11425">
              <a:solidFill>
                <a:srgbClr val="EF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" name="Google Shape;583;p27"/>
            <p:cNvSpPr txBox="1"/>
            <p:nvPr/>
          </p:nvSpPr>
          <p:spPr>
            <a:xfrm>
              <a:off x="0" y="0"/>
              <a:ext cx="30480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638">
                  <a:solidFill>
                    <a:srgbClr val="EF4444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SIH 2026 | WORKFLOW ARCHITECTURE</a:t>
              </a:r>
              <a:endParaRPr b="0" sz="638">
                <a:solidFill>
                  <a:srgbClr val="EF4444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sp>
        <p:nvSpPr>
          <p:cNvPr id="584" name="Google Shape;584;p27"/>
          <p:cNvSpPr txBox="1"/>
          <p:nvPr/>
        </p:nvSpPr>
        <p:spPr>
          <a:xfrm>
            <a:off x="762000" y="514350"/>
            <a:ext cx="7620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00"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HOW SKILLBRIDGE WORKS</a:t>
            </a:r>
            <a:endParaRPr b="0" sz="1800">
              <a:solidFill>
                <a:srgbClr val="FFFFFF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585" name="Google Shape;585;p27"/>
          <p:cNvSpPr txBox="1"/>
          <p:nvPr/>
        </p:nvSpPr>
        <p:spPr>
          <a:xfrm>
            <a:off x="762000" y="781050"/>
            <a:ext cx="76200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723">
                <a:solidFill>
                  <a:srgbClr val="9CA3AF"/>
                </a:solidFill>
                <a:latin typeface="Inter Light"/>
                <a:ea typeface="Inter Light"/>
                <a:cs typeface="Inter Light"/>
                <a:sym typeface="Inter Light"/>
              </a:rPr>
              <a:t>A multi-layered system designed to seamlessly transform student data into actionable careers</a:t>
            </a:r>
            <a:endParaRPr b="0" sz="723">
              <a:solidFill>
                <a:srgbClr val="9CA3AF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grpSp>
        <p:nvGrpSpPr>
          <p:cNvPr id="586" name="Google Shape;586;p27"/>
          <p:cNvGrpSpPr/>
          <p:nvPr/>
        </p:nvGrpSpPr>
        <p:grpSpPr>
          <a:xfrm>
            <a:off x="381000" y="1095375"/>
            <a:ext cx="1238400" cy="1428900"/>
            <a:chOff x="0" y="0"/>
            <a:chExt cx="1238400" cy="1428900"/>
          </a:xfrm>
        </p:grpSpPr>
        <p:sp>
          <p:nvSpPr>
            <p:cNvPr id="587" name="Google Shape;587;p27"/>
            <p:cNvSpPr/>
            <p:nvPr/>
          </p:nvSpPr>
          <p:spPr>
            <a:xfrm>
              <a:off x="0" y="0"/>
              <a:ext cx="1238400" cy="1428900"/>
            </a:xfrm>
            <a:prstGeom prst="roundRect">
              <a:avLst>
                <a:gd fmla="val 6153" name="adj"/>
              </a:avLst>
            </a:prstGeom>
            <a:solidFill>
              <a:srgbClr val="1A1A1E"/>
            </a:solidFill>
            <a:ln cap="flat" cmpd="sng" w="9525">
              <a:solidFill>
                <a:srgbClr val="2222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27"/>
            <p:cNvSpPr/>
            <p:nvPr/>
          </p:nvSpPr>
          <p:spPr>
            <a:xfrm>
              <a:off x="114300" y="142875"/>
              <a:ext cx="304800" cy="228600"/>
            </a:xfrm>
            <a:prstGeom prst="roundRect">
              <a:avLst>
                <a:gd fmla="val 16666" name="adj"/>
              </a:avLst>
            </a:prstGeom>
            <a:solidFill>
              <a:srgbClr val="2E161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p27"/>
            <p:cNvSpPr txBox="1"/>
            <p:nvPr/>
          </p:nvSpPr>
          <p:spPr>
            <a:xfrm>
              <a:off x="114300" y="142875"/>
              <a:ext cx="304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30">
                  <a:solidFill>
                    <a:srgbClr val="EF4444"/>
                  </a:solidFill>
                  <a:latin typeface="Space Mono"/>
                  <a:ea typeface="Space Mono"/>
                  <a:cs typeface="Space Mono"/>
                  <a:sym typeface="Space Mono"/>
                </a:rPr>
                <a:t>01</a:t>
              </a:r>
              <a:endParaRPr b="1" sz="930">
                <a:solidFill>
                  <a:srgbClr val="EF4444"/>
                </a:solidFill>
                <a:latin typeface="Space Mono"/>
                <a:ea typeface="Space Mono"/>
                <a:cs typeface="Space Mono"/>
                <a:sym typeface="Space Mono"/>
              </a:endParaRPr>
            </a:p>
          </p:txBody>
        </p:sp>
        <p:sp>
          <p:nvSpPr>
            <p:cNvPr id="590" name="Google Shape;590;p27"/>
            <p:cNvSpPr txBox="1"/>
            <p:nvPr/>
          </p:nvSpPr>
          <p:spPr>
            <a:xfrm>
              <a:off x="114300" y="476250"/>
              <a:ext cx="10098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850">
                  <a:solidFill>
                    <a:srgbClr val="10B981"/>
                  </a:solidFill>
                  <a:latin typeface="Inter"/>
                  <a:ea typeface="Inter"/>
                  <a:cs typeface="Inter"/>
                  <a:sym typeface="Inter"/>
                </a:rPr>
                <a:t>Student Profile</a:t>
              </a:r>
              <a:endParaRPr b="1" sz="850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GB" sz="700">
                  <a:solidFill>
                    <a:srgbClr val="9CA3AF"/>
                  </a:solidFill>
                  <a:latin typeface="Inter"/>
                  <a:ea typeface="Inter"/>
                  <a:cs typeface="Inter"/>
                  <a:sym typeface="Inter"/>
                </a:rPr>
                <a:t>Student signs up and creates an academic and professional profile.</a:t>
              </a:r>
              <a:endParaRPr b="0" sz="7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591" name="Google Shape;591;p27"/>
          <p:cNvSpPr/>
          <p:nvPr/>
        </p:nvSpPr>
        <p:spPr>
          <a:xfrm>
            <a:off x="1695450" y="1809750"/>
            <a:ext cx="13350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</a:path>
            </a:pathLst>
          </a:custGeom>
          <a:solidFill>
            <a:srgbClr val="000000">
              <a:alpha val="0"/>
            </a:srgbClr>
          </a:solidFill>
          <a:ln cap="flat" cmpd="sng" w="143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27"/>
          <p:cNvSpPr/>
          <p:nvPr/>
        </p:nvSpPr>
        <p:spPr>
          <a:xfrm>
            <a:off x="1828800" y="1781175"/>
            <a:ext cx="57300" cy="57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6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EF444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93" name="Google Shape;593;p27"/>
          <p:cNvGrpSpPr/>
          <p:nvPr/>
        </p:nvGrpSpPr>
        <p:grpSpPr>
          <a:xfrm>
            <a:off x="1924050" y="1095375"/>
            <a:ext cx="1238400" cy="1428900"/>
            <a:chOff x="0" y="0"/>
            <a:chExt cx="1238400" cy="1428900"/>
          </a:xfrm>
        </p:grpSpPr>
        <p:sp>
          <p:nvSpPr>
            <p:cNvPr id="594" name="Google Shape;594;p27"/>
            <p:cNvSpPr/>
            <p:nvPr/>
          </p:nvSpPr>
          <p:spPr>
            <a:xfrm>
              <a:off x="0" y="0"/>
              <a:ext cx="1238400" cy="1428900"/>
            </a:xfrm>
            <a:prstGeom prst="roundRect">
              <a:avLst>
                <a:gd fmla="val 6153" name="adj"/>
              </a:avLst>
            </a:prstGeom>
            <a:solidFill>
              <a:srgbClr val="1A1A1E"/>
            </a:solidFill>
            <a:ln cap="flat" cmpd="sng" w="9525">
              <a:solidFill>
                <a:srgbClr val="2222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27"/>
            <p:cNvSpPr/>
            <p:nvPr/>
          </p:nvSpPr>
          <p:spPr>
            <a:xfrm>
              <a:off x="114300" y="142875"/>
              <a:ext cx="304800" cy="228600"/>
            </a:xfrm>
            <a:prstGeom prst="roundRect">
              <a:avLst>
                <a:gd fmla="val 16666" name="adj"/>
              </a:avLst>
            </a:prstGeom>
            <a:solidFill>
              <a:srgbClr val="2D2D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27"/>
            <p:cNvSpPr txBox="1"/>
            <p:nvPr/>
          </p:nvSpPr>
          <p:spPr>
            <a:xfrm>
              <a:off x="114300" y="142875"/>
              <a:ext cx="304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30">
                  <a:solidFill>
                    <a:srgbClr val="9CA3AF"/>
                  </a:solidFill>
                  <a:latin typeface="Space Mono"/>
                  <a:ea typeface="Space Mono"/>
                  <a:cs typeface="Space Mono"/>
                  <a:sym typeface="Space Mono"/>
                </a:rPr>
                <a:t>02</a:t>
              </a:r>
              <a:endParaRPr b="1" sz="930">
                <a:solidFill>
                  <a:srgbClr val="9CA3AF"/>
                </a:solidFill>
                <a:latin typeface="Space Mono"/>
                <a:ea typeface="Space Mono"/>
                <a:cs typeface="Space Mono"/>
                <a:sym typeface="Space Mono"/>
              </a:endParaRPr>
            </a:p>
          </p:txBody>
        </p:sp>
        <p:sp>
          <p:nvSpPr>
            <p:cNvPr id="597" name="Google Shape;597;p27"/>
            <p:cNvSpPr txBox="1"/>
            <p:nvPr/>
          </p:nvSpPr>
          <p:spPr>
            <a:xfrm>
              <a:off x="114300" y="476250"/>
              <a:ext cx="10098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8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Skills Mapped</a:t>
              </a:r>
              <a:endParaRPr b="1" sz="8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GB" sz="700">
                  <a:solidFill>
                    <a:srgbClr val="9CA3AF"/>
                  </a:solidFill>
                  <a:latin typeface="Inter"/>
                  <a:ea typeface="Inter"/>
                  <a:cs typeface="Inter"/>
                  <a:sym typeface="Inter"/>
                </a:rPr>
                <a:t>Underlying system extracts and structures verify-ready skill coordinates.</a:t>
              </a:r>
              <a:endParaRPr b="0" sz="7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598" name="Google Shape;598;p27"/>
          <p:cNvSpPr/>
          <p:nvPr/>
        </p:nvSpPr>
        <p:spPr>
          <a:xfrm>
            <a:off x="3238500" y="1809750"/>
            <a:ext cx="13350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</a:path>
            </a:pathLst>
          </a:custGeom>
          <a:solidFill>
            <a:srgbClr val="000000">
              <a:alpha val="0"/>
            </a:srgbClr>
          </a:solidFill>
          <a:ln cap="flat" cmpd="sng" w="14300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27"/>
          <p:cNvSpPr/>
          <p:nvPr/>
        </p:nvSpPr>
        <p:spPr>
          <a:xfrm>
            <a:off x="3371850" y="1781175"/>
            <a:ext cx="57300" cy="57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6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37415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00" name="Google Shape;600;p27"/>
          <p:cNvGrpSpPr/>
          <p:nvPr/>
        </p:nvGrpSpPr>
        <p:grpSpPr>
          <a:xfrm>
            <a:off x="3467100" y="1095375"/>
            <a:ext cx="1238400" cy="1428900"/>
            <a:chOff x="0" y="0"/>
            <a:chExt cx="1238400" cy="1428900"/>
          </a:xfrm>
        </p:grpSpPr>
        <p:sp>
          <p:nvSpPr>
            <p:cNvPr id="601" name="Google Shape;601;p27"/>
            <p:cNvSpPr/>
            <p:nvPr/>
          </p:nvSpPr>
          <p:spPr>
            <a:xfrm>
              <a:off x="0" y="0"/>
              <a:ext cx="1238400" cy="1428900"/>
            </a:xfrm>
            <a:prstGeom prst="roundRect">
              <a:avLst>
                <a:gd fmla="val 6153" name="adj"/>
              </a:avLst>
            </a:prstGeom>
            <a:solidFill>
              <a:srgbClr val="1A1A1E"/>
            </a:solidFill>
            <a:ln cap="flat" cmpd="sng" w="9525">
              <a:solidFill>
                <a:srgbClr val="2222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27"/>
            <p:cNvSpPr/>
            <p:nvPr/>
          </p:nvSpPr>
          <p:spPr>
            <a:xfrm>
              <a:off x="114300" y="142875"/>
              <a:ext cx="304800" cy="228600"/>
            </a:xfrm>
            <a:prstGeom prst="roundRect">
              <a:avLst>
                <a:gd fmla="val 16666" name="adj"/>
              </a:avLst>
            </a:prstGeom>
            <a:solidFill>
              <a:srgbClr val="2D2D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" name="Google Shape;603;p27"/>
            <p:cNvSpPr txBox="1"/>
            <p:nvPr/>
          </p:nvSpPr>
          <p:spPr>
            <a:xfrm>
              <a:off x="114300" y="142875"/>
              <a:ext cx="304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30">
                  <a:solidFill>
                    <a:srgbClr val="9CA3AF"/>
                  </a:solidFill>
                  <a:latin typeface="Space Mono"/>
                  <a:ea typeface="Space Mono"/>
                  <a:cs typeface="Space Mono"/>
                  <a:sym typeface="Space Mono"/>
                </a:rPr>
                <a:t>03</a:t>
              </a:r>
              <a:endParaRPr b="1" sz="930">
                <a:solidFill>
                  <a:srgbClr val="9CA3AF"/>
                </a:solidFill>
                <a:latin typeface="Space Mono"/>
                <a:ea typeface="Space Mono"/>
                <a:cs typeface="Space Mono"/>
                <a:sym typeface="Space Mono"/>
              </a:endParaRPr>
            </a:p>
          </p:txBody>
        </p:sp>
        <p:sp>
          <p:nvSpPr>
            <p:cNvPr id="604" name="Google Shape;604;p27"/>
            <p:cNvSpPr txBox="1"/>
            <p:nvPr/>
          </p:nvSpPr>
          <p:spPr>
            <a:xfrm>
              <a:off x="114300" y="476250"/>
              <a:ext cx="10098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8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Requirements</a:t>
              </a:r>
              <a:endParaRPr b="1" sz="8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GB" sz="700">
                  <a:solidFill>
                    <a:srgbClr val="9CA3AF"/>
                  </a:solidFill>
                  <a:latin typeface="Inter"/>
                  <a:ea typeface="Inter"/>
                  <a:cs typeface="Inter"/>
                  <a:sym typeface="Inter"/>
                </a:rPr>
                <a:t>Active real-time target industry standards are fetched and indexed.</a:t>
              </a:r>
              <a:endParaRPr b="0" sz="7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605" name="Google Shape;605;p27"/>
          <p:cNvSpPr/>
          <p:nvPr/>
        </p:nvSpPr>
        <p:spPr>
          <a:xfrm>
            <a:off x="4781550" y="1809750"/>
            <a:ext cx="13350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</a:path>
            </a:pathLst>
          </a:custGeom>
          <a:solidFill>
            <a:srgbClr val="000000">
              <a:alpha val="0"/>
            </a:srgbClr>
          </a:solidFill>
          <a:ln cap="flat" cmpd="sng" w="14300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27"/>
          <p:cNvSpPr/>
          <p:nvPr/>
        </p:nvSpPr>
        <p:spPr>
          <a:xfrm>
            <a:off x="4914900" y="1781175"/>
            <a:ext cx="57300" cy="57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6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37415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07" name="Google Shape;607;p27"/>
          <p:cNvGrpSpPr/>
          <p:nvPr/>
        </p:nvGrpSpPr>
        <p:grpSpPr>
          <a:xfrm>
            <a:off x="5010150" y="1095375"/>
            <a:ext cx="1238400" cy="1428900"/>
            <a:chOff x="0" y="0"/>
            <a:chExt cx="1238400" cy="1428900"/>
          </a:xfrm>
        </p:grpSpPr>
        <p:sp>
          <p:nvSpPr>
            <p:cNvPr id="608" name="Google Shape;608;p27"/>
            <p:cNvSpPr/>
            <p:nvPr/>
          </p:nvSpPr>
          <p:spPr>
            <a:xfrm>
              <a:off x="0" y="0"/>
              <a:ext cx="1238400" cy="1428900"/>
            </a:xfrm>
            <a:prstGeom prst="roundRect">
              <a:avLst>
                <a:gd fmla="val 6153" name="adj"/>
              </a:avLst>
            </a:prstGeom>
            <a:solidFill>
              <a:srgbClr val="1A1A1E"/>
            </a:solidFill>
            <a:ln cap="flat" cmpd="sng" w="9525">
              <a:solidFill>
                <a:srgbClr val="2222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" name="Google Shape;609;p27"/>
            <p:cNvSpPr/>
            <p:nvPr/>
          </p:nvSpPr>
          <p:spPr>
            <a:xfrm>
              <a:off x="114300" y="142875"/>
              <a:ext cx="304800" cy="228600"/>
            </a:xfrm>
            <a:prstGeom prst="roundRect">
              <a:avLst>
                <a:gd fmla="val 16666" name="adj"/>
              </a:avLst>
            </a:prstGeom>
            <a:solidFill>
              <a:srgbClr val="2D2D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" name="Google Shape;610;p27"/>
            <p:cNvSpPr txBox="1"/>
            <p:nvPr/>
          </p:nvSpPr>
          <p:spPr>
            <a:xfrm>
              <a:off x="114300" y="142875"/>
              <a:ext cx="304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30">
                  <a:solidFill>
                    <a:srgbClr val="9CA3AF"/>
                  </a:solidFill>
                  <a:latin typeface="Space Mono"/>
                  <a:ea typeface="Space Mono"/>
                  <a:cs typeface="Space Mono"/>
                  <a:sym typeface="Space Mono"/>
                </a:rPr>
                <a:t>04</a:t>
              </a:r>
              <a:endParaRPr b="1" sz="930">
                <a:solidFill>
                  <a:srgbClr val="9CA3AF"/>
                </a:solidFill>
                <a:latin typeface="Space Mono"/>
                <a:ea typeface="Space Mono"/>
                <a:cs typeface="Space Mono"/>
                <a:sym typeface="Space Mono"/>
              </a:endParaRPr>
            </a:p>
          </p:txBody>
        </p:sp>
        <p:sp>
          <p:nvSpPr>
            <p:cNvPr id="611" name="Google Shape;611;p27"/>
            <p:cNvSpPr txBox="1"/>
            <p:nvPr/>
          </p:nvSpPr>
          <p:spPr>
            <a:xfrm>
              <a:off x="114300" y="476250"/>
              <a:ext cx="10098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8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Gaps Identified</a:t>
              </a:r>
              <a:endParaRPr b="1" sz="8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GB" sz="700">
                  <a:solidFill>
                    <a:srgbClr val="9CA3AF"/>
                  </a:solidFill>
                  <a:latin typeface="Inter"/>
                  <a:ea typeface="Inter"/>
                  <a:cs typeface="Inter"/>
                  <a:sym typeface="Inter"/>
                </a:rPr>
                <a:t>A vector gap analysis exposes what required knowledge is missing.</a:t>
              </a:r>
              <a:endParaRPr b="0" sz="7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612" name="Google Shape;612;p27"/>
          <p:cNvSpPr/>
          <p:nvPr/>
        </p:nvSpPr>
        <p:spPr>
          <a:xfrm>
            <a:off x="6324600" y="1809750"/>
            <a:ext cx="13350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</a:path>
            </a:pathLst>
          </a:custGeom>
          <a:solidFill>
            <a:srgbClr val="000000">
              <a:alpha val="0"/>
            </a:srgbClr>
          </a:solidFill>
          <a:ln cap="flat" cmpd="sng" w="14300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27"/>
          <p:cNvSpPr/>
          <p:nvPr/>
        </p:nvSpPr>
        <p:spPr>
          <a:xfrm>
            <a:off x="6457950" y="1781175"/>
            <a:ext cx="57300" cy="57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6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37415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14" name="Google Shape;614;p27"/>
          <p:cNvGrpSpPr/>
          <p:nvPr/>
        </p:nvGrpSpPr>
        <p:grpSpPr>
          <a:xfrm>
            <a:off x="6553200" y="1095375"/>
            <a:ext cx="1238400" cy="1428900"/>
            <a:chOff x="0" y="0"/>
            <a:chExt cx="1238400" cy="1428900"/>
          </a:xfrm>
        </p:grpSpPr>
        <p:sp>
          <p:nvSpPr>
            <p:cNvPr id="615" name="Google Shape;615;p27"/>
            <p:cNvSpPr/>
            <p:nvPr/>
          </p:nvSpPr>
          <p:spPr>
            <a:xfrm>
              <a:off x="0" y="0"/>
              <a:ext cx="1238400" cy="1428900"/>
            </a:xfrm>
            <a:prstGeom prst="roundRect">
              <a:avLst>
                <a:gd fmla="val 6153" name="adj"/>
              </a:avLst>
            </a:prstGeom>
            <a:solidFill>
              <a:srgbClr val="1A1A1E"/>
            </a:solidFill>
            <a:ln cap="flat" cmpd="sng" w="9525">
              <a:solidFill>
                <a:srgbClr val="2222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27"/>
            <p:cNvSpPr/>
            <p:nvPr/>
          </p:nvSpPr>
          <p:spPr>
            <a:xfrm>
              <a:off x="114300" y="142875"/>
              <a:ext cx="304800" cy="228600"/>
            </a:xfrm>
            <a:prstGeom prst="roundRect">
              <a:avLst>
                <a:gd fmla="val 16666" name="adj"/>
              </a:avLst>
            </a:prstGeom>
            <a:solidFill>
              <a:srgbClr val="2D2D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" name="Google Shape;617;p27"/>
            <p:cNvSpPr txBox="1"/>
            <p:nvPr/>
          </p:nvSpPr>
          <p:spPr>
            <a:xfrm>
              <a:off x="114300" y="142875"/>
              <a:ext cx="304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30">
                  <a:solidFill>
                    <a:srgbClr val="9CA3AF"/>
                  </a:solidFill>
                  <a:latin typeface="Space Mono"/>
                  <a:ea typeface="Space Mono"/>
                  <a:cs typeface="Space Mono"/>
                  <a:sym typeface="Space Mono"/>
                </a:rPr>
                <a:t>05</a:t>
              </a:r>
              <a:endParaRPr b="1" sz="930">
                <a:solidFill>
                  <a:srgbClr val="9CA3AF"/>
                </a:solidFill>
                <a:latin typeface="Space Mono"/>
                <a:ea typeface="Space Mono"/>
                <a:cs typeface="Space Mono"/>
                <a:sym typeface="Space Mono"/>
              </a:endParaRPr>
            </a:p>
          </p:txBody>
        </p:sp>
        <p:sp>
          <p:nvSpPr>
            <p:cNvPr id="618" name="Google Shape;618;p27"/>
            <p:cNvSpPr txBox="1"/>
            <p:nvPr/>
          </p:nvSpPr>
          <p:spPr>
            <a:xfrm>
              <a:off x="114300" y="476250"/>
              <a:ext cx="10098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8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Roadmaps</a:t>
              </a:r>
              <a:endParaRPr b="1" sz="8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GB" sz="700">
                  <a:solidFill>
                    <a:srgbClr val="9CA3AF"/>
                  </a:solidFill>
                  <a:latin typeface="Inter"/>
                  <a:ea typeface="Inter"/>
                  <a:cs typeface="Inter"/>
                  <a:sym typeface="Inter"/>
                </a:rPr>
                <a:t>System recommends targeted, verified pathways to bridge the gaps.</a:t>
              </a:r>
              <a:endParaRPr b="0" sz="7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619" name="Google Shape;619;p27"/>
          <p:cNvSpPr/>
          <p:nvPr/>
        </p:nvSpPr>
        <p:spPr>
          <a:xfrm>
            <a:off x="7867650" y="1809750"/>
            <a:ext cx="13350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</a:path>
            </a:pathLst>
          </a:custGeom>
          <a:solidFill>
            <a:srgbClr val="000000">
              <a:alpha val="0"/>
            </a:srgbClr>
          </a:solidFill>
          <a:ln cap="flat" cmpd="sng" w="143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27"/>
          <p:cNvSpPr/>
          <p:nvPr/>
        </p:nvSpPr>
        <p:spPr>
          <a:xfrm>
            <a:off x="8001000" y="1781175"/>
            <a:ext cx="57300" cy="57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6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10B98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21" name="Google Shape;621;p27"/>
          <p:cNvGrpSpPr/>
          <p:nvPr/>
        </p:nvGrpSpPr>
        <p:grpSpPr>
          <a:xfrm>
            <a:off x="8096250" y="1095375"/>
            <a:ext cx="666900" cy="1428900"/>
            <a:chOff x="0" y="0"/>
            <a:chExt cx="666900" cy="1428900"/>
          </a:xfrm>
        </p:grpSpPr>
        <p:sp>
          <p:nvSpPr>
            <p:cNvPr id="622" name="Google Shape;622;p27"/>
            <p:cNvSpPr/>
            <p:nvPr/>
          </p:nvSpPr>
          <p:spPr>
            <a:xfrm>
              <a:off x="0" y="0"/>
              <a:ext cx="666900" cy="1428900"/>
            </a:xfrm>
            <a:prstGeom prst="roundRect">
              <a:avLst>
                <a:gd fmla="val 11428" name="adj"/>
              </a:avLst>
            </a:prstGeom>
            <a:solidFill>
              <a:srgbClr val="064E3B">
                <a:alpha val="20000"/>
              </a:srgbClr>
            </a:solidFill>
            <a:ln cap="flat" cmpd="sng" w="9525">
              <a:solidFill>
                <a:srgbClr val="10B98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" name="Google Shape;623;p27"/>
            <p:cNvSpPr txBox="1"/>
            <p:nvPr/>
          </p:nvSpPr>
          <p:spPr>
            <a:xfrm>
              <a:off x="95250" y="142875"/>
              <a:ext cx="4764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600">
                  <a:solidFill>
                    <a:srgbClr val="10B981"/>
                  </a:solidFill>
                  <a:latin typeface="Inter"/>
                  <a:ea typeface="Inter"/>
                  <a:cs typeface="Inter"/>
                  <a:sym typeface="Inter"/>
                </a:rPr>
                <a:t>🎯</a:t>
              </a:r>
              <a:endParaRPr b="1" sz="1600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GB" sz="694">
                  <a:solidFill>
                    <a:srgbClr val="10B981"/>
                  </a:solidFill>
                  <a:latin typeface="Inter"/>
                  <a:ea typeface="Inter"/>
                  <a:cs typeface="Inter"/>
                  <a:sym typeface="Inter"/>
                </a:rPr>
                <a:t>Matched Careers</a:t>
              </a:r>
              <a:endParaRPr b="1" sz="694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GB" sz="650">
                  <a:solidFill>
                    <a:srgbClr val="A7F3D0"/>
                  </a:solidFill>
                  <a:latin typeface="Inter"/>
                  <a:ea typeface="Inter"/>
                  <a:cs typeface="Inter"/>
                  <a:sym typeface="Inter"/>
                </a:rPr>
                <a:t>Direct matching of skills to internships.</a:t>
              </a:r>
              <a:endParaRPr b="0" sz="650">
                <a:solidFill>
                  <a:srgbClr val="A7F3D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624" name="Google Shape;624;p27"/>
          <p:cNvGrpSpPr/>
          <p:nvPr/>
        </p:nvGrpSpPr>
        <p:grpSpPr>
          <a:xfrm>
            <a:off x="381000" y="2714625"/>
            <a:ext cx="8382000" cy="3095775"/>
            <a:chOff x="0" y="0"/>
            <a:chExt cx="8382000" cy="3095775"/>
          </a:xfrm>
        </p:grpSpPr>
        <p:sp>
          <p:nvSpPr>
            <p:cNvPr id="625" name="Google Shape;625;p27"/>
            <p:cNvSpPr/>
            <p:nvPr/>
          </p:nvSpPr>
          <p:spPr>
            <a:xfrm>
              <a:off x="0" y="0"/>
              <a:ext cx="8382000" cy="714300"/>
            </a:xfrm>
            <a:prstGeom prst="roundRect">
              <a:avLst>
                <a:gd fmla="val 10666" name="adj"/>
              </a:avLst>
            </a:prstGeom>
            <a:solidFill>
              <a:srgbClr val="121214"/>
            </a:solidFill>
            <a:ln cap="flat" cmpd="sng" w="9525">
              <a:solidFill>
                <a:srgbClr val="2222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26" name="Google Shape;626;p27"/>
            <p:cNvGrpSpPr/>
            <p:nvPr/>
          </p:nvGrpSpPr>
          <p:grpSpPr>
            <a:xfrm>
              <a:off x="190500" y="142875"/>
              <a:ext cx="571500" cy="428700"/>
              <a:chOff x="0" y="0"/>
              <a:chExt cx="571500" cy="428700"/>
            </a:xfrm>
          </p:grpSpPr>
          <p:sp>
            <p:nvSpPr>
              <p:cNvPr id="627" name="Google Shape;627;p27"/>
              <p:cNvSpPr/>
              <p:nvPr/>
            </p:nvSpPr>
            <p:spPr>
              <a:xfrm>
                <a:off x="0" y="0"/>
                <a:ext cx="571500" cy="428700"/>
              </a:xfrm>
              <a:prstGeom prst="roundRect">
                <a:avLst>
                  <a:gd fmla="val 8888" name="adj"/>
                </a:avLst>
              </a:prstGeom>
              <a:solidFill>
                <a:srgbClr val="2E161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8" name="Google Shape;628;p27"/>
              <p:cNvSpPr txBox="1"/>
              <p:nvPr/>
            </p:nvSpPr>
            <p:spPr>
              <a:xfrm>
                <a:off x="0" y="0"/>
                <a:ext cx="571500" cy="42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930">
                    <a:solidFill>
                      <a:srgbClr val="EF4444"/>
                    </a:solidFill>
                    <a:latin typeface="Montserrat ExtraBold"/>
                    <a:ea typeface="Montserrat ExtraBold"/>
                    <a:cs typeface="Montserrat ExtraBold"/>
                    <a:sym typeface="Montserrat ExtraBold"/>
                  </a:rPr>
                  <a:t>INPUT</a:t>
                </a:r>
                <a:endParaRPr b="0" sz="930">
                  <a:solidFill>
                    <a:srgbClr val="EF4444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endParaRPr>
              </a:p>
            </p:txBody>
          </p:sp>
        </p:grpSp>
        <p:sp>
          <p:nvSpPr>
            <p:cNvPr id="629" name="Google Shape;629;p27"/>
            <p:cNvSpPr txBox="1"/>
            <p:nvPr/>
          </p:nvSpPr>
          <p:spPr>
            <a:xfrm>
              <a:off x="904875" y="142875"/>
              <a:ext cx="15717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694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Student Profiles &amp; Data</a:t>
              </a:r>
              <a:br>
                <a:rPr b="0" lang="en-GB" sz="694">
                  <a:solidFill>
                    <a:srgbClr val="9CA3AF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b="0" lang="en-GB" sz="694">
                  <a:solidFill>
                    <a:srgbClr val="9CA3AF"/>
                  </a:solidFill>
                  <a:latin typeface="Inter"/>
                  <a:ea typeface="Inter"/>
                  <a:cs typeface="Inter"/>
                  <a:sym typeface="Inter"/>
                </a:rPr>
                <a:t>Raw educational files, resumes, and certification claims ingested securely into the platform.</a:t>
              </a:r>
              <a:endParaRPr b="0" sz="694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630" name="Google Shape;630;p27"/>
            <p:cNvSpPr/>
            <p:nvPr/>
          </p:nvSpPr>
          <p:spPr>
            <a:xfrm>
              <a:off x="2667000" y="3067050"/>
              <a:ext cx="142800" cy="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20000" y="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4300">
              <a:solidFill>
                <a:srgbClr val="37415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" name="Google Shape;631;p27"/>
            <p:cNvSpPr/>
            <p:nvPr/>
          </p:nvSpPr>
          <p:spPr>
            <a:xfrm>
              <a:off x="2809875" y="3038475"/>
              <a:ext cx="57300" cy="573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20000" y="6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37415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32" name="Google Shape;632;p27"/>
            <p:cNvGrpSpPr/>
            <p:nvPr/>
          </p:nvGrpSpPr>
          <p:grpSpPr>
            <a:xfrm>
              <a:off x="3048000" y="142875"/>
              <a:ext cx="666900" cy="428700"/>
              <a:chOff x="0" y="0"/>
              <a:chExt cx="666900" cy="428700"/>
            </a:xfrm>
          </p:grpSpPr>
          <p:sp>
            <p:nvSpPr>
              <p:cNvPr id="633" name="Google Shape;633;p27"/>
              <p:cNvSpPr/>
              <p:nvPr/>
            </p:nvSpPr>
            <p:spPr>
              <a:xfrm>
                <a:off x="0" y="0"/>
                <a:ext cx="666900" cy="428700"/>
              </a:xfrm>
              <a:prstGeom prst="roundRect">
                <a:avLst>
                  <a:gd fmla="val 8888" name="adj"/>
                </a:avLst>
              </a:prstGeom>
              <a:solidFill>
                <a:srgbClr val="2D2D35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4" name="Google Shape;634;p27"/>
              <p:cNvSpPr txBox="1"/>
              <p:nvPr/>
            </p:nvSpPr>
            <p:spPr>
              <a:xfrm>
                <a:off x="0" y="0"/>
                <a:ext cx="666900" cy="42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930">
                    <a:solidFill>
                      <a:srgbClr val="FFFFFF"/>
                    </a:solidFill>
                    <a:latin typeface="Montserrat ExtraBold"/>
                    <a:ea typeface="Montserrat ExtraBold"/>
                    <a:cs typeface="Montserrat ExtraBold"/>
                    <a:sym typeface="Montserrat ExtraBold"/>
                  </a:rPr>
                  <a:t>ANALYSIS</a:t>
                </a:r>
                <a:endParaRPr b="0" sz="930">
                  <a:solidFill>
                    <a:srgbClr val="FFFFFF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endParaRPr>
              </a:p>
            </p:txBody>
          </p:sp>
        </p:grpSp>
        <p:sp>
          <p:nvSpPr>
            <p:cNvPr id="635" name="Google Shape;635;p27"/>
            <p:cNvSpPr txBox="1"/>
            <p:nvPr/>
          </p:nvSpPr>
          <p:spPr>
            <a:xfrm>
              <a:off x="3857625" y="142875"/>
              <a:ext cx="17622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694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Dynamic Skill Matrix Engine</a:t>
              </a:r>
              <a:br>
                <a:rPr b="0" lang="en-GB" sz="694">
                  <a:solidFill>
                    <a:srgbClr val="9CA3AF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b="0" lang="en-GB" sz="694">
                  <a:solidFill>
                    <a:srgbClr val="9CA3AF"/>
                  </a:solidFill>
                  <a:latin typeface="Inter"/>
                  <a:ea typeface="Inter"/>
                  <a:cs typeface="Inter"/>
                  <a:sym typeface="Inter"/>
                </a:rPr>
                <a:t>Calculates vectors, maps existing competencies, and highlights specific developer gaps.</a:t>
              </a:r>
              <a:endParaRPr b="0" sz="694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636" name="Google Shape;636;p27"/>
            <p:cNvSpPr/>
            <p:nvPr/>
          </p:nvSpPr>
          <p:spPr>
            <a:xfrm>
              <a:off x="5810250" y="3067050"/>
              <a:ext cx="142800" cy="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20000" y="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4300">
              <a:solidFill>
                <a:srgbClr val="37415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" name="Google Shape;637;p27"/>
            <p:cNvSpPr/>
            <p:nvPr/>
          </p:nvSpPr>
          <p:spPr>
            <a:xfrm>
              <a:off x="5953125" y="3038475"/>
              <a:ext cx="57300" cy="573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20000" y="6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37415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38" name="Google Shape;638;p27"/>
            <p:cNvGrpSpPr/>
            <p:nvPr/>
          </p:nvGrpSpPr>
          <p:grpSpPr>
            <a:xfrm>
              <a:off x="6191250" y="142875"/>
              <a:ext cx="571500" cy="428700"/>
              <a:chOff x="0" y="0"/>
              <a:chExt cx="571500" cy="428700"/>
            </a:xfrm>
          </p:grpSpPr>
          <p:sp>
            <p:nvSpPr>
              <p:cNvPr id="639" name="Google Shape;639;p27"/>
              <p:cNvSpPr/>
              <p:nvPr/>
            </p:nvSpPr>
            <p:spPr>
              <a:xfrm>
                <a:off x="0" y="0"/>
                <a:ext cx="571500" cy="428700"/>
              </a:xfrm>
              <a:prstGeom prst="roundRect">
                <a:avLst>
                  <a:gd fmla="val 8888" name="adj"/>
                </a:avLst>
              </a:prstGeom>
              <a:solidFill>
                <a:srgbClr val="064E3B">
                  <a:alpha val="4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0" name="Google Shape;640;p27"/>
              <p:cNvSpPr txBox="1"/>
              <p:nvPr/>
            </p:nvSpPr>
            <p:spPr>
              <a:xfrm>
                <a:off x="0" y="0"/>
                <a:ext cx="571500" cy="42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930">
                    <a:solidFill>
                      <a:srgbClr val="10B981"/>
                    </a:solidFill>
                    <a:latin typeface="Montserrat ExtraBold"/>
                    <a:ea typeface="Montserrat ExtraBold"/>
                    <a:cs typeface="Montserrat ExtraBold"/>
                    <a:sym typeface="Montserrat ExtraBold"/>
                  </a:rPr>
                  <a:t>ACTION</a:t>
                </a:r>
                <a:endParaRPr b="0" sz="930">
                  <a:solidFill>
                    <a:srgbClr val="10B981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endParaRPr>
              </a:p>
            </p:txBody>
          </p:sp>
        </p:grpSp>
        <p:sp>
          <p:nvSpPr>
            <p:cNvPr id="641" name="Google Shape;641;p27"/>
            <p:cNvSpPr txBox="1"/>
            <p:nvPr/>
          </p:nvSpPr>
          <p:spPr>
            <a:xfrm>
              <a:off x="6905625" y="142875"/>
              <a:ext cx="12858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694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Personalized Matches</a:t>
              </a:r>
              <a:br>
                <a:rPr b="0" lang="en-GB" sz="694">
                  <a:solidFill>
                    <a:srgbClr val="9CA3AF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b="0" lang="en-GB" sz="694">
                  <a:solidFill>
                    <a:srgbClr val="9CA3AF"/>
                  </a:solidFill>
                  <a:latin typeface="Inter"/>
                  <a:ea typeface="Inter"/>
                  <a:cs typeface="Inter"/>
                  <a:sym typeface="Inter"/>
                </a:rPr>
                <a:t>Delivers customized courses, roadmaps, and internship matches.</a:t>
              </a:r>
              <a:endParaRPr b="0" sz="694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cxnSp>
        <p:nvCxnSpPr>
          <p:cNvPr id="642" name="Google Shape;642;p27"/>
          <p:cNvCxnSpPr/>
          <p:nvPr/>
        </p:nvCxnSpPr>
        <p:spPr>
          <a:xfrm>
            <a:off x="952500" y="4524375"/>
            <a:ext cx="72390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22222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43" name="Google Shape;643;p27"/>
          <p:cNvSpPr txBox="1"/>
          <p:nvPr/>
        </p:nvSpPr>
        <p:spPr>
          <a:xfrm>
            <a:off x="952500" y="4619625"/>
            <a:ext cx="36195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638">
                <a:solidFill>
                  <a:srgbClr val="9CA3AF"/>
                </a:solidFill>
                <a:latin typeface="Space Mono"/>
                <a:ea typeface="Space Mono"/>
                <a:cs typeface="Space Mono"/>
                <a:sym typeface="Space Mono"/>
              </a:rPr>
              <a:t>TEAM: COFFETOTODE</a:t>
            </a:r>
            <a:endParaRPr b="0" sz="638">
              <a:solidFill>
                <a:srgbClr val="9CA3AF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644" name="Google Shape;644;p27"/>
          <p:cNvSpPr txBox="1"/>
          <p:nvPr/>
        </p:nvSpPr>
        <p:spPr>
          <a:xfrm>
            <a:off x="4572000" y="4619625"/>
            <a:ext cx="36195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638">
                <a:solidFill>
                  <a:srgbClr val="9CA3AF"/>
                </a:solidFill>
                <a:latin typeface="Space Mono"/>
                <a:ea typeface="Space Mono"/>
                <a:cs typeface="Space Mono"/>
                <a:sym typeface="Space Mono"/>
              </a:rPr>
              <a:t>PROBLEM: SIH26044</a:t>
            </a:r>
            <a:endParaRPr b="0" sz="638">
              <a:solidFill>
                <a:srgbClr val="9CA3AF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2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50" name="Google Shape;650;p28"/>
          <p:cNvGrpSpPr/>
          <p:nvPr/>
        </p:nvGrpSpPr>
        <p:grpSpPr>
          <a:xfrm>
            <a:off x="3048000" y="238125"/>
            <a:ext cx="3048000" cy="209700"/>
            <a:chOff x="0" y="0"/>
            <a:chExt cx="3048000" cy="209700"/>
          </a:xfrm>
        </p:grpSpPr>
        <p:sp>
          <p:nvSpPr>
            <p:cNvPr id="651" name="Google Shape;651;p28"/>
            <p:cNvSpPr/>
            <p:nvPr/>
          </p:nvSpPr>
          <p:spPr>
            <a:xfrm>
              <a:off x="0" y="0"/>
              <a:ext cx="3048000" cy="209700"/>
            </a:xfrm>
            <a:prstGeom prst="roundRect">
              <a:avLst>
                <a:gd fmla="val 50000" name="adj"/>
              </a:avLst>
            </a:prstGeom>
            <a:solidFill>
              <a:srgbClr val="000000">
                <a:alpha val="0"/>
              </a:srgbClr>
            </a:solidFill>
            <a:ln cap="flat" cmpd="sng" w="11425">
              <a:solidFill>
                <a:srgbClr val="EF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2" name="Google Shape;652;p28"/>
            <p:cNvSpPr txBox="1"/>
            <p:nvPr/>
          </p:nvSpPr>
          <p:spPr>
            <a:xfrm>
              <a:off x="0" y="0"/>
              <a:ext cx="30480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550">
                  <a:solidFill>
                    <a:srgbClr val="EF4444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SIH 2026 | ECOSYSTEM &amp; SCALABILITY</a:t>
              </a:r>
              <a:endParaRPr b="0" sz="550">
                <a:solidFill>
                  <a:srgbClr val="EF4444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sp>
        <p:nvSpPr>
          <p:cNvPr id="653" name="Google Shape;653;p28"/>
          <p:cNvSpPr txBox="1"/>
          <p:nvPr/>
        </p:nvSpPr>
        <p:spPr>
          <a:xfrm>
            <a:off x="762000" y="514350"/>
            <a:ext cx="7620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00"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BUILT TO GROW WITH THE ECOSYSTEM</a:t>
            </a:r>
            <a:endParaRPr b="0" sz="1800">
              <a:solidFill>
                <a:srgbClr val="FFFFFF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654" name="Google Shape;654;p28"/>
          <p:cNvSpPr txBox="1"/>
          <p:nvPr/>
        </p:nvSpPr>
        <p:spPr>
          <a:xfrm>
            <a:off x="762000" y="781050"/>
            <a:ext cx="76200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595">
                <a:solidFill>
                  <a:srgbClr val="9CA3AF"/>
                </a:solidFill>
                <a:latin typeface="Inter Light"/>
                <a:ea typeface="Inter Light"/>
                <a:cs typeface="Inter Light"/>
                <a:sym typeface="Inter Light"/>
              </a:rPr>
              <a:t>A focused product today. A scalable ecosystem tomorrow.</a:t>
            </a:r>
            <a:endParaRPr b="0" sz="595">
              <a:solidFill>
                <a:srgbClr val="9CA3AF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grpSp>
        <p:nvGrpSpPr>
          <p:cNvPr id="655" name="Google Shape;655;p28"/>
          <p:cNvGrpSpPr/>
          <p:nvPr/>
        </p:nvGrpSpPr>
        <p:grpSpPr>
          <a:xfrm>
            <a:off x="381000" y="1095375"/>
            <a:ext cx="4000500" cy="3190800"/>
            <a:chOff x="0" y="0"/>
            <a:chExt cx="4000500" cy="3190800"/>
          </a:xfrm>
        </p:grpSpPr>
        <p:sp>
          <p:nvSpPr>
            <p:cNvPr id="656" name="Google Shape;656;p28"/>
            <p:cNvSpPr/>
            <p:nvPr/>
          </p:nvSpPr>
          <p:spPr>
            <a:xfrm>
              <a:off x="0" y="0"/>
              <a:ext cx="4000500" cy="3190800"/>
            </a:xfrm>
            <a:prstGeom prst="roundRect">
              <a:avLst>
                <a:gd fmla="val 3582" name="adj"/>
              </a:avLst>
            </a:prstGeom>
            <a:solidFill>
              <a:srgbClr val="121214"/>
            </a:solidFill>
            <a:ln cap="flat" cmpd="sng" w="9525">
              <a:solidFill>
                <a:srgbClr val="2222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7" name="Google Shape;657;p28"/>
            <p:cNvSpPr/>
            <p:nvPr/>
          </p:nvSpPr>
          <p:spPr>
            <a:xfrm>
              <a:off x="95250" y="95250"/>
              <a:ext cx="3810000" cy="228600"/>
            </a:xfrm>
            <a:prstGeom prst="roundRect">
              <a:avLst>
                <a:gd fmla="val 16666" name="adj"/>
              </a:avLst>
            </a:prstGeom>
            <a:solidFill>
              <a:srgbClr val="1A1A1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8" name="Google Shape;658;p28"/>
            <p:cNvSpPr txBox="1"/>
            <p:nvPr/>
          </p:nvSpPr>
          <p:spPr>
            <a:xfrm>
              <a:off x="190500" y="95250"/>
              <a:ext cx="361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638">
                  <a:solidFill>
                    <a:srgbClr val="EF4444"/>
                  </a:solidFill>
                  <a:latin typeface="Inter"/>
                  <a:ea typeface="Inter"/>
                  <a:cs typeface="Inter"/>
                  <a:sym typeface="Inter"/>
                </a:rPr>
                <a:t>ACTIVE CORE MODULES</a:t>
              </a:r>
              <a:endParaRPr b="1" sz="638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659" name="Google Shape;659;p28"/>
            <p:cNvGrpSpPr/>
            <p:nvPr/>
          </p:nvGrpSpPr>
          <p:grpSpPr>
            <a:xfrm>
              <a:off x="190500" y="457200"/>
              <a:ext cx="3543300" cy="381000"/>
              <a:chOff x="0" y="0"/>
              <a:chExt cx="3543300" cy="381000"/>
            </a:xfrm>
          </p:grpSpPr>
          <p:sp>
            <p:nvSpPr>
              <p:cNvPr id="660" name="Google Shape;660;p28"/>
              <p:cNvSpPr/>
              <p:nvPr/>
            </p:nvSpPr>
            <p:spPr>
              <a:xfrm>
                <a:off x="0" y="0"/>
                <a:ext cx="381000" cy="381000"/>
              </a:xfrm>
              <a:prstGeom prst="roundRect">
                <a:avLst>
                  <a:gd fmla="val 15000" name="adj"/>
                </a:avLst>
              </a:prstGeom>
              <a:solidFill>
                <a:srgbClr val="1A1A1E"/>
              </a:solidFill>
              <a:ln cap="flat" cmpd="sng" w="9525">
                <a:solidFill>
                  <a:srgbClr val="33333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1" name="Google Shape;661;p28"/>
              <p:cNvSpPr txBox="1"/>
              <p:nvPr/>
            </p:nvSpPr>
            <p:spPr>
              <a:xfrm>
                <a:off x="95250" y="95250"/>
                <a:ext cx="1905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/>
                  <a:t>👤</a:t>
                </a:r>
                <a:endParaRPr sz="1200"/>
              </a:p>
            </p:txBody>
          </p:sp>
          <p:sp>
            <p:nvSpPr>
              <p:cNvPr id="662" name="Google Shape;662;p28"/>
              <p:cNvSpPr txBox="1"/>
              <p:nvPr/>
            </p:nvSpPr>
            <p:spPr>
              <a:xfrm>
                <a:off x="495300" y="38100"/>
                <a:ext cx="30480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723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Student Profiles</a:t>
                </a:r>
                <a:endParaRPr b="1" sz="723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-GB" sz="595">
                    <a:solidFill>
                      <a:srgbClr val="9CA3AF"/>
                    </a:solidFill>
                    <a:latin typeface="Inter"/>
                    <a:ea typeface="Inter"/>
                    <a:cs typeface="Inter"/>
                    <a:sym typeface="Inter"/>
                  </a:rPr>
                  <a:t>Decentralized, verified academic and professional student identities.</a:t>
                </a:r>
                <a:endParaRPr b="0" sz="595">
                  <a:solidFill>
                    <a:srgbClr val="9CA3AF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663" name="Google Shape;663;p28"/>
            <p:cNvGrpSpPr/>
            <p:nvPr/>
          </p:nvGrpSpPr>
          <p:grpSpPr>
            <a:xfrm>
              <a:off x="190500" y="971550"/>
              <a:ext cx="3543300" cy="381000"/>
              <a:chOff x="0" y="0"/>
              <a:chExt cx="3543300" cy="381000"/>
            </a:xfrm>
          </p:grpSpPr>
          <p:sp>
            <p:nvSpPr>
              <p:cNvPr id="664" name="Google Shape;664;p28"/>
              <p:cNvSpPr/>
              <p:nvPr/>
            </p:nvSpPr>
            <p:spPr>
              <a:xfrm>
                <a:off x="0" y="0"/>
                <a:ext cx="381000" cy="381000"/>
              </a:xfrm>
              <a:prstGeom prst="roundRect">
                <a:avLst>
                  <a:gd fmla="val 15000" name="adj"/>
                </a:avLst>
              </a:prstGeom>
              <a:solidFill>
                <a:srgbClr val="1A1A1E"/>
              </a:solidFill>
              <a:ln cap="flat" cmpd="sng" w="9525">
                <a:solidFill>
                  <a:srgbClr val="33333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5" name="Google Shape;665;p28"/>
              <p:cNvSpPr txBox="1"/>
              <p:nvPr/>
            </p:nvSpPr>
            <p:spPr>
              <a:xfrm>
                <a:off x="95250" y="95250"/>
                <a:ext cx="1905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/>
                  <a:t>🗺️</a:t>
                </a:r>
                <a:endParaRPr sz="1200"/>
              </a:p>
            </p:txBody>
          </p:sp>
          <p:sp>
            <p:nvSpPr>
              <p:cNvPr id="666" name="Google Shape;666;p28"/>
              <p:cNvSpPr txBox="1"/>
              <p:nvPr/>
            </p:nvSpPr>
            <p:spPr>
              <a:xfrm>
                <a:off x="495300" y="38100"/>
                <a:ext cx="30480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723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Skill Mapping</a:t>
                </a:r>
                <a:endParaRPr b="1" sz="723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-GB" sz="595">
                    <a:solidFill>
                      <a:srgbClr val="9CA3AF"/>
                    </a:solidFill>
                    <a:latin typeface="Inter"/>
                    <a:ea typeface="Inter"/>
                    <a:cs typeface="Inter"/>
                    <a:sym typeface="Inter"/>
                  </a:rPr>
                  <a:t>Underlying engine structuring verified multi-dimensional competence vectors.</a:t>
                </a:r>
                <a:endParaRPr b="0" sz="595">
                  <a:solidFill>
                    <a:srgbClr val="9CA3AF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667" name="Google Shape;667;p28"/>
            <p:cNvGrpSpPr/>
            <p:nvPr/>
          </p:nvGrpSpPr>
          <p:grpSpPr>
            <a:xfrm>
              <a:off x="190500" y="1485900"/>
              <a:ext cx="3543300" cy="381000"/>
              <a:chOff x="0" y="0"/>
              <a:chExt cx="3543300" cy="381000"/>
            </a:xfrm>
          </p:grpSpPr>
          <p:sp>
            <p:nvSpPr>
              <p:cNvPr id="668" name="Google Shape;668;p28"/>
              <p:cNvSpPr/>
              <p:nvPr/>
            </p:nvSpPr>
            <p:spPr>
              <a:xfrm>
                <a:off x="0" y="0"/>
                <a:ext cx="381000" cy="381000"/>
              </a:xfrm>
              <a:prstGeom prst="roundRect">
                <a:avLst>
                  <a:gd fmla="val 15000" name="adj"/>
                </a:avLst>
              </a:prstGeom>
              <a:solidFill>
                <a:srgbClr val="1A1A1E"/>
              </a:solidFill>
              <a:ln cap="flat" cmpd="sng" w="9525">
                <a:solidFill>
                  <a:srgbClr val="33333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9" name="Google Shape;669;p28"/>
              <p:cNvSpPr txBox="1"/>
              <p:nvPr/>
            </p:nvSpPr>
            <p:spPr>
              <a:xfrm>
                <a:off x="95250" y="95250"/>
                <a:ext cx="1905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/>
                  <a:t>📋</a:t>
                </a:r>
                <a:endParaRPr sz="1200"/>
              </a:p>
            </p:txBody>
          </p:sp>
          <p:sp>
            <p:nvSpPr>
              <p:cNvPr id="670" name="Google Shape;670;p28"/>
              <p:cNvSpPr txBox="1"/>
              <p:nvPr/>
            </p:nvSpPr>
            <p:spPr>
              <a:xfrm>
                <a:off x="495300" y="38100"/>
                <a:ext cx="30480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723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Industry Requirements</a:t>
                </a:r>
                <a:endParaRPr b="1" sz="723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-GB" sz="595">
                    <a:solidFill>
                      <a:srgbClr val="9CA3AF"/>
                    </a:solidFill>
                    <a:latin typeface="Inter"/>
                    <a:ea typeface="Inter"/>
                    <a:cs typeface="Inter"/>
                    <a:sym typeface="Inter"/>
                  </a:rPr>
                  <a:t>Real-time standards ingested directly from employers and industry benchmarks.</a:t>
                </a:r>
                <a:endParaRPr b="0" sz="595">
                  <a:solidFill>
                    <a:srgbClr val="9CA3AF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671" name="Google Shape;671;p28"/>
            <p:cNvGrpSpPr/>
            <p:nvPr/>
          </p:nvGrpSpPr>
          <p:grpSpPr>
            <a:xfrm>
              <a:off x="190500" y="2000250"/>
              <a:ext cx="3543300" cy="381000"/>
              <a:chOff x="0" y="0"/>
              <a:chExt cx="3543300" cy="381000"/>
            </a:xfrm>
          </p:grpSpPr>
          <p:sp>
            <p:nvSpPr>
              <p:cNvPr id="672" name="Google Shape;672;p28"/>
              <p:cNvSpPr/>
              <p:nvPr/>
            </p:nvSpPr>
            <p:spPr>
              <a:xfrm>
                <a:off x="0" y="0"/>
                <a:ext cx="381000" cy="381000"/>
              </a:xfrm>
              <a:prstGeom prst="roundRect">
                <a:avLst>
                  <a:gd fmla="val 15000" name="adj"/>
                </a:avLst>
              </a:prstGeom>
              <a:solidFill>
                <a:srgbClr val="1A1A1E"/>
              </a:solidFill>
              <a:ln cap="flat" cmpd="sng" w="9525">
                <a:solidFill>
                  <a:srgbClr val="33333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3" name="Google Shape;673;p28"/>
              <p:cNvSpPr txBox="1"/>
              <p:nvPr/>
            </p:nvSpPr>
            <p:spPr>
              <a:xfrm>
                <a:off x="95250" y="95250"/>
                <a:ext cx="1905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/>
                  <a:t>💼</a:t>
                </a:r>
                <a:endParaRPr sz="1200"/>
              </a:p>
            </p:txBody>
          </p:sp>
          <p:sp>
            <p:nvSpPr>
              <p:cNvPr id="674" name="Google Shape;674;p28"/>
              <p:cNvSpPr txBox="1"/>
              <p:nvPr/>
            </p:nvSpPr>
            <p:spPr>
              <a:xfrm>
                <a:off x="495300" y="38100"/>
                <a:ext cx="30480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723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Internship &amp; Placement Opportunities</a:t>
                </a:r>
                <a:endParaRPr b="1" sz="723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-GB" sz="595">
                    <a:solidFill>
                      <a:srgbClr val="9CA3AF"/>
                    </a:solidFill>
                    <a:latin typeface="Inter"/>
                    <a:ea typeface="Inter"/>
                    <a:cs typeface="Inter"/>
                    <a:sym typeface="Inter"/>
                  </a:rPr>
                  <a:t>Direct matching pipelines for micro-internships and entry jobs.</a:t>
                </a:r>
                <a:endParaRPr b="0" sz="595">
                  <a:solidFill>
                    <a:srgbClr val="9CA3AF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675" name="Google Shape;675;p28"/>
            <p:cNvGrpSpPr/>
            <p:nvPr/>
          </p:nvGrpSpPr>
          <p:grpSpPr>
            <a:xfrm>
              <a:off x="190500" y="2514600"/>
              <a:ext cx="3543300" cy="381000"/>
              <a:chOff x="0" y="0"/>
              <a:chExt cx="3543300" cy="381000"/>
            </a:xfrm>
          </p:grpSpPr>
          <p:sp>
            <p:nvSpPr>
              <p:cNvPr id="676" name="Google Shape;676;p28"/>
              <p:cNvSpPr/>
              <p:nvPr/>
            </p:nvSpPr>
            <p:spPr>
              <a:xfrm>
                <a:off x="0" y="0"/>
                <a:ext cx="381000" cy="381000"/>
              </a:xfrm>
              <a:prstGeom prst="roundRect">
                <a:avLst>
                  <a:gd fmla="val 15000" name="adj"/>
                </a:avLst>
              </a:prstGeom>
              <a:solidFill>
                <a:srgbClr val="1A1A1E"/>
              </a:solidFill>
              <a:ln cap="flat" cmpd="sng" w="9525">
                <a:solidFill>
                  <a:srgbClr val="33333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7" name="Google Shape;677;p28"/>
              <p:cNvSpPr txBox="1"/>
              <p:nvPr/>
            </p:nvSpPr>
            <p:spPr>
              <a:xfrm>
                <a:off x="95250" y="95250"/>
                <a:ext cx="1905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/>
                  <a:t>💡</a:t>
                </a:r>
                <a:endParaRPr sz="1200"/>
              </a:p>
            </p:txBody>
          </p:sp>
          <p:sp>
            <p:nvSpPr>
              <p:cNvPr id="678" name="Google Shape;678;p28"/>
              <p:cNvSpPr txBox="1"/>
              <p:nvPr/>
            </p:nvSpPr>
            <p:spPr>
              <a:xfrm>
                <a:off x="495300" y="38100"/>
                <a:ext cx="30480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723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Recommendations</a:t>
                </a:r>
                <a:endParaRPr b="1" sz="723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-GB" sz="595">
                    <a:solidFill>
                      <a:srgbClr val="9CA3AF"/>
                    </a:solidFill>
                    <a:latin typeface="Inter"/>
                    <a:ea typeface="Inter"/>
                    <a:cs typeface="Inter"/>
                    <a:sym typeface="Inter"/>
                  </a:rPr>
                  <a:t>Targeted, curated pathways to proactively bridge discovered talent gaps.</a:t>
                </a:r>
                <a:endParaRPr b="0" sz="595">
                  <a:solidFill>
                    <a:srgbClr val="9CA3AF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sp>
        <p:nvSpPr>
          <p:cNvPr id="679" name="Google Shape;679;p28"/>
          <p:cNvSpPr/>
          <p:nvPr/>
        </p:nvSpPr>
        <p:spPr>
          <a:xfrm>
            <a:off x="4524375" y="2690813"/>
            <a:ext cx="14280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</a:path>
            </a:pathLst>
          </a:custGeom>
          <a:solidFill>
            <a:srgbClr val="000000">
              <a:alpha val="0"/>
            </a:srgbClr>
          </a:solidFill>
          <a:ln cap="flat" cmpd="sng" w="143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28"/>
          <p:cNvSpPr/>
          <p:nvPr/>
        </p:nvSpPr>
        <p:spPr>
          <a:xfrm>
            <a:off x="4667250" y="2662238"/>
            <a:ext cx="57300" cy="57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6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10B98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81" name="Google Shape;681;p28"/>
          <p:cNvGrpSpPr/>
          <p:nvPr/>
        </p:nvGrpSpPr>
        <p:grpSpPr>
          <a:xfrm>
            <a:off x="4762500" y="1095375"/>
            <a:ext cx="4000500" cy="3190800"/>
            <a:chOff x="0" y="0"/>
            <a:chExt cx="4000500" cy="3190800"/>
          </a:xfrm>
        </p:grpSpPr>
        <p:sp>
          <p:nvSpPr>
            <p:cNvPr id="682" name="Google Shape;682;p28"/>
            <p:cNvSpPr/>
            <p:nvPr/>
          </p:nvSpPr>
          <p:spPr>
            <a:xfrm>
              <a:off x="0" y="0"/>
              <a:ext cx="4000500" cy="3190800"/>
            </a:xfrm>
            <a:prstGeom prst="roundRect">
              <a:avLst>
                <a:gd fmla="val 3582" name="adj"/>
              </a:avLst>
            </a:prstGeom>
            <a:solidFill>
              <a:srgbClr val="121214"/>
            </a:solidFill>
            <a:ln cap="flat" cmpd="sng" w="9525">
              <a:solidFill>
                <a:srgbClr val="10B98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p28"/>
            <p:cNvSpPr/>
            <p:nvPr/>
          </p:nvSpPr>
          <p:spPr>
            <a:xfrm>
              <a:off x="95250" y="95250"/>
              <a:ext cx="3810000" cy="228600"/>
            </a:xfrm>
            <a:prstGeom prst="roundRect">
              <a:avLst>
                <a:gd fmla="val 16666" name="adj"/>
              </a:avLst>
            </a:prstGeom>
            <a:solidFill>
              <a:srgbClr val="064E3B">
                <a:alpha val="20000"/>
              </a:srgbClr>
            </a:solidFill>
            <a:ln cap="flat" cmpd="sng" w="4775">
              <a:solidFill>
                <a:srgbClr val="10B98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4" name="Google Shape;684;p28"/>
            <p:cNvSpPr txBox="1"/>
            <p:nvPr/>
          </p:nvSpPr>
          <p:spPr>
            <a:xfrm>
              <a:off x="190500" y="95250"/>
              <a:ext cx="361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638">
                  <a:solidFill>
                    <a:srgbClr val="10B981"/>
                  </a:solidFill>
                  <a:latin typeface="Inter"/>
                  <a:ea typeface="Inter"/>
                  <a:cs typeface="Inter"/>
                  <a:sym typeface="Inter"/>
                </a:rPr>
                <a:t>FUTURE ECOSYSTEM EXPANSION</a:t>
              </a:r>
              <a:endParaRPr b="1" sz="638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685" name="Google Shape;685;p28"/>
            <p:cNvGrpSpPr/>
            <p:nvPr/>
          </p:nvGrpSpPr>
          <p:grpSpPr>
            <a:xfrm>
              <a:off x="190500" y="457200"/>
              <a:ext cx="3543300" cy="381000"/>
              <a:chOff x="0" y="0"/>
              <a:chExt cx="3543300" cy="381000"/>
            </a:xfrm>
          </p:grpSpPr>
          <p:sp>
            <p:nvSpPr>
              <p:cNvPr id="686" name="Google Shape;686;p28"/>
              <p:cNvSpPr/>
              <p:nvPr/>
            </p:nvSpPr>
            <p:spPr>
              <a:xfrm>
                <a:off x="0" y="0"/>
                <a:ext cx="381000" cy="381000"/>
              </a:xfrm>
              <a:prstGeom prst="roundRect">
                <a:avLst>
                  <a:gd fmla="val 15000" name="adj"/>
                </a:avLst>
              </a:prstGeom>
              <a:solidFill>
                <a:srgbClr val="1A1A1E"/>
              </a:solidFill>
              <a:ln cap="flat" cmpd="sng" w="9525">
                <a:solidFill>
                  <a:srgbClr val="22222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7" name="Google Shape;687;p28"/>
              <p:cNvSpPr txBox="1"/>
              <p:nvPr/>
            </p:nvSpPr>
            <p:spPr>
              <a:xfrm>
                <a:off x="95250" y="95250"/>
                <a:ext cx="1905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/>
                  <a:t>👨‍🎓</a:t>
                </a:r>
                <a:endParaRPr sz="1200"/>
              </a:p>
            </p:txBody>
          </p:sp>
          <p:sp>
            <p:nvSpPr>
              <p:cNvPr id="688" name="Google Shape;688;p28"/>
              <p:cNvSpPr txBox="1"/>
              <p:nvPr/>
            </p:nvSpPr>
            <p:spPr>
              <a:xfrm>
                <a:off x="495300" y="38100"/>
                <a:ext cx="30480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765">
                    <a:solidFill>
                      <a:srgbClr val="10B981"/>
                    </a:solidFill>
                    <a:latin typeface="Inter"/>
                    <a:ea typeface="Inter"/>
                    <a:cs typeface="Inter"/>
                    <a:sym typeface="Inter"/>
                  </a:rPr>
                  <a:t>1. Students</a:t>
                </a:r>
                <a:endParaRPr b="1" sz="765">
                  <a:solidFill>
                    <a:srgbClr val="10B981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-GB" sz="638">
                    <a:solidFill>
                      <a:srgbClr val="A7F3D0"/>
                    </a:solidFill>
                    <a:latin typeface="Inter"/>
                    <a:ea typeface="Inter"/>
                    <a:cs typeface="Inter"/>
                    <a:sym typeface="Inter"/>
                  </a:rPr>
                  <a:t>Self-sovereign skill credentials, automated matching, and growth pathways.</a:t>
                </a:r>
                <a:endParaRPr b="0" sz="638">
                  <a:solidFill>
                    <a:srgbClr val="A7F3D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689" name="Google Shape;689;p28"/>
            <p:cNvGrpSpPr/>
            <p:nvPr/>
          </p:nvGrpSpPr>
          <p:grpSpPr>
            <a:xfrm>
              <a:off x="190500" y="1066800"/>
              <a:ext cx="3543300" cy="381000"/>
              <a:chOff x="0" y="0"/>
              <a:chExt cx="3543300" cy="381000"/>
            </a:xfrm>
          </p:grpSpPr>
          <p:sp>
            <p:nvSpPr>
              <p:cNvPr id="690" name="Google Shape;690;p28"/>
              <p:cNvSpPr/>
              <p:nvPr/>
            </p:nvSpPr>
            <p:spPr>
              <a:xfrm>
                <a:off x="0" y="0"/>
                <a:ext cx="381000" cy="381000"/>
              </a:xfrm>
              <a:prstGeom prst="roundRect">
                <a:avLst>
                  <a:gd fmla="val 15000" name="adj"/>
                </a:avLst>
              </a:prstGeom>
              <a:solidFill>
                <a:srgbClr val="1A1A1E"/>
              </a:solidFill>
              <a:ln cap="flat" cmpd="sng" w="9525">
                <a:solidFill>
                  <a:srgbClr val="22222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1" name="Google Shape;691;p28"/>
              <p:cNvSpPr txBox="1"/>
              <p:nvPr/>
            </p:nvSpPr>
            <p:spPr>
              <a:xfrm>
                <a:off x="95250" y="95250"/>
                <a:ext cx="1905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/>
                  <a:t>🏛️</a:t>
                </a:r>
                <a:endParaRPr sz="1200"/>
              </a:p>
            </p:txBody>
          </p:sp>
          <p:sp>
            <p:nvSpPr>
              <p:cNvPr id="692" name="Google Shape;692;p28"/>
              <p:cNvSpPr txBox="1"/>
              <p:nvPr/>
            </p:nvSpPr>
            <p:spPr>
              <a:xfrm>
                <a:off x="495300" y="38100"/>
                <a:ext cx="30480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765">
                    <a:solidFill>
                      <a:srgbClr val="10B981"/>
                    </a:solidFill>
                    <a:latin typeface="Inter"/>
                    <a:ea typeface="Inter"/>
                    <a:cs typeface="Inter"/>
                    <a:sym typeface="Inter"/>
                  </a:rPr>
                  <a:t>2. Institutions</a:t>
                </a:r>
                <a:endParaRPr b="1" sz="765">
                  <a:solidFill>
                    <a:srgbClr val="10B981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-GB" sz="638">
                    <a:solidFill>
                      <a:srgbClr val="A7F3D0"/>
                    </a:solidFill>
                    <a:latin typeface="Inter"/>
                    <a:ea typeface="Inter"/>
                    <a:cs typeface="Inter"/>
                    <a:sym typeface="Inter"/>
                  </a:rPr>
                  <a:t>Curriculum insights mapped against industry demands in real time.</a:t>
                </a:r>
                <a:endParaRPr b="0" sz="638">
                  <a:solidFill>
                    <a:srgbClr val="A7F3D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693" name="Google Shape;693;p28"/>
            <p:cNvGrpSpPr/>
            <p:nvPr/>
          </p:nvGrpSpPr>
          <p:grpSpPr>
            <a:xfrm>
              <a:off x="190500" y="1676400"/>
              <a:ext cx="3543300" cy="381000"/>
              <a:chOff x="0" y="0"/>
              <a:chExt cx="3543300" cy="381000"/>
            </a:xfrm>
          </p:grpSpPr>
          <p:sp>
            <p:nvSpPr>
              <p:cNvPr id="694" name="Google Shape;694;p28"/>
              <p:cNvSpPr/>
              <p:nvPr/>
            </p:nvSpPr>
            <p:spPr>
              <a:xfrm>
                <a:off x="0" y="0"/>
                <a:ext cx="381000" cy="381000"/>
              </a:xfrm>
              <a:prstGeom prst="roundRect">
                <a:avLst>
                  <a:gd fmla="val 15000" name="adj"/>
                </a:avLst>
              </a:prstGeom>
              <a:solidFill>
                <a:srgbClr val="1A1A1E"/>
              </a:solidFill>
              <a:ln cap="flat" cmpd="sng" w="9525">
                <a:solidFill>
                  <a:srgbClr val="22222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5" name="Google Shape;695;p28"/>
              <p:cNvSpPr txBox="1"/>
              <p:nvPr/>
            </p:nvSpPr>
            <p:spPr>
              <a:xfrm>
                <a:off x="95250" y="95250"/>
                <a:ext cx="1905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/>
                  <a:t>🏢</a:t>
                </a:r>
                <a:endParaRPr sz="1200"/>
              </a:p>
            </p:txBody>
          </p:sp>
          <p:sp>
            <p:nvSpPr>
              <p:cNvPr id="696" name="Google Shape;696;p28"/>
              <p:cNvSpPr txBox="1"/>
              <p:nvPr/>
            </p:nvSpPr>
            <p:spPr>
              <a:xfrm>
                <a:off x="495300" y="38100"/>
                <a:ext cx="30480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765">
                    <a:solidFill>
                      <a:srgbClr val="10B981"/>
                    </a:solidFill>
                    <a:latin typeface="Inter"/>
                    <a:ea typeface="Inter"/>
                    <a:cs typeface="Inter"/>
                    <a:sym typeface="Inter"/>
                  </a:rPr>
                  <a:t>3. Companies</a:t>
                </a:r>
                <a:endParaRPr b="1" sz="765">
                  <a:solidFill>
                    <a:srgbClr val="10B981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-GB" sz="638">
                    <a:solidFill>
                      <a:srgbClr val="A7F3D0"/>
                    </a:solidFill>
                    <a:latin typeface="Inter"/>
                    <a:ea typeface="Inter"/>
                    <a:cs typeface="Inter"/>
                    <a:sym typeface="Inter"/>
                  </a:rPr>
                  <a:t>Direct pipeline to vetted student profiles, eliminating recruitment noise.</a:t>
                </a:r>
                <a:endParaRPr b="0" sz="638">
                  <a:solidFill>
                    <a:srgbClr val="A7F3D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697" name="Google Shape;697;p28"/>
            <p:cNvGrpSpPr/>
            <p:nvPr/>
          </p:nvGrpSpPr>
          <p:grpSpPr>
            <a:xfrm>
              <a:off x="190500" y="2286000"/>
              <a:ext cx="3543300" cy="400200"/>
              <a:chOff x="0" y="0"/>
              <a:chExt cx="3543300" cy="400200"/>
            </a:xfrm>
          </p:grpSpPr>
          <p:sp>
            <p:nvSpPr>
              <p:cNvPr id="698" name="Google Shape;698;p28"/>
              <p:cNvSpPr/>
              <p:nvPr/>
            </p:nvSpPr>
            <p:spPr>
              <a:xfrm>
                <a:off x="0" y="0"/>
                <a:ext cx="381000" cy="400200"/>
              </a:xfrm>
              <a:prstGeom prst="roundRect">
                <a:avLst>
                  <a:gd fmla="val 15000" name="adj"/>
                </a:avLst>
              </a:prstGeom>
              <a:solidFill>
                <a:srgbClr val="064E3B">
                  <a:alpha val="20000"/>
                </a:srgbClr>
              </a:solidFill>
              <a:ln cap="flat" cmpd="sng" w="9525">
                <a:solidFill>
                  <a:srgbClr val="10B98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9" name="Google Shape;699;p28"/>
              <p:cNvSpPr txBox="1"/>
              <p:nvPr/>
            </p:nvSpPr>
            <p:spPr>
              <a:xfrm>
                <a:off x="95250" y="104775"/>
                <a:ext cx="1905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/>
                  <a:t>🌍</a:t>
                </a:r>
                <a:endParaRPr sz="1200"/>
              </a:p>
            </p:txBody>
          </p:sp>
          <p:sp>
            <p:nvSpPr>
              <p:cNvPr id="700" name="Google Shape;700;p28"/>
              <p:cNvSpPr txBox="1"/>
              <p:nvPr/>
            </p:nvSpPr>
            <p:spPr>
              <a:xfrm>
                <a:off x="495300" y="38100"/>
                <a:ext cx="30480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765">
                    <a:solidFill>
                      <a:srgbClr val="10B981"/>
                    </a:solidFill>
                    <a:latin typeface="Inter"/>
                    <a:ea typeface="Inter"/>
                    <a:cs typeface="Inter"/>
                    <a:sym typeface="Inter"/>
                  </a:rPr>
                  <a:t>4. Larger Skill Ecosystem</a:t>
                </a:r>
                <a:endParaRPr b="1" sz="765">
                  <a:solidFill>
                    <a:srgbClr val="10B981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-GB" sz="638">
                    <a:solidFill>
                      <a:srgbClr val="A7F3D0"/>
                    </a:solidFill>
                    <a:latin typeface="Inter"/>
                    <a:ea typeface="Inter"/>
                    <a:cs typeface="Inter"/>
                    <a:sym typeface="Inter"/>
                  </a:rPr>
                  <a:t>Connecting national skill registries, training providers, and talent markets.</a:t>
                </a:r>
                <a:endParaRPr b="0" sz="638">
                  <a:solidFill>
                    <a:srgbClr val="A7F3D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cxnSp>
        <p:nvCxnSpPr>
          <p:cNvPr id="701" name="Google Shape;701;p28"/>
          <p:cNvCxnSpPr/>
          <p:nvPr/>
        </p:nvCxnSpPr>
        <p:spPr>
          <a:xfrm>
            <a:off x="952500" y="4524375"/>
            <a:ext cx="72390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22222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02" name="Google Shape;702;p28"/>
          <p:cNvSpPr txBox="1"/>
          <p:nvPr/>
        </p:nvSpPr>
        <p:spPr>
          <a:xfrm>
            <a:off x="952500" y="4619625"/>
            <a:ext cx="36195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550">
                <a:solidFill>
                  <a:srgbClr val="9CA3AF"/>
                </a:solidFill>
                <a:latin typeface="Space Mono"/>
                <a:ea typeface="Space Mono"/>
                <a:cs typeface="Space Mono"/>
                <a:sym typeface="Space Mono"/>
              </a:rPr>
              <a:t>TEAM: COFFETOTODE</a:t>
            </a:r>
            <a:endParaRPr b="0" sz="550">
              <a:solidFill>
                <a:srgbClr val="9CA3AF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703" name="Google Shape;703;p28"/>
          <p:cNvSpPr txBox="1"/>
          <p:nvPr/>
        </p:nvSpPr>
        <p:spPr>
          <a:xfrm>
            <a:off x="4572000" y="4619625"/>
            <a:ext cx="36195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550">
                <a:solidFill>
                  <a:srgbClr val="9CA3AF"/>
                </a:solidFill>
                <a:latin typeface="Space Mono"/>
                <a:ea typeface="Space Mono"/>
                <a:cs typeface="Space Mono"/>
                <a:sym typeface="Space Mono"/>
              </a:rPr>
              <a:t>PROBLEM: SIH26044</a:t>
            </a:r>
            <a:endParaRPr b="0" sz="550">
              <a:solidFill>
                <a:srgbClr val="9CA3AF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2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09" name="Google Shape;709;p29"/>
          <p:cNvGrpSpPr/>
          <p:nvPr/>
        </p:nvGrpSpPr>
        <p:grpSpPr>
          <a:xfrm>
            <a:off x="3048000" y="238125"/>
            <a:ext cx="3048000" cy="209700"/>
            <a:chOff x="0" y="0"/>
            <a:chExt cx="3048000" cy="209700"/>
          </a:xfrm>
        </p:grpSpPr>
        <p:sp>
          <p:nvSpPr>
            <p:cNvPr id="710" name="Google Shape;710;p29"/>
            <p:cNvSpPr/>
            <p:nvPr/>
          </p:nvSpPr>
          <p:spPr>
            <a:xfrm>
              <a:off x="0" y="0"/>
              <a:ext cx="3048000" cy="209700"/>
            </a:xfrm>
            <a:prstGeom prst="roundRect">
              <a:avLst>
                <a:gd fmla="val 50000" name="adj"/>
              </a:avLst>
            </a:prstGeom>
            <a:solidFill>
              <a:srgbClr val="000000">
                <a:alpha val="0"/>
              </a:srgbClr>
            </a:solidFill>
            <a:ln cap="flat" cmpd="sng" w="11425">
              <a:solidFill>
                <a:srgbClr val="EF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1" name="Google Shape;711;p29"/>
            <p:cNvSpPr txBox="1"/>
            <p:nvPr/>
          </p:nvSpPr>
          <p:spPr>
            <a:xfrm>
              <a:off x="0" y="0"/>
              <a:ext cx="30480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550">
                  <a:solidFill>
                    <a:srgbClr val="EF4444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SIH 2026 | SYSTEM VALIDATION &amp; QA</a:t>
              </a:r>
              <a:endParaRPr b="0" sz="550">
                <a:solidFill>
                  <a:srgbClr val="EF4444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sp>
        <p:nvSpPr>
          <p:cNvPr id="712" name="Google Shape;712;p29"/>
          <p:cNvSpPr txBox="1"/>
          <p:nvPr/>
        </p:nvSpPr>
        <p:spPr>
          <a:xfrm>
            <a:off x="762000" y="514350"/>
            <a:ext cx="7620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00"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A SOLUTION MUST WORK — NOT JUST LOOK GOOD</a:t>
            </a:r>
            <a:endParaRPr b="0" sz="1800">
              <a:solidFill>
                <a:srgbClr val="FFFFFF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713" name="Google Shape;713;p29"/>
          <p:cNvSpPr txBox="1"/>
          <p:nvPr/>
        </p:nvSpPr>
        <p:spPr>
          <a:xfrm>
            <a:off x="762000" y="781050"/>
            <a:ext cx="76200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700">
                <a:solidFill>
                  <a:srgbClr val="9CA3AF"/>
                </a:solidFill>
                <a:latin typeface="Inter Light"/>
                <a:ea typeface="Inter Light"/>
                <a:cs typeface="Inter Light"/>
                <a:sym typeface="Inter Light"/>
              </a:rPr>
              <a:t>Rigorous, systematic verification of the entire pipeline to guarantee seamless student progression</a:t>
            </a:r>
            <a:endParaRPr b="0" sz="700">
              <a:solidFill>
                <a:srgbClr val="9CA3AF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grpSp>
        <p:nvGrpSpPr>
          <p:cNvPr id="714" name="Google Shape;714;p29"/>
          <p:cNvGrpSpPr/>
          <p:nvPr/>
        </p:nvGrpSpPr>
        <p:grpSpPr>
          <a:xfrm>
            <a:off x="381000" y="1143000"/>
            <a:ext cx="1952700" cy="1285800"/>
            <a:chOff x="0" y="0"/>
            <a:chExt cx="1952700" cy="1285800"/>
          </a:xfrm>
        </p:grpSpPr>
        <p:sp>
          <p:nvSpPr>
            <p:cNvPr id="715" name="Google Shape;715;p29"/>
            <p:cNvSpPr/>
            <p:nvPr/>
          </p:nvSpPr>
          <p:spPr>
            <a:xfrm>
              <a:off x="0" y="0"/>
              <a:ext cx="1952700" cy="1285800"/>
            </a:xfrm>
            <a:prstGeom prst="roundRect">
              <a:avLst>
                <a:gd fmla="val 5925" name="adj"/>
              </a:avLst>
            </a:prstGeom>
            <a:solidFill>
              <a:srgbClr val="121214"/>
            </a:solidFill>
            <a:ln cap="flat" cmpd="sng" w="9525">
              <a:solidFill>
                <a:srgbClr val="2222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6" name="Google Shape;716;p29"/>
            <p:cNvSpPr/>
            <p:nvPr/>
          </p:nvSpPr>
          <p:spPr>
            <a:xfrm>
              <a:off x="142875" y="142875"/>
              <a:ext cx="304800" cy="228600"/>
            </a:xfrm>
            <a:prstGeom prst="roundRect">
              <a:avLst>
                <a:gd fmla="val 16666" name="adj"/>
              </a:avLst>
            </a:prstGeom>
            <a:solidFill>
              <a:srgbClr val="2E161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7" name="Google Shape;717;p29"/>
            <p:cNvSpPr txBox="1"/>
            <p:nvPr/>
          </p:nvSpPr>
          <p:spPr>
            <a:xfrm>
              <a:off x="142875" y="142875"/>
              <a:ext cx="304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50">
                  <a:solidFill>
                    <a:srgbClr val="EF4444"/>
                  </a:solidFill>
                  <a:latin typeface="Space Mono"/>
                  <a:ea typeface="Space Mono"/>
                  <a:cs typeface="Space Mono"/>
                  <a:sym typeface="Space Mono"/>
                </a:rPr>
                <a:t>01</a:t>
              </a:r>
              <a:endParaRPr b="1" sz="950">
                <a:solidFill>
                  <a:srgbClr val="EF4444"/>
                </a:solidFill>
                <a:latin typeface="Space Mono"/>
                <a:ea typeface="Space Mono"/>
                <a:cs typeface="Space Mono"/>
                <a:sym typeface="Space Mono"/>
              </a:endParaRPr>
            </a:p>
          </p:txBody>
        </p:sp>
        <p:sp>
          <p:nvSpPr>
            <p:cNvPr id="718" name="Google Shape;718;p29"/>
            <p:cNvSpPr txBox="1"/>
            <p:nvPr/>
          </p:nvSpPr>
          <p:spPr>
            <a:xfrm>
              <a:off x="142875" y="476250"/>
              <a:ext cx="16668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10B981"/>
                  </a:solidFill>
                  <a:latin typeface="Inter"/>
                  <a:ea typeface="Inter"/>
                  <a:cs typeface="Inter"/>
                  <a:sym typeface="Inter"/>
                </a:rPr>
                <a:t>Functional Testing</a:t>
              </a:r>
              <a:endParaRPr b="1" sz="900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GB" sz="750">
                  <a:solidFill>
                    <a:srgbClr val="9CA3AF"/>
                  </a:solidFill>
                  <a:latin typeface="Inter"/>
                  <a:ea typeface="Inter"/>
                  <a:cs typeface="Inter"/>
                  <a:sym typeface="Inter"/>
                </a:rPr>
                <a:t>Ensuring robust vector algorithms, verified profile generation, and real-time database integrity.</a:t>
              </a:r>
              <a:endParaRPr b="0" sz="75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719" name="Google Shape;719;p29"/>
          <p:cNvGrpSpPr/>
          <p:nvPr/>
        </p:nvGrpSpPr>
        <p:grpSpPr>
          <a:xfrm>
            <a:off x="2524125" y="1143000"/>
            <a:ext cx="1952700" cy="1285800"/>
            <a:chOff x="0" y="0"/>
            <a:chExt cx="1952700" cy="1285800"/>
          </a:xfrm>
        </p:grpSpPr>
        <p:sp>
          <p:nvSpPr>
            <p:cNvPr id="720" name="Google Shape;720;p29"/>
            <p:cNvSpPr/>
            <p:nvPr/>
          </p:nvSpPr>
          <p:spPr>
            <a:xfrm>
              <a:off x="0" y="0"/>
              <a:ext cx="1952700" cy="1285800"/>
            </a:xfrm>
            <a:prstGeom prst="roundRect">
              <a:avLst>
                <a:gd fmla="val 5925" name="adj"/>
              </a:avLst>
            </a:prstGeom>
            <a:solidFill>
              <a:srgbClr val="121214"/>
            </a:solidFill>
            <a:ln cap="flat" cmpd="sng" w="9525">
              <a:solidFill>
                <a:srgbClr val="2222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1" name="Google Shape;721;p29"/>
            <p:cNvSpPr/>
            <p:nvPr/>
          </p:nvSpPr>
          <p:spPr>
            <a:xfrm>
              <a:off x="142875" y="142875"/>
              <a:ext cx="304800" cy="228600"/>
            </a:xfrm>
            <a:prstGeom prst="roundRect">
              <a:avLst>
                <a:gd fmla="val 16666" name="adj"/>
              </a:avLst>
            </a:prstGeom>
            <a:solidFill>
              <a:srgbClr val="2D2D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2" name="Google Shape;722;p29"/>
            <p:cNvSpPr txBox="1"/>
            <p:nvPr/>
          </p:nvSpPr>
          <p:spPr>
            <a:xfrm>
              <a:off x="142875" y="142875"/>
              <a:ext cx="304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50">
                  <a:solidFill>
                    <a:srgbClr val="9CA3AF"/>
                  </a:solidFill>
                  <a:latin typeface="Space Mono"/>
                  <a:ea typeface="Space Mono"/>
                  <a:cs typeface="Space Mono"/>
                  <a:sym typeface="Space Mono"/>
                </a:rPr>
                <a:t>02</a:t>
              </a:r>
              <a:endParaRPr b="1" sz="950">
                <a:solidFill>
                  <a:srgbClr val="9CA3AF"/>
                </a:solidFill>
                <a:latin typeface="Space Mono"/>
                <a:ea typeface="Space Mono"/>
                <a:cs typeface="Space Mono"/>
                <a:sym typeface="Space Mono"/>
              </a:endParaRPr>
            </a:p>
          </p:txBody>
        </p:sp>
        <p:sp>
          <p:nvSpPr>
            <p:cNvPr id="723" name="Google Shape;723;p29"/>
            <p:cNvSpPr txBox="1"/>
            <p:nvPr/>
          </p:nvSpPr>
          <p:spPr>
            <a:xfrm>
              <a:off x="142875" y="476250"/>
              <a:ext cx="16668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User Flow Testing</a:t>
              </a:r>
              <a:endParaRPr b="1" sz="9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GB" sz="750">
                  <a:solidFill>
                    <a:srgbClr val="9CA3AF"/>
                  </a:solidFill>
                  <a:latin typeface="Inter"/>
                  <a:ea typeface="Inter"/>
                  <a:cs typeface="Inter"/>
                  <a:sym typeface="Inter"/>
                </a:rPr>
                <a:t>Validating every sequential step from profile creation through data mapping to successful job match.</a:t>
              </a:r>
              <a:endParaRPr b="0" sz="75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724" name="Google Shape;724;p29"/>
          <p:cNvGrpSpPr/>
          <p:nvPr/>
        </p:nvGrpSpPr>
        <p:grpSpPr>
          <a:xfrm>
            <a:off x="4667250" y="1143000"/>
            <a:ext cx="1952700" cy="1285800"/>
            <a:chOff x="0" y="0"/>
            <a:chExt cx="1952700" cy="1285800"/>
          </a:xfrm>
        </p:grpSpPr>
        <p:sp>
          <p:nvSpPr>
            <p:cNvPr id="725" name="Google Shape;725;p29"/>
            <p:cNvSpPr/>
            <p:nvPr/>
          </p:nvSpPr>
          <p:spPr>
            <a:xfrm>
              <a:off x="0" y="0"/>
              <a:ext cx="1952700" cy="1285800"/>
            </a:xfrm>
            <a:prstGeom prst="roundRect">
              <a:avLst>
                <a:gd fmla="val 5925" name="adj"/>
              </a:avLst>
            </a:prstGeom>
            <a:solidFill>
              <a:srgbClr val="121214"/>
            </a:solidFill>
            <a:ln cap="flat" cmpd="sng" w="9525">
              <a:solidFill>
                <a:srgbClr val="2222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6" name="Google Shape;726;p29"/>
            <p:cNvSpPr/>
            <p:nvPr/>
          </p:nvSpPr>
          <p:spPr>
            <a:xfrm>
              <a:off x="142875" y="142875"/>
              <a:ext cx="304800" cy="228600"/>
            </a:xfrm>
            <a:prstGeom prst="roundRect">
              <a:avLst>
                <a:gd fmla="val 16666" name="adj"/>
              </a:avLst>
            </a:prstGeom>
            <a:solidFill>
              <a:srgbClr val="2D2D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7" name="Google Shape;727;p29"/>
            <p:cNvSpPr txBox="1"/>
            <p:nvPr/>
          </p:nvSpPr>
          <p:spPr>
            <a:xfrm>
              <a:off x="142875" y="142875"/>
              <a:ext cx="304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50">
                  <a:solidFill>
                    <a:srgbClr val="9CA3AF"/>
                  </a:solidFill>
                  <a:latin typeface="Space Mono"/>
                  <a:ea typeface="Space Mono"/>
                  <a:cs typeface="Space Mono"/>
                  <a:sym typeface="Space Mono"/>
                </a:rPr>
                <a:t>03</a:t>
              </a:r>
              <a:endParaRPr b="1" sz="950">
                <a:solidFill>
                  <a:srgbClr val="9CA3AF"/>
                </a:solidFill>
                <a:latin typeface="Space Mono"/>
                <a:ea typeface="Space Mono"/>
                <a:cs typeface="Space Mono"/>
                <a:sym typeface="Space Mono"/>
              </a:endParaRPr>
            </a:p>
          </p:txBody>
        </p:sp>
        <p:sp>
          <p:nvSpPr>
            <p:cNvPr id="728" name="Google Shape;728;p29"/>
            <p:cNvSpPr txBox="1"/>
            <p:nvPr/>
          </p:nvSpPr>
          <p:spPr>
            <a:xfrm>
              <a:off x="142875" y="476250"/>
              <a:ext cx="16668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Usability Testing</a:t>
              </a:r>
              <a:endParaRPr b="1" sz="9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GB" sz="750">
                  <a:solidFill>
                    <a:srgbClr val="9CA3AF"/>
                  </a:solidFill>
                  <a:latin typeface="Inter"/>
                  <a:ea typeface="Inter"/>
                  <a:cs typeface="Inter"/>
                  <a:sym typeface="Inter"/>
                </a:rPr>
                <a:t>Verifying UI clarity so students easily comprehend skills and identify personal knowledge gaps.</a:t>
              </a:r>
              <a:endParaRPr b="0" sz="75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729" name="Google Shape;729;p29"/>
          <p:cNvGrpSpPr/>
          <p:nvPr/>
        </p:nvGrpSpPr>
        <p:grpSpPr>
          <a:xfrm>
            <a:off x="6810375" y="1143000"/>
            <a:ext cx="1952700" cy="1285800"/>
            <a:chOff x="0" y="0"/>
            <a:chExt cx="1952700" cy="1285800"/>
          </a:xfrm>
        </p:grpSpPr>
        <p:sp>
          <p:nvSpPr>
            <p:cNvPr id="730" name="Google Shape;730;p29"/>
            <p:cNvSpPr/>
            <p:nvPr/>
          </p:nvSpPr>
          <p:spPr>
            <a:xfrm>
              <a:off x="0" y="0"/>
              <a:ext cx="1952700" cy="1285800"/>
            </a:xfrm>
            <a:prstGeom prst="roundRect">
              <a:avLst>
                <a:gd fmla="val 5925" name="adj"/>
              </a:avLst>
            </a:prstGeom>
            <a:solidFill>
              <a:srgbClr val="064E3B">
                <a:alpha val="20000"/>
              </a:srgbClr>
            </a:solidFill>
            <a:ln cap="flat" cmpd="sng" w="9525">
              <a:solidFill>
                <a:srgbClr val="10B98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1" name="Google Shape;731;p29"/>
            <p:cNvSpPr/>
            <p:nvPr/>
          </p:nvSpPr>
          <p:spPr>
            <a:xfrm>
              <a:off x="142875" y="142875"/>
              <a:ext cx="304800" cy="228600"/>
            </a:xfrm>
            <a:prstGeom prst="roundRect">
              <a:avLst>
                <a:gd fmla="val 16666" name="adj"/>
              </a:avLst>
            </a:prstGeom>
            <a:solidFill>
              <a:srgbClr val="064E3B">
                <a:alpha val="4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2" name="Google Shape;732;p29"/>
            <p:cNvSpPr txBox="1"/>
            <p:nvPr/>
          </p:nvSpPr>
          <p:spPr>
            <a:xfrm>
              <a:off x="142875" y="142875"/>
              <a:ext cx="304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50">
                  <a:solidFill>
                    <a:srgbClr val="10B981"/>
                  </a:solidFill>
                  <a:latin typeface="Space Mono"/>
                  <a:ea typeface="Space Mono"/>
                  <a:cs typeface="Space Mono"/>
                  <a:sym typeface="Space Mono"/>
                </a:rPr>
                <a:t>04</a:t>
              </a:r>
              <a:endParaRPr b="1" sz="950">
                <a:solidFill>
                  <a:srgbClr val="10B981"/>
                </a:solidFill>
                <a:latin typeface="Space Mono"/>
                <a:ea typeface="Space Mono"/>
                <a:cs typeface="Space Mono"/>
                <a:sym typeface="Space Mono"/>
              </a:endParaRPr>
            </a:p>
          </p:txBody>
        </p:sp>
        <p:sp>
          <p:nvSpPr>
            <p:cNvPr id="733" name="Google Shape;733;p29"/>
            <p:cNvSpPr txBox="1"/>
            <p:nvPr/>
          </p:nvSpPr>
          <p:spPr>
            <a:xfrm>
              <a:off x="142875" y="476250"/>
              <a:ext cx="16668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10B981"/>
                  </a:solidFill>
                  <a:latin typeface="Inter"/>
                  <a:ea typeface="Inter"/>
                  <a:cs typeface="Inter"/>
                  <a:sym typeface="Inter"/>
                </a:rPr>
                <a:t>Edge Case Testing</a:t>
              </a:r>
              <a:endParaRPr b="1" sz="900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GB" sz="750">
                  <a:solidFill>
                    <a:srgbClr val="A7F3D0"/>
                  </a:solidFill>
                  <a:latin typeface="Inter"/>
                  <a:ea typeface="Inter"/>
                  <a:cs typeface="Inter"/>
                  <a:sym typeface="Inter"/>
                </a:rPr>
                <a:t>Handling high-load concurrency, sparse profiles, and corrupted files securely without failure.</a:t>
              </a:r>
              <a:endParaRPr b="0" sz="750">
                <a:solidFill>
                  <a:srgbClr val="A7F3D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734" name="Google Shape;734;p29"/>
          <p:cNvGrpSpPr/>
          <p:nvPr/>
        </p:nvGrpSpPr>
        <p:grpSpPr>
          <a:xfrm>
            <a:off x="381000" y="2619375"/>
            <a:ext cx="8382000" cy="1666800"/>
            <a:chOff x="0" y="0"/>
            <a:chExt cx="8382000" cy="1666800"/>
          </a:xfrm>
        </p:grpSpPr>
        <p:sp>
          <p:nvSpPr>
            <p:cNvPr id="735" name="Google Shape;735;p29"/>
            <p:cNvSpPr/>
            <p:nvPr/>
          </p:nvSpPr>
          <p:spPr>
            <a:xfrm>
              <a:off x="0" y="0"/>
              <a:ext cx="8382000" cy="1666800"/>
            </a:xfrm>
            <a:prstGeom prst="roundRect">
              <a:avLst>
                <a:gd fmla="val 4571" name="adj"/>
              </a:avLst>
            </a:prstGeom>
            <a:solidFill>
              <a:srgbClr val="121214"/>
            </a:solidFill>
            <a:ln cap="flat" cmpd="sng" w="9525">
              <a:solidFill>
                <a:srgbClr val="2222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6" name="Google Shape;736;p29"/>
            <p:cNvSpPr/>
            <p:nvPr/>
          </p:nvSpPr>
          <p:spPr>
            <a:xfrm>
              <a:off x="142875" y="142875"/>
              <a:ext cx="3810000" cy="228600"/>
            </a:xfrm>
            <a:prstGeom prst="roundRect">
              <a:avLst>
                <a:gd fmla="val 16666" name="adj"/>
              </a:avLst>
            </a:prstGeom>
            <a:solidFill>
              <a:srgbClr val="1A1A1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7" name="Google Shape;737;p29"/>
            <p:cNvSpPr txBox="1"/>
            <p:nvPr/>
          </p:nvSpPr>
          <p:spPr>
            <a:xfrm>
              <a:off x="238125" y="142875"/>
              <a:ext cx="361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F4444"/>
                  </a:solidFill>
                  <a:latin typeface="Inter"/>
                  <a:ea typeface="Inter"/>
                  <a:cs typeface="Inter"/>
                  <a:sym typeface="Inter"/>
                </a:rPr>
                <a:t>CORE EXPERIENCE VERIFICATION FRAMEWORK</a:t>
              </a:r>
              <a:endParaRPr b="1" sz="900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738" name="Google Shape;738;p29"/>
            <p:cNvGrpSpPr/>
            <p:nvPr/>
          </p:nvGrpSpPr>
          <p:grpSpPr>
            <a:xfrm>
              <a:off x="238125" y="523875"/>
              <a:ext cx="2428800" cy="952500"/>
              <a:chOff x="0" y="0"/>
              <a:chExt cx="2428800" cy="952500"/>
            </a:xfrm>
          </p:grpSpPr>
          <p:sp>
            <p:nvSpPr>
              <p:cNvPr id="739" name="Google Shape;739;p29"/>
              <p:cNvSpPr/>
              <p:nvPr/>
            </p:nvSpPr>
            <p:spPr>
              <a:xfrm>
                <a:off x="0" y="0"/>
                <a:ext cx="2428800" cy="952500"/>
              </a:xfrm>
              <a:prstGeom prst="roundRect">
                <a:avLst>
                  <a:gd fmla="val 6000" name="adj"/>
                </a:avLst>
              </a:prstGeom>
              <a:solidFill>
                <a:srgbClr val="1A1A1E"/>
              </a:solidFill>
              <a:ln cap="flat" cmpd="sng" w="9525">
                <a:solidFill>
                  <a:srgbClr val="22222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0" name="Google Shape;740;p29"/>
              <p:cNvSpPr txBox="1"/>
              <p:nvPr/>
            </p:nvSpPr>
            <p:spPr>
              <a:xfrm>
                <a:off x="142875" y="142875"/>
                <a:ext cx="21432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850">
                    <a:solidFill>
                      <a:srgbClr val="10B981"/>
                    </a:solidFill>
                    <a:latin typeface="Inter"/>
                    <a:ea typeface="Inter"/>
                    <a:cs typeface="Inter"/>
                    <a:sym typeface="Inter"/>
                  </a:rPr>
                  <a:t>1. Skill Comprehension</a:t>
                </a:r>
                <a:endParaRPr b="1" sz="850">
                  <a:solidFill>
                    <a:srgbClr val="10B981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-GB" sz="720">
                    <a:solidFill>
                      <a:srgbClr val="9CA3AF"/>
                    </a:solidFill>
                    <a:latin typeface="Inter"/>
                    <a:ea typeface="Inter"/>
                    <a:cs typeface="Inter"/>
                    <a:sym typeface="Inter"/>
                  </a:rPr>
                  <a:t>Do users clearly understand their visual skill coordinates and extracted competency vectors?</a:t>
                </a:r>
                <a:endParaRPr b="0" sz="720">
                  <a:solidFill>
                    <a:srgbClr val="9CA3AF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sp>
          <p:nvSpPr>
            <p:cNvPr id="741" name="Google Shape;741;p29"/>
            <p:cNvSpPr/>
            <p:nvPr/>
          </p:nvSpPr>
          <p:spPr>
            <a:xfrm>
              <a:off x="2857500" y="1000125"/>
              <a:ext cx="142800" cy="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20000" y="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4300">
              <a:solidFill>
                <a:srgbClr val="EF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2" name="Google Shape;742;p29"/>
            <p:cNvSpPr/>
            <p:nvPr/>
          </p:nvSpPr>
          <p:spPr>
            <a:xfrm>
              <a:off x="3000375" y="971550"/>
              <a:ext cx="57300" cy="573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20000" y="6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43" name="Google Shape;743;p29"/>
            <p:cNvGrpSpPr/>
            <p:nvPr/>
          </p:nvGrpSpPr>
          <p:grpSpPr>
            <a:xfrm>
              <a:off x="3248025" y="523875"/>
              <a:ext cx="2428800" cy="952500"/>
              <a:chOff x="0" y="0"/>
              <a:chExt cx="2428800" cy="952500"/>
            </a:xfrm>
          </p:grpSpPr>
          <p:sp>
            <p:nvSpPr>
              <p:cNvPr id="744" name="Google Shape;744;p29"/>
              <p:cNvSpPr/>
              <p:nvPr/>
            </p:nvSpPr>
            <p:spPr>
              <a:xfrm>
                <a:off x="0" y="0"/>
                <a:ext cx="2428800" cy="952500"/>
              </a:xfrm>
              <a:prstGeom prst="roundRect">
                <a:avLst>
                  <a:gd fmla="val 6000" name="adj"/>
                </a:avLst>
              </a:prstGeom>
              <a:solidFill>
                <a:srgbClr val="1A1A1E"/>
              </a:solidFill>
              <a:ln cap="flat" cmpd="sng" w="9525">
                <a:solidFill>
                  <a:srgbClr val="22222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5" name="Google Shape;745;p29"/>
              <p:cNvSpPr txBox="1"/>
              <p:nvPr/>
            </p:nvSpPr>
            <p:spPr>
              <a:xfrm>
                <a:off x="142875" y="142875"/>
                <a:ext cx="21432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850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2. Gap Identification</a:t>
                </a:r>
                <a:endParaRPr b="1" sz="8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-GB" sz="720">
                    <a:solidFill>
                      <a:srgbClr val="9CA3AF"/>
                    </a:solidFill>
                    <a:latin typeface="Inter"/>
                    <a:ea typeface="Inter"/>
                    <a:cs typeface="Inter"/>
                    <a:sym typeface="Inter"/>
                  </a:rPr>
                  <a:t>Can users immediately spot what required industry benchmarks are missing from their profile?</a:t>
                </a:r>
                <a:endParaRPr b="0" sz="720">
                  <a:solidFill>
                    <a:srgbClr val="9CA3AF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sp>
          <p:nvSpPr>
            <p:cNvPr id="746" name="Google Shape;746;p29"/>
            <p:cNvSpPr/>
            <p:nvPr/>
          </p:nvSpPr>
          <p:spPr>
            <a:xfrm>
              <a:off x="5867400" y="1000125"/>
              <a:ext cx="142800" cy="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20000" y="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4300">
              <a:solidFill>
                <a:srgbClr val="37415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7" name="Google Shape;747;p29"/>
            <p:cNvSpPr/>
            <p:nvPr/>
          </p:nvSpPr>
          <p:spPr>
            <a:xfrm>
              <a:off x="6010275" y="971550"/>
              <a:ext cx="57300" cy="573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20000" y="6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37415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48" name="Google Shape;748;p29"/>
            <p:cNvGrpSpPr/>
            <p:nvPr/>
          </p:nvGrpSpPr>
          <p:grpSpPr>
            <a:xfrm>
              <a:off x="6257925" y="523875"/>
              <a:ext cx="1886100" cy="952500"/>
              <a:chOff x="0" y="0"/>
              <a:chExt cx="1886100" cy="952500"/>
            </a:xfrm>
          </p:grpSpPr>
          <p:sp>
            <p:nvSpPr>
              <p:cNvPr id="749" name="Google Shape;749;p29"/>
              <p:cNvSpPr/>
              <p:nvPr/>
            </p:nvSpPr>
            <p:spPr>
              <a:xfrm>
                <a:off x="0" y="0"/>
                <a:ext cx="1886100" cy="952500"/>
              </a:xfrm>
              <a:prstGeom prst="roundRect">
                <a:avLst>
                  <a:gd fmla="val 6000" name="adj"/>
                </a:avLst>
              </a:prstGeom>
              <a:solidFill>
                <a:srgbClr val="064E3B">
                  <a:alpha val="20000"/>
                </a:srgbClr>
              </a:solidFill>
              <a:ln cap="flat" cmpd="sng" w="9525">
                <a:solidFill>
                  <a:srgbClr val="10B98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0" name="Google Shape;750;p29"/>
              <p:cNvSpPr txBox="1"/>
              <p:nvPr/>
            </p:nvSpPr>
            <p:spPr>
              <a:xfrm>
                <a:off x="142875" y="142875"/>
                <a:ext cx="16002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850">
                    <a:solidFill>
                      <a:srgbClr val="10B981"/>
                    </a:solidFill>
                    <a:latin typeface="Inter"/>
                    <a:ea typeface="Inter"/>
                    <a:cs typeface="Inter"/>
                    <a:sym typeface="Inter"/>
                  </a:rPr>
                  <a:t>3. Opportunity Navigation</a:t>
                </a:r>
                <a:endParaRPr b="1" sz="850">
                  <a:solidFill>
                    <a:srgbClr val="10B981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-GB" sz="720">
                    <a:solidFill>
                      <a:srgbClr val="A7F3D0"/>
                    </a:solidFill>
                    <a:latin typeface="Inter"/>
                    <a:ea typeface="Inter"/>
                    <a:cs typeface="Inter"/>
                    <a:sym typeface="Inter"/>
                  </a:rPr>
                  <a:t>Can they fluidly transition to recommended roadmaps and match internships?</a:t>
                </a:r>
                <a:endParaRPr b="0" sz="720">
                  <a:solidFill>
                    <a:srgbClr val="A7F3D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cxnSp>
        <p:nvCxnSpPr>
          <p:cNvPr id="751" name="Google Shape;751;p29"/>
          <p:cNvCxnSpPr/>
          <p:nvPr/>
        </p:nvCxnSpPr>
        <p:spPr>
          <a:xfrm>
            <a:off x="952500" y="4524375"/>
            <a:ext cx="72390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22222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52" name="Google Shape;752;p29"/>
          <p:cNvSpPr txBox="1"/>
          <p:nvPr/>
        </p:nvSpPr>
        <p:spPr>
          <a:xfrm>
            <a:off x="952500" y="4619625"/>
            <a:ext cx="36195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550">
                <a:solidFill>
                  <a:srgbClr val="9CA3AF"/>
                </a:solidFill>
                <a:latin typeface="Space Mono"/>
                <a:ea typeface="Space Mono"/>
                <a:cs typeface="Space Mono"/>
                <a:sym typeface="Space Mono"/>
              </a:rPr>
              <a:t>TEAM: COFFETOTODE</a:t>
            </a:r>
            <a:endParaRPr b="0" sz="550">
              <a:solidFill>
                <a:srgbClr val="9CA3AF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753" name="Google Shape;753;p29"/>
          <p:cNvSpPr txBox="1"/>
          <p:nvPr/>
        </p:nvSpPr>
        <p:spPr>
          <a:xfrm>
            <a:off x="4572000" y="4619625"/>
            <a:ext cx="36195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550">
                <a:solidFill>
                  <a:srgbClr val="9CA3AF"/>
                </a:solidFill>
                <a:latin typeface="Space Mono"/>
                <a:ea typeface="Space Mono"/>
                <a:cs typeface="Space Mono"/>
                <a:sym typeface="Space Mono"/>
              </a:rPr>
              <a:t>PROBLEM: SIH26044</a:t>
            </a:r>
            <a:endParaRPr b="0" sz="550">
              <a:solidFill>
                <a:srgbClr val="9CA3AF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3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59" name="Google Shape;759;p30"/>
          <p:cNvGrpSpPr/>
          <p:nvPr/>
        </p:nvGrpSpPr>
        <p:grpSpPr>
          <a:xfrm>
            <a:off x="3048000" y="238125"/>
            <a:ext cx="3048000" cy="209700"/>
            <a:chOff x="0" y="0"/>
            <a:chExt cx="3048000" cy="209700"/>
          </a:xfrm>
        </p:grpSpPr>
        <p:sp>
          <p:nvSpPr>
            <p:cNvPr id="760" name="Google Shape;760;p30"/>
            <p:cNvSpPr/>
            <p:nvPr/>
          </p:nvSpPr>
          <p:spPr>
            <a:xfrm>
              <a:off x="0" y="0"/>
              <a:ext cx="3048000" cy="209700"/>
            </a:xfrm>
            <a:prstGeom prst="roundRect">
              <a:avLst>
                <a:gd fmla="val 50000" name="adj"/>
              </a:avLst>
            </a:prstGeom>
            <a:solidFill>
              <a:srgbClr val="000000">
                <a:alpha val="0"/>
              </a:srgbClr>
            </a:solidFill>
            <a:ln cap="flat" cmpd="sng" w="11425">
              <a:solidFill>
                <a:srgbClr val="EF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1" name="Google Shape;761;p30"/>
            <p:cNvSpPr txBox="1"/>
            <p:nvPr/>
          </p:nvSpPr>
          <p:spPr>
            <a:xfrm>
              <a:off x="0" y="0"/>
              <a:ext cx="30480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550">
                  <a:solidFill>
                    <a:srgbClr val="EF4444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SIH 2026 | CONTINUOUS VALIDATION</a:t>
              </a:r>
              <a:endParaRPr b="0" sz="550">
                <a:solidFill>
                  <a:srgbClr val="EF4444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sp>
        <p:nvSpPr>
          <p:cNvPr id="762" name="Google Shape;762;p30"/>
          <p:cNvSpPr txBox="1"/>
          <p:nvPr/>
        </p:nvSpPr>
        <p:spPr>
          <a:xfrm>
            <a:off x="762000" y="514350"/>
            <a:ext cx="7620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00"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BUILD. TEST. LEARN. IMPROVE.</a:t>
            </a:r>
            <a:endParaRPr b="0" sz="1800">
              <a:solidFill>
                <a:srgbClr val="FFFFFF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763" name="Google Shape;763;p30"/>
          <p:cNvSpPr txBox="1"/>
          <p:nvPr/>
        </p:nvSpPr>
        <p:spPr>
          <a:xfrm>
            <a:off x="762000" y="781050"/>
            <a:ext cx="76200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700">
                <a:solidFill>
                  <a:srgbClr val="9CA3AF"/>
                </a:solidFill>
                <a:latin typeface="Inter Light"/>
                <a:ea typeface="Inter Light"/>
                <a:cs typeface="Inter Light"/>
                <a:sym typeface="Inter Light"/>
              </a:rPr>
              <a:t>SkillBridge evolves dynamically through an optimized, constant loop of user-centric refinement</a:t>
            </a:r>
            <a:endParaRPr b="0" sz="700">
              <a:solidFill>
                <a:srgbClr val="9CA3AF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pic>
        <p:nvPicPr>
          <p:cNvPr id="764" name="Google Shape;764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0" y="1514475"/>
            <a:ext cx="1152600" cy="776400"/>
          </a:xfrm>
          <a:prstGeom prst="rect">
            <a:avLst/>
          </a:prstGeom>
          <a:noFill/>
          <a:ln>
            <a:noFill/>
          </a:ln>
        </p:spPr>
      </p:pic>
      <p:sp>
        <p:nvSpPr>
          <p:cNvPr id="765" name="Google Shape;765;p30"/>
          <p:cNvSpPr/>
          <p:nvPr/>
        </p:nvSpPr>
        <p:spPr>
          <a:xfrm>
            <a:off x="5648325" y="2228850"/>
            <a:ext cx="66600" cy="104700"/>
          </a:xfrm>
          <a:custGeom>
            <a:rect b="b" l="l" r="r" t="t"/>
            <a:pathLst>
              <a:path extrusionOk="0" fill="none" h="120000" w="120000">
                <a:moveTo>
                  <a:pt x="120000" y="65455"/>
                </a:moveTo>
                <a:lnTo>
                  <a:pt x="0" y="0"/>
                </a:lnTo>
                <a:moveTo>
                  <a:pt x="120000" y="65455"/>
                </a:moveTo>
                <a:lnTo>
                  <a:pt x="0" y="120000"/>
                </a:lnTo>
              </a:path>
            </a:pathLst>
          </a:custGeom>
          <a:solidFill>
            <a:srgbClr val="FFFFFF"/>
          </a:solidFill>
          <a:ln cap="flat" cmpd="sng" w="1905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66" name="Google Shape;766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0" y="2852738"/>
            <a:ext cx="1152600" cy="776400"/>
          </a:xfrm>
          <a:prstGeom prst="rect">
            <a:avLst/>
          </a:prstGeom>
          <a:noFill/>
          <a:ln>
            <a:noFill/>
          </a:ln>
        </p:spPr>
      </p:pic>
      <p:sp>
        <p:nvSpPr>
          <p:cNvPr id="767" name="Google Shape;767;p30"/>
          <p:cNvSpPr/>
          <p:nvPr/>
        </p:nvSpPr>
        <p:spPr>
          <a:xfrm>
            <a:off x="4572000" y="3562350"/>
            <a:ext cx="66600" cy="114300"/>
          </a:xfrm>
          <a:custGeom>
            <a:rect b="b" l="l" r="r" t="t"/>
            <a:pathLst>
              <a:path extrusionOk="0" fill="none" h="120000" w="120000">
                <a:moveTo>
                  <a:pt x="0" y="60000"/>
                </a:moveTo>
                <a:lnTo>
                  <a:pt x="120000" y="120000"/>
                </a:lnTo>
                <a:moveTo>
                  <a:pt x="0" y="60000"/>
                </a:moveTo>
                <a:lnTo>
                  <a:pt x="120000" y="0"/>
                </a:lnTo>
              </a:path>
            </a:pathLst>
          </a:custGeom>
          <a:solidFill>
            <a:srgbClr val="FFFFFF"/>
          </a:solidFill>
          <a:ln cap="flat" cmpd="sng" w="19050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68" name="Google Shape;768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038475" y="2852738"/>
            <a:ext cx="966900" cy="776400"/>
          </a:xfrm>
          <a:prstGeom prst="rect">
            <a:avLst/>
          </a:prstGeom>
          <a:noFill/>
          <a:ln>
            <a:noFill/>
          </a:ln>
        </p:spPr>
      </p:pic>
      <p:sp>
        <p:nvSpPr>
          <p:cNvPr id="769" name="Google Shape;769;p30"/>
          <p:cNvSpPr/>
          <p:nvPr/>
        </p:nvSpPr>
        <p:spPr>
          <a:xfrm>
            <a:off x="3048000" y="2800350"/>
            <a:ext cx="66600" cy="123900"/>
          </a:xfrm>
          <a:custGeom>
            <a:rect b="b" l="l" r="r" t="t"/>
            <a:pathLst>
              <a:path extrusionOk="0" fill="none" h="120000" w="120000">
                <a:moveTo>
                  <a:pt x="0" y="55385"/>
                </a:moveTo>
                <a:lnTo>
                  <a:pt x="102857" y="120000"/>
                </a:lnTo>
                <a:moveTo>
                  <a:pt x="0" y="55385"/>
                </a:moveTo>
                <a:lnTo>
                  <a:pt x="120000" y="0"/>
                </a:lnTo>
              </a:path>
            </a:pathLst>
          </a:custGeom>
          <a:solidFill>
            <a:srgbClr val="FFFFFF"/>
          </a:solidFill>
          <a:ln cap="flat" cmpd="sng" w="19050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70" name="Google Shape;770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038475" y="1514475"/>
            <a:ext cx="966900" cy="776400"/>
          </a:xfrm>
          <a:prstGeom prst="rect">
            <a:avLst/>
          </a:prstGeom>
          <a:noFill/>
          <a:ln>
            <a:noFill/>
          </a:ln>
        </p:spPr>
      </p:pic>
      <p:sp>
        <p:nvSpPr>
          <p:cNvPr id="771" name="Google Shape;771;p30"/>
          <p:cNvSpPr/>
          <p:nvPr/>
        </p:nvSpPr>
        <p:spPr>
          <a:xfrm>
            <a:off x="3933825" y="1466850"/>
            <a:ext cx="66600" cy="114300"/>
          </a:xfrm>
          <a:custGeom>
            <a:rect b="b" l="l" r="r" t="t"/>
            <a:pathLst>
              <a:path extrusionOk="0" fill="none" h="120000" w="120000">
                <a:moveTo>
                  <a:pt x="120000" y="60000"/>
                </a:moveTo>
                <a:lnTo>
                  <a:pt x="0" y="0"/>
                </a:lnTo>
                <a:moveTo>
                  <a:pt x="120000" y="60000"/>
                </a:moveTo>
                <a:lnTo>
                  <a:pt x="17143" y="120000"/>
                </a:lnTo>
              </a:path>
            </a:pathLst>
          </a:custGeom>
          <a:solidFill>
            <a:srgbClr val="FFFFFF"/>
          </a:solidFill>
          <a:ln cap="flat" cmpd="sng" w="1905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72" name="Google Shape;772;p30"/>
          <p:cNvGrpSpPr/>
          <p:nvPr/>
        </p:nvGrpSpPr>
        <p:grpSpPr>
          <a:xfrm>
            <a:off x="4000500" y="1143000"/>
            <a:ext cx="1143000" cy="571500"/>
            <a:chOff x="0" y="0"/>
            <a:chExt cx="1143000" cy="571500"/>
          </a:xfrm>
        </p:grpSpPr>
        <p:sp>
          <p:nvSpPr>
            <p:cNvPr id="773" name="Google Shape;773;p30"/>
            <p:cNvSpPr/>
            <p:nvPr/>
          </p:nvSpPr>
          <p:spPr>
            <a:xfrm>
              <a:off x="0" y="0"/>
              <a:ext cx="1143000" cy="571500"/>
            </a:xfrm>
            <a:prstGeom prst="roundRect">
              <a:avLst>
                <a:gd fmla="val 13333" name="adj"/>
              </a:avLst>
            </a:prstGeom>
            <a:solidFill>
              <a:srgbClr val="1A1A1E"/>
            </a:solidFill>
            <a:ln cap="flat" cmpd="sng" w="9525">
              <a:solidFill>
                <a:srgbClr val="EF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4" name="Google Shape;774;p30"/>
            <p:cNvSpPr txBox="1"/>
            <p:nvPr/>
          </p:nvSpPr>
          <p:spPr>
            <a:xfrm>
              <a:off x="95250" y="95250"/>
              <a:ext cx="952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833">
                  <a:solidFill>
                    <a:srgbClr val="EF4444"/>
                  </a:solidFill>
                  <a:latin typeface="Inter"/>
                  <a:ea typeface="Inter"/>
                  <a:cs typeface="Inter"/>
                  <a:sym typeface="Inter"/>
                </a:rPr>
                <a:t>01. Feedback</a:t>
              </a:r>
              <a:endParaRPr b="1" sz="833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-GB" sz="694">
                  <a:solidFill>
                    <a:srgbClr val="9CA3AF"/>
                  </a:solidFill>
                  <a:latin typeface="Inter"/>
                  <a:ea typeface="Inter"/>
                  <a:cs typeface="Inter"/>
                  <a:sym typeface="Inter"/>
                </a:rPr>
                <a:t>Direct student &amp; industry inputs.</a:t>
              </a:r>
              <a:endParaRPr b="0" sz="694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775" name="Google Shape;775;p30"/>
          <p:cNvGrpSpPr/>
          <p:nvPr/>
        </p:nvGrpSpPr>
        <p:grpSpPr>
          <a:xfrm>
            <a:off x="5334000" y="2190750"/>
            <a:ext cx="1143000" cy="571500"/>
            <a:chOff x="0" y="0"/>
            <a:chExt cx="1143000" cy="571500"/>
          </a:xfrm>
        </p:grpSpPr>
        <p:sp>
          <p:nvSpPr>
            <p:cNvPr id="776" name="Google Shape;776;p30"/>
            <p:cNvSpPr/>
            <p:nvPr/>
          </p:nvSpPr>
          <p:spPr>
            <a:xfrm>
              <a:off x="0" y="0"/>
              <a:ext cx="1143000" cy="571500"/>
            </a:xfrm>
            <a:prstGeom prst="roundRect">
              <a:avLst>
                <a:gd fmla="val 13333" name="adj"/>
              </a:avLst>
            </a:prstGeom>
            <a:solidFill>
              <a:srgbClr val="121214"/>
            </a:solidFill>
            <a:ln cap="flat" cmpd="sng" w="9525">
              <a:solidFill>
                <a:srgbClr val="2222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7" name="Google Shape;777;p30"/>
            <p:cNvSpPr txBox="1"/>
            <p:nvPr/>
          </p:nvSpPr>
          <p:spPr>
            <a:xfrm>
              <a:off x="95250" y="95250"/>
              <a:ext cx="952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833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02. Testing</a:t>
              </a:r>
              <a:endParaRPr b="1" sz="83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-GB" sz="694">
                  <a:solidFill>
                    <a:srgbClr val="9CA3AF"/>
                  </a:solidFill>
                  <a:latin typeface="Inter"/>
                  <a:ea typeface="Inter"/>
                  <a:cs typeface="Inter"/>
                  <a:sym typeface="Inter"/>
                </a:rPr>
                <a:t>Rigorous functional verification.</a:t>
              </a:r>
              <a:endParaRPr b="0" sz="694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778" name="Google Shape;778;p30"/>
          <p:cNvGrpSpPr/>
          <p:nvPr/>
        </p:nvGrpSpPr>
        <p:grpSpPr>
          <a:xfrm>
            <a:off x="4000500" y="3333750"/>
            <a:ext cx="1143000" cy="571500"/>
            <a:chOff x="0" y="0"/>
            <a:chExt cx="1143000" cy="571500"/>
          </a:xfrm>
        </p:grpSpPr>
        <p:sp>
          <p:nvSpPr>
            <p:cNvPr id="779" name="Google Shape;779;p30"/>
            <p:cNvSpPr/>
            <p:nvPr/>
          </p:nvSpPr>
          <p:spPr>
            <a:xfrm>
              <a:off x="0" y="0"/>
              <a:ext cx="1143000" cy="571500"/>
            </a:xfrm>
            <a:prstGeom prst="roundRect">
              <a:avLst>
                <a:gd fmla="val 13333" name="adj"/>
              </a:avLst>
            </a:prstGeom>
            <a:solidFill>
              <a:srgbClr val="121214"/>
            </a:solidFill>
            <a:ln cap="flat" cmpd="sng" w="9525">
              <a:solidFill>
                <a:srgbClr val="2222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0" name="Google Shape;780;p30"/>
            <p:cNvSpPr txBox="1"/>
            <p:nvPr/>
          </p:nvSpPr>
          <p:spPr>
            <a:xfrm>
              <a:off x="95250" y="95250"/>
              <a:ext cx="952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833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03. Detection</a:t>
              </a:r>
              <a:endParaRPr b="1" sz="83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-GB" sz="694">
                  <a:solidFill>
                    <a:srgbClr val="9CA3AF"/>
                  </a:solidFill>
                  <a:latin typeface="Inter"/>
                  <a:ea typeface="Inter"/>
                  <a:cs typeface="Inter"/>
                  <a:sym typeface="Inter"/>
                </a:rPr>
                <a:t>Automated vector gap analysis.</a:t>
              </a:r>
              <a:endParaRPr b="0" sz="694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781" name="Google Shape;781;p30"/>
          <p:cNvGrpSpPr/>
          <p:nvPr/>
        </p:nvGrpSpPr>
        <p:grpSpPr>
          <a:xfrm>
            <a:off x="2650050" y="3057650"/>
            <a:ext cx="1143000" cy="571500"/>
            <a:chOff x="0" y="0"/>
            <a:chExt cx="1143000" cy="571500"/>
          </a:xfrm>
        </p:grpSpPr>
        <p:sp>
          <p:nvSpPr>
            <p:cNvPr id="782" name="Google Shape;782;p30"/>
            <p:cNvSpPr/>
            <p:nvPr/>
          </p:nvSpPr>
          <p:spPr>
            <a:xfrm>
              <a:off x="0" y="0"/>
              <a:ext cx="1143000" cy="571500"/>
            </a:xfrm>
            <a:prstGeom prst="roundRect">
              <a:avLst>
                <a:gd fmla="val 13333" name="adj"/>
              </a:avLst>
            </a:prstGeom>
            <a:solidFill>
              <a:srgbClr val="121214"/>
            </a:solidFill>
            <a:ln cap="flat" cmpd="sng" w="9525">
              <a:solidFill>
                <a:srgbClr val="2222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3" name="Google Shape;783;p30"/>
            <p:cNvSpPr txBox="1"/>
            <p:nvPr/>
          </p:nvSpPr>
          <p:spPr>
            <a:xfrm>
              <a:off x="95250" y="95250"/>
              <a:ext cx="952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833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04. Iteration</a:t>
              </a:r>
              <a:endParaRPr b="1" sz="83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-GB" sz="694">
                  <a:solidFill>
                    <a:srgbClr val="9CA3AF"/>
                  </a:solidFill>
                  <a:latin typeface="Inter"/>
                  <a:ea typeface="Inter"/>
                  <a:cs typeface="Inter"/>
                  <a:sym typeface="Inter"/>
                </a:rPr>
                <a:t>Optimizing core matching logic.</a:t>
              </a:r>
              <a:endParaRPr b="0" sz="694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784" name="Google Shape;784;p30"/>
          <p:cNvGrpSpPr/>
          <p:nvPr/>
        </p:nvGrpSpPr>
        <p:grpSpPr>
          <a:xfrm>
            <a:off x="2286000" y="2190750"/>
            <a:ext cx="1143000" cy="571500"/>
            <a:chOff x="0" y="0"/>
            <a:chExt cx="1143000" cy="571500"/>
          </a:xfrm>
        </p:grpSpPr>
        <p:sp>
          <p:nvSpPr>
            <p:cNvPr id="785" name="Google Shape;785;p30"/>
            <p:cNvSpPr/>
            <p:nvPr/>
          </p:nvSpPr>
          <p:spPr>
            <a:xfrm>
              <a:off x="0" y="0"/>
              <a:ext cx="1143000" cy="571500"/>
            </a:xfrm>
            <a:prstGeom prst="roundRect">
              <a:avLst>
                <a:gd fmla="val 13333" name="adj"/>
              </a:avLst>
            </a:prstGeom>
            <a:solidFill>
              <a:srgbClr val="064E3B">
                <a:alpha val="20000"/>
              </a:srgbClr>
            </a:solidFill>
            <a:ln cap="flat" cmpd="sng" w="9525">
              <a:solidFill>
                <a:srgbClr val="10B98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6" name="Google Shape;786;p30"/>
            <p:cNvSpPr txBox="1"/>
            <p:nvPr/>
          </p:nvSpPr>
          <p:spPr>
            <a:xfrm>
              <a:off x="95250" y="95250"/>
              <a:ext cx="952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833">
                  <a:solidFill>
                    <a:srgbClr val="10B981"/>
                  </a:solidFill>
                  <a:latin typeface="Inter"/>
                  <a:ea typeface="Inter"/>
                  <a:cs typeface="Inter"/>
                  <a:sym typeface="Inter"/>
                </a:rPr>
                <a:t>05. Experience</a:t>
              </a:r>
              <a:endParaRPr b="1" sz="833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-GB" sz="694">
                  <a:solidFill>
                    <a:srgbClr val="A7F3D0"/>
                  </a:solidFill>
                  <a:latin typeface="Inter"/>
                  <a:ea typeface="Inter"/>
                  <a:cs typeface="Inter"/>
                  <a:sym typeface="Inter"/>
                </a:rPr>
                <a:t>Frictionless career navigation.</a:t>
              </a:r>
              <a:endParaRPr b="0" sz="694">
                <a:solidFill>
                  <a:srgbClr val="A7F3D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787" name="Google Shape;787;p30"/>
          <p:cNvSpPr txBox="1"/>
          <p:nvPr/>
        </p:nvSpPr>
        <p:spPr>
          <a:xfrm>
            <a:off x="3524250" y="2286000"/>
            <a:ext cx="2095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Continuous Loop</a:t>
            </a:r>
            <a:endParaRPr b="1" sz="1200">
              <a:solidFill>
                <a:srgbClr val="10B98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GB" sz="85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The product is not built once.</a:t>
            </a:r>
            <a:endParaRPr b="0" sz="850">
              <a:solidFill>
                <a:srgbClr val="9CA3A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GB" sz="85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 It is continuously refined </a:t>
            </a:r>
            <a:endParaRPr b="0" sz="850">
              <a:solidFill>
                <a:srgbClr val="9CA3A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GB" sz="85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around user needs.</a:t>
            </a:r>
            <a:endParaRPr b="0" sz="850">
              <a:solidFill>
                <a:srgbClr val="9CA3A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788" name="Google Shape;788;p30"/>
          <p:cNvCxnSpPr/>
          <p:nvPr/>
        </p:nvCxnSpPr>
        <p:spPr>
          <a:xfrm>
            <a:off x="952500" y="4524375"/>
            <a:ext cx="72390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22222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9" name="Google Shape;789;p30"/>
          <p:cNvSpPr txBox="1"/>
          <p:nvPr/>
        </p:nvSpPr>
        <p:spPr>
          <a:xfrm>
            <a:off x="952500" y="4619625"/>
            <a:ext cx="36195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550">
                <a:solidFill>
                  <a:srgbClr val="9CA3AF"/>
                </a:solidFill>
                <a:latin typeface="Space Mono"/>
                <a:ea typeface="Space Mono"/>
                <a:cs typeface="Space Mono"/>
                <a:sym typeface="Space Mono"/>
              </a:rPr>
              <a:t>TEAM: COFFETOTODE</a:t>
            </a:r>
            <a:endParaRPr b="0" sz="550">
              <a:solidFill>
                <a:srgbClr val="9CA3AF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790" name="Google Shape;790;p30"/>
          <p:cNvSpPr txBox="1"/>
          <p:nvPr/>
        </p:nvSpPr>
        <p:spPr>
          <a:xfrm>
            <a:off x="4572000" y="4619625"/>
            <a:ext cx="36195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550">
                <a:solidFill>
                  <a:srgbClr val="9CA3AF"/>
                </a:solidFill>
                <a:latin typeface="Space Mono"/>
                <a:ea typeface="Space Mono"/>
                <a:cs typeface="Space Mono"/>
                <a:sym typeface="Space Mono"/>
              </a:rPr>
              <a:t>PROBLEM: SIH26044</a:t>
            </a:r>
            <a:endParaRPr b="0" sz="550">
              <a:solidFill>
                <a:srgbClr val="9CA3AF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3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96" name="Google Shape;796;p31"/>
          <p:cNvGrpSpPr/>
          <p:nvPr/>
        </p:nvGrpSpPr>
        <p:grpSpPr>
          <a:xfrm>
            <a:off x="762000" y="904875"/>
            <a:ext cx="7620000" cy="2809875"/>
            <a:chOff x="762000" y="904875"/>
            <a:chExt cx="7620000" cy="2809875"/>
          </a:xfrm>
        </p:grpSpPr>
        <p:sp>
          <p:nvSpPr>
            <p:cNvPr id="797" name="Google Shape;797;p31"/>
            <p:cNvSpPr txBox="1"/>
            <p:nvPr/>
          </p:nvSpPr>
          <p:spPr>
            <a:xfrm>
              <a:off x="762000" y="904875"/>
              <a:ext cx="7620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500">
                  <a:solidFill>
                    <a:srgbClr val="EF4444"/>
                  </a:solidFill>
                  <a:latin typeface="Montserrat Black"/>
                  <a:ea typeface="Montserrat Black"/>
                  <a:cs typeface="Montserrat Black"/>
                  <a:sym typeface="Montserrat Black"/>
                </a:rPr>
                <a:t>THE PROBLEM IS NOT A LACK OF TALENT.</a:t>
              </a:r>
              <a:endParaRPr b="0" sz="1500">
                <a:solidFill>
                  <a:srgbClr val="EF4444"/>
                </a:solidFill>
                <a:latin typeface="Montserrat Black"/>
                <a:ea typeface="Montserrat Black"/>
                <a:cs typeface="Montserrat Black"/>
                <a:sym typeface="Montserrat Black"/>
              </a:endParaRPr>
            </a:p>
          </p:txBody>
        </p:sp>
        <p:sp>
          <p:nvSpPr>
            <p:cNvPr id="798" name="Google Shape;798;p31"/>
            <p:cNvSpPr txBox="1"/>
            <p:nvPr/>
          </p:nvSpPr>
          <p:spPr>
            <a:xfrm>
              <a:off x="762000" y="1333500"/>
              <a:ext cx="7620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2015">
                  <a:solidFill>
                    <a:srgbClr val="FFFFFF"/>
                  </a:solidFill>
                  <a:latin typeface="Montserrat Black"/>
                  <a:ea typeface="Montserrat Black"/>
                  <a:cs typeface="Montserrat Black"/>
                  <a:sym typeface="Montserrat Black"/>
                </a:rPr>
                <a:t>IT'S THE GAP BETWEEN TALENT AND OPPORTUNITY.</a:t>
              </a:r>
              <a:endParaRPr b="0" sz="2015"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endParaRPr>
            </a:p>
          </p:txBody>
        </p:sp>
        <p:pic>
          <p:nvPicPr>
            <p:cNvPr id="799" name="Google Shape;799;p3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000500" y="2276475"/>
              <a:ext cx="1143000" cy="19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0" name="Google Shape;800;p31"/>
            <p:cNvSpPr txBox="1"/>
            <p:nvPr/>
          </p:nvSpPr>
          <p:spPr>
            <a:xfrm>
              <a:off x="762000" y="2619375"/>
              <a:ext cx="76200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3255">
                  <a:solidFill>
                    <a:srgbClr val="EF4444"/>
                  </a:solidFill>
                  <a:latin typeface="Montserrat Black"/>
                  <a:ea typeface="Montserrat Black"/>
                  <a:cs typeface="Montserrat Black"/>
                  <a:sym typeface="Montserrat Black"/>
                </a:rPr>
                <a:t>SKILLBRIDGE CONNECTS THEM.</a:t>
              </a:r>
              <a:endParaRPr b="0" sz="3255">
                <a:solidFill>
                  <a:srgbClr val="EF4444"/>
                </a:solidFill>
                <a:latin typeface="Montserrat Black"/>
                <a:ea typeface="Montserrat Black"/>
                <a:cs typeface="Montserrat Black"/>
                <a:sym typeface="Montserrat Black"/>
              </a:endParaRPr>
            </a:p>
          </p:txBody>
        </p:sp>
        <p:sp>
          <p:nvSpPr>
            <p:cNvPr id="801" name="Google Shape;801;p31"/>
            <p:cNvSpPr txBox="1"/>
            <p:nvPr/>
          </p:nvSpPr>
          <p:spPr>
            <a:xfrm>
              <a:off x="762000" y="3333750"/>
              <a:ext cx="7620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200">
                  <a:solidFill>
                    <a:srgbClr val="9CA3AF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STUDENTS. ACADEMIA. INDUSTRY.</a:t>
              </a:r>
              <a:endParaRPr b="0" sz="1200">
                <a:solidFill>
                  <a:srgbClr val="9CA3AF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</p:txBody>
        </p:sp>
      </p:grpSp>
      <p:grpSp>
        <p:nvGrpSpPr>
          <p:cNvPr id="802" name="Google Shape;802;p31"/>
          <p:cNvGrpSpPr/>
          <p:nvPr/>
        </p:nvGrpSpPr>
        <p:grpSpPr>
          <a:xfrm>
            <a:off x="952500" y="4524375"/>
            <a:ext cx="7239000" cy="381150"/>
            <a:chOff x="952500" y="4524375"/>
            <a:chExt cx="7239000" cy="381150"/>
          </a:xfrm>
        </p:grpSpPr>
        <p:cxnSp>
          <p:nvCxnSpPr>
            <p:cNvPr id="803" name="Google Shape;803;p31"/>
            <p:cNvCxnSpPr/>
            <p:nvPr/>
          </p:nvCxnSpPr>
          <p:spPr>
            <a:xfrm>
              <a:off x="952500" y="4524375"/>
              <a:ext cx="7239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1F2937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04" name="Google Shape;804;p31"/>
            <p:cNvSpPr txBox="1"/>
            <p:nvPr/>
          </p:nvSpPr>
          <p:spPr>
            <a:xfrm>
              <a:off x="952500" y="4619625"/>
              <a:ext cx="7239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700">
                  <a:solidFill>
                    <a:srgbClr val="4B5563"/>
                  </a:solidFill>
                  <a:latin typeface="Space Mono"/>
                  <a:ea typeface="Space Mono"/>
                  <a:cs typeface="Space Mono"/>
                  <a:sym typeface="Space Mono"/>
                </a:rPr>
                <a:t>SIH 2026 | PROBLEM: SIH26044TEAM: COFFEETOTODE</a:t>
              </a: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